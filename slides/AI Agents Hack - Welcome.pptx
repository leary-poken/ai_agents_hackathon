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4"/>
  </p:sldMasterIdLst>
  <p:notesMasterIdLst>
    <p:notesMasterId r:id="rId54"/>
  </p:notesMasterIdLst>
  <p:sldIdLst>
    <p:sldId id="2147479617" r:id="rId5"/>
    <p:sldId id="2147479569" r:id="rId6"/>
    <p:sldId id="2147479607" r:id="rId7"/>
    <p:sldId id="2147479621" r:id="rId8"/>
    <p:sldId id="2147479622" r:id="rId9"/>
    <p:sldId id="2147479623" r:id="rId10"/>
    <p:sldId id="2147479636" r:id="rId11"/>
    <p:sldId id="257" r:id="rId12"/>
    <p:sldId id="2147479613" r:id="rId13"/>
    <p:sldId id="2147479670" r:id="rId14"/>
    <p:sldId id="2147479588" r:id="rId15"/>
    <p:sldId id="2147479656" r:id="rId16"/>
    <p:sldId id="2147479654" r:id="rId17"/>
    <p:sldId id="2147479614" r:id="rId18"/>
    <p:sldId id="2147479655" r:id="rId19"/>
    <p:sldId id="375" r:id="rId20"/>
    <p:sldId id="2147479638" r:id="rId21"/>
    <p:sldId id="2147479657" r:id="rId22"/>
    <p:sldId id="2147479658" r:id="rId23"/>
    <p:sldId id="2147479640" r:id="rId24"/>
    <p:sldId id="2147479659" r:id="rId25"/>
    <p:sldId id="2147479642" r:id="rId26"/>
    <p:sldId id="2147479674" r:id="rId27"/>
    <p:sldId id="2147479663" r:id="rId28"/>
    <p:sldId id="2147479675" r:id="rId29"/>
    <p:sldId id="2147479646" r:id="rId30"/>
    <p:sldId id="2147479664" r:id="rId31"/>
    <p:sldId id="2147479665" r:id="rId32"/>
    <p:sldId id="2147479677" r:id="rId33"/>
    <p:sldId id="2147479676" r:id="rId34"/>
    <p:sldId id="2147479649" r:id="rId35"/>
    <p:sldId id="2147479666" r:id="rId36"/>
    <p:sldId id="2147479667" r:id="rId37"/>
    <p:sldId id="2147479668" r:id="rId38"/>
    <p:sldId id="2147479671" r:id="rId39"/>
    <p:sldId id="2147479616" r:id="rId40"/>
    <p:sldId id="2147479624" r:id="rId41"/>
    <p:sldId id="2147479626" r:id="rId42"/>
    <p:sldId id="2147479629" r:id="rId43"/>
    <p:sldId id="2147479627" r:id="rId44"/>
    <p:sldId id="2147479628" r:id="rId45"/>
    <p:sldId id="2147479631" r:id="rId46"/>
    <p:sldId id="2147479632" r:id="rId47"/>
    <p:sldId id="2147479625" r:id="rId48"/>
    <p:sldId id="2147479633" r:id="rId49"/>
    <p:sldId id="2147479634" r:id="rId50"/>
    <p:sldId id="2147479620" r:id="rId51"/>
    <p:sldId id="2147479619" r:id="rId52"/>
    <p:sldId id="2147479595"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6DE"/>
    <a:srgbClr val="5DA7E7"/>
    <a:srgbClr val="71D9FF"/>
    <a:srgbClr val="AC62FF"/>
    <a:srgbClr val="0A0B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58821D-FDCE-C248-AC4D-CA69061F5D03}" v="148" dt="2025-04-07T22:32:34.911"/>
    <p1510:client id="{C165C6AD-4E1C-234C-0532-65AAB1B73536}" v="43" dt="2025-04-07T18:10:08.3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57"/>
    <p:restoredTop sz="94682"/>
  </p:normalViewPr>
  <p:slideViewPr>
    <p:cSldViewPr snapToGrid="0">
      <p:cViewPr varScale="1">
        <p:scale>
          <a:sx n="130" d="100"/>
          <a:sy n="130" d="100"/>
        </p:scale>
        <p:origin x="728"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F405CB-82A4-468A-A648-ECE9F1B9182C}" type="datetimeFigureOut">
              <a:rPr lang="en-US" smtClean="0"/>
              <a:t>4/7/25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822E6C-A02C-4BB1-90E8-FA24A474D4B7}" type="slidenum">
              <a:rPr lang="en-US" smtClean="0"/>
              <a:t>‹#›</a:t>
            </a:fld>
            <a:endParaRPr lang="en-US"/>
          </a:p>
        </p:txBody>
      </p:sp>
    </p:spTree>
    <p:extLst>
      <p:ext uri="{BB962C8B-B14F-4D97-AF65-F5344CB8AC3E}">
        <p14:creationId xmlns:p14="http://schemas.microsoft.com/office/powerpoint/2010/main" val="3218720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52E9C-CBDB-2A3B-B878-1D3F622AC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0E082-D439-9F7C-F24E-7B46B7B3C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F1C66D-5217-C4A7-D4E8-172B7AC4E1EF}"/>
              </a:ext>
            </a:extLst>
          </p:cNvPr>
          <p:cNvSpPr>
            <a:spLocks noGrp="1"/>
          </p:cNvSpPr>
          <p:nvPr>
            <p:ph type="body" idx="1"/>
          </p:nvPr>
        </p:nvSpPr>
        <p:spPr/>
        <p:txBody>
          <a:bodyPr/>
          <a:lstStyle/>
          <a:p>
            <a:pPr>
              <a:buNone/>
            </a:pPr>
            <a:r>
              <a:rPr lang="en-US"/>
              <a:t>Welcome to the AI Agents hackathon live streams!</a:t>
            </a:r>
          </a:p>
          <a:p>
            <a:pPr>
              <a:buNone/>
            </a:pPr>
            <a:r>
              <a:rPr lang="en-US"/>
              <a:t>The AI Agents hack is a free virtual event running from April 8-30.</a:t>
            </a:r>
          </a:p>
          <a:p>
            <a:endParaRPr lang="en-US"/>
          </a:p>
        </p:txBody>
      </p:sp>
      <p:sp>
        <p:nvSpPr>
          <p:cNvPr id="4" name="Header Placeholder 3">
            <a:extLst>
              <a:ext uri="{FF2B5EF4-FFF2-40B4-BE49-F238E27FC236}">
                <a16:creationId xmlns:a16="http://schemas.microsoft.com/office/drawing/2014/main" id="{A11531C3-2BBD-22EC-7872-38B857BB831B}"/>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73D8CB2-BBB5-299D-509C-CEBEE2A9DF2E}"/>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D2BED72-1404-75AA-1B4C-B8F88B4B5395}"/>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2C61DAB-D93E-49CA-B245-379601CFE8D0}"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4/7/25 3:31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DF823D51-0488-5D7C-50EB-32FB52A6FE5F}"/>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98239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We’re hosting over 20 live streams where you’ll learn how to build agents using various Microsoft technologies. At the end of the three weeks, submit your project for a chance to win fantastic prizes!</a:t>
            </a:r>
          </a:p>
          <a:p>
            <a:r>
              <a:rPr lang="en-US"/>
              <a:t>Now, let’s hear from our friends at Reactor...</a:t>
            </a:r>
          </a:p>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4/7/25 3:31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46229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5EE55-B03D-576A-2047-CDFFE246A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6B7499-7F98-EB7B-E053-46A827D71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9E661-6B89-B0FD-4BDF-F38F3DE1CBF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B983CB-EE10-DF15-C919-EEE5FA1484B5}"/>
              </a:ext>
            </a:extLst>
          </p:cNvPr>
          <p:cNvSpPr>
            <a:spLocks noGrp="1"/>
          </p:cNvSpPr>
          <p:nvPr>
            <p:ph type="sldNum" sz="quarter" idx="5"/>
          </p:nvPr>
        </p:nvSpPr>
        <p:spPr/>
        <p:txBody>
          <a:bodyPr/>
          <a:lstStyle/>
          <a:p>
            <a:fld id="{6C822E6C-A02C-4BB1-90E8-FA24A474D4B7}" type="slidenum">
              <a:rPr lang="en-US" smtClean="0"/>
              <a:t>4</a:t>
            </a:fld>
            <a:endParaRPr lang="en-US"/>
          </a:p>
        </p:txBody>
      </p:sp>
    </p:spTree>
    <p:extLst>
      <p:ext uri="{BB962C8B-B14F-4D97-AF65-F5344CB8AC3E}">
        <p14:creationId xmlns:p14="http://schemas.microsoft.com/office/powerpoint/2010/main" val="1043347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3FE31-5CD8-5543-E058-3DBCBF124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E39DF-0F45-FC14-C313-ED7E21C2E6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C0A157-AE0D-71CF-C513-CB7B97D7E7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41C409C-8BBB-CAA6-37E6-C32AF982CC0A}"/>
              </a:ext>
            </a:extLst>
          </p:cNvPr>
          <p:cNvSpPr>
            <a:spLocks noGrp="1"/>
          </p:cNvSpPr>
          <p:nvPr>
            <p:ph type="sldNum" sz="quarter" idx="5"/>
          </p:nvPr>
        </p:nvSpPr>
        <p:spPr/>
        <p:txBody>
          <a:bodyPr/>
          <a:lstStyle/>
          <a:p>
            <a:fld id="{6C822E6C-A02C-4BB1-90E8-FA24A474D4B7}" type="slidenum">
              <a:rPr lang="en-US" smtClean="0"/>
              <a:t>5</a:t>
            </a:fld>
            <a:endParaRPr lang="en-US"/>
          </a:p>
        </p:txBody>
      </p:sp>
    </p:spTree>
    <p:extLst>
      <p:ext uri="{BB962C8B-B14F-4D97-AF65-F5344CB8AC3E}">
        <p14:creationId xmlns:p14="http://schemas.microsoft.com/office/powerpoint/2010/main" val="977593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part of the presentation is based in free agents curriculum that's available online, and is translated into portuguese too.</a:t>
            </a:r>
          </a:p>
          <a:p>
            <a:r>
              <a:rPr lang="en-US"/>
              <a:t>You can dive way more into these concepts after this talk from that link.</a:t>
            </a:r>
          </a:p>
        </p:txBody>
      </p:sp>
      <p:sp>
        <p:nvSpPr>
          <p:cNvPr id="4" name="Slide Number Placeholder 3"/>
          <p:cNvSpPr>
            <a:spLocks noGrp="1"/>
          </p:cNvSpPr>
          <p:nvPr>
            <p:ph type="sldNum" sz="quarter" idx="5"/>
          </p:nvPr>
        </p:nvSpPr>
        <p:spPr/>
        <p:txBody>
          <a:bodyPr/>
          <a:lstStyle/>
          <a:p>
            <a:fld id="{6C822E6C-A02C-4BB1-90E8-FA24A474D4B7}" type="slidenum">
              <a:rPr lang="en-US" smtClean="0"/>
              <a:t>8</a:t>
            </a:fld>
            <a:endParaRPr lang="en-US"/>
          </a:p>
        </p:txBody>
      </p:sp>
    </p:spTree>
    <p:extLst>
      <p:ext uri="{BB962C8B-B14F-4D97-AF65-F5344CB8AC3E}">
        <p14:creationId xmlns:p14="http://schemas.microsoft.com/office/powerpoint/2010/main" val="2407805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look at an example of what an agent can look like.</a:t>
            </a:r>
          </a:p>
        </p:txBody>
      </p:sp>
      <p:sp>
        <p:nvSpPr>
          <p:cNvPr id="4" name="Slide Number Placeholder 3"/>
          <p:cNvSpPr>
            <a:spLocks noGrp="1"/>
          </p:cNvSpPr>
          <p:nvPr>
            <p:ph type="sldNum" sz="quarter" idx="5"/>
          </p:nvPr>
        </p:nvSpPr>
        <p:spPr/>
        <p:txBody>
          <a:bodyPr/>
          <a:lstStyle/>
          <a:p>
            <a:fld id="{6C822E6C-A02C-4BB1-90E8-FA24A474D4B7}" type="slidenum">
              <a:rPr lang="en-US" smtClean="0"/>
              <a:t>9</a:t>
            </a:fld>
            <a:endParaRPr lang="en-US"/>
          </a:p>
        </p:txBody>
      </p:sp>
    </p:spTree>
    <p:extLst>
      <p:ext uri="{BB962C8B-B14F-4D97-AF65-F5344CB8AC3E}">
        <p14:creationId xmlns:p14="http://schemas.microsoft.com/office/powerpoint/2010/main" val="2221084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a relatively simple multi-agent flow, involving a writer, researcher, and editor.</a:t>
            </a:r>
          </a:p>
        </p:txBody>
      </p:sp>
      <p:sp>
        <p:nvSpPr>
          <p:cNvPr id="4" name="Slide Number Placeholder 3"/>
          <p:cNvSpPr>
            <a:spLocks noGrp="1"/>
          </p:cNvSpPr>
          <p:nvPr>
            <p:ph type="sldNum" sz="quarter" idx="5"/>
          </p:nvPr>
        </p:nvSpPr>
        <p:spPr/>
        <p:txBody>
          <a:bodyPr/>
          <a:lstStyle/>
          <a:p>
            <a:fld id="{6C822E6C-A02C-4BB1-90E8-FA24A474D4B7}" type="slidenum">
              <a:rPr lang="en-US" smtClean="0"/>
              <a:t>10</a:t>
            </a:fld>
            <a:endParaRPr lang="en-US"/>
          </a:p>
        </p:txBody>
      </p:sp>
    </p:spTree>
    <p:extLst>
      <p:ext uri="{BB962C8B-B14F-4D97-AF65-F5344CB8AC3E}">
        <p14:creationId xmlns:p14="http://schemas.microsoft.com/office/powerpoint/2010/main" val="3150170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that was an example of an agent, but what actually is an agent? It can be hard to define, but we'll try!</a:t>
            </a:r>
          </a:p>
        </p:txBody>
      </p:sp>
      <p:sp>
        <p:nvSpPr>
          <p:cNvPr id="4" name="Slide Number Placeholder 3"/>
          <p:cNvSpPr>
            <a:spLocks noGrp="1"/>
          </p:cNvSpPr>
          <p:nvPr>
            <p:ph type="sldNum" sz="quarter" idx="5"/>
          </p:nvPr>
        </p:nvSpPr>
        <p:spPr/>
        <p:txBody>
          <a:bodyPr/>
          <a:lstStyle/>
          <a:p>
            <a:fld id="{6C822E6C-A02C-4BB1-90E8-FA24A474D4B7}" type="slidenum">
              <a:rPr lang="en-US" smtClean="0"/>
              <a:t>11</a:t>
            </a:fld>
            <a:endParaRPr lang="en-US"/>
          </a:p>
        </p:txBody>
      </p:sp>
    </p:spTree>
    <p:extLst>
      <p:ext uri="{BB962C8B-B14F-4D97-AF65-F5344CB8AC3E}">
        <p14:creationId xmlns:p14="http://schemas.microsoft.com/office/powerpoint/2010/main" val="30721032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n w="3175">
                  <a:noFill/>
                </a:ln>
                <a:solidFill>
                  <a:srgbClr val="000000"/>
                </a:solidFill>
                <a:latin typeface="Segoe UI" panose="020B0502040204020203" pitchFamily="34" charset="0"/>
                <a:sym typeface="Rubik Light"/>
              </a:rPr>
              <a:t>Here's one definition:</a:t>
            </a:r>
          </a:p>
          <a:p>
            <a:endParaRPr lang="en-US" sz="1200" dirty="0">
              <a:ln w="3175">
                <a:noFill/>
              </a:ln>
              <a:solidFill>
                <a:srgbClr val="000000"/>
              </a:solidFill>
              <a:latin typeface="Segoe UI" panose="020B0502040204020203" pitchFamily="34" charset="0"/>
              <a:sym typeface="Rubik Light"/>
            </a:endParaRPr>
          </a:p>
          <a:p>
            <a:r>
              <a:rPr lang="en-US" sz="1200" dirty="0">
                <a:ln w="3175">
                  <a:noFill/>
                </a:ln>
                <a:solidFill>
                  <a:srgbClr val="000000"/>
                </a:solidFill>
                <a:latin typeface="Segoe UI" panose="020B0502040204020203" pitchFamily="34" charset="0"/>
                <a:sym typeface="Rubik Light"/>
              </a:rPr>
              <a:t>Um agente de IA é</a:t>
            </a:r>
            <a:br>
              <a:rPr lang="en-US" sz="1200" dirty="0">
                <a:ln w="3175">
                  <a:noFill/>
                </a:ln>
                <a:solidFill>
                  <a:srgbClr val="000000"/>
                </a:solidFill>
                <a:latin typeface="Segoe UI" panose="020B0502040204020203" pitchFamily="34" charset="0"/>
                <a:sym typeface="Rubik Light"/>
              </a:rPr>
            </a:br>
            <a:r>
              <a:rPr lang="en-US" sz="1200" dirty="0">
                <a:ln w="3175">
                  <a:noFill/>
                </a:ln>
                <a:solidFill>
                  <a:srgbClr val="000000"/>
                </a:solidFill>
                <a:latin typeface="Segoe UI" panose="020B0502040204020203" pitchFamily="34" charset="0"/>
                <a:sym typeface="Rubik Light"/>
              </a:rPr>
              <a:t>uma entidade de software </a:t>
            </a:r>
            <a:r>
              <a:rPr lang="en-US" sz="1200" b="1" dirty="0">
                <a:ln w="3175">
                  <a:noFill/>
                </a:ln>
                <a:solidFill>
                  <a:srgbClr val="000000"/>
                </a:solidFill>
                <a:latin typeface="Segoe UI" panose="020B0502040204020203" pitchFamily="34" charset="0"/>
                <a:sym typeface="Rubik Light"/>
              </a:rPr>
              <a:t>semiautônoma</a:t>
            </a:r>
            <a:r>
              <a:rPr lang="en-US" sz="1200" dirty="0">
                <a:ln w="3175">
                  <a:noFill/>
                </a:ln>
                <a:solidFill>
                  <a:srgbClr val="000000"/>
                </a:solidFill>
                <a:latin typeface="Segoe UI" panose="020B0502040204020203" pitchFamily="34" charset="0"/>
                <a:sym typeface="Rubik Light"/>
              </a:rPr>
              <a:t> que aproveita </a:t>
            </a:r>
            <a:r>
              <a:rPr lang="en-US" sz="1200" b="1" dirty="0">
                <a:ln w="3175">
                  <a:noFill/>
                </a:ln>
                <a:solidFill>
                  <a:srgbClr val="000000"/>
                </a:solidFill>
                <a:latin typeface="Segoe UI" panose="020B0502040204020203" pitchFamily="34" charset="0"/>
                <a:sym typeface="Rubik Light"/>
              </a:rPr>
              <a:t>grandes modelos de linguagem</a:t>
            </a:r>
            <a:r>
              <a:rPr lang="en-US" sz="1200" dirty="0">
                <a:ln w="3175">
                  <a:noFill/>
                </a:ln>
                <a:solidFill>
                  <a:srgbClr val="000000"/>
                </a:solidFill>
                <a:latin typeface="Segoe UI" panose="020B0502040204020203" pitchFamily="34" charset="0"/>
                <a:sym typeface="Rubik Light"/>
              </a:rPr>
              <a:t> </a:t>
            </a:r>
            <a:br>
              <a:rPr lang="en-US" sz="1200" dirty="0">
                <a:ln w="3175">
                  <a:noFill/>
                </a:ln>
                <a:solidFill>
                  <a:srgbClr val="000000"/>
                </a:solidFill>
                <a:latin typeface="Segoe UI" panose="020B0502040204020203" pitchFamily="34" charset="0"/>
                <a:sym typeface="Rubik Light"/>
              </a:rPr>
            </a:br>
            <a:r>
              <a:rPr lang="en-US" sz="1200" dirty="0">
                <a:ln w="3175">
                  <a:noFill/>
                </a:ln>
                <a:solidFill>
                  <a:srgbClr val="000000"/>
                </a:solidFill>
                <a:latin typeface="Segoe UI" panose="020B0502040204020203" pitchFamily="34" charset="0"/>
                <a:sym typeface="Rubik Light"/>
              </a:rPr>
              <a:t>para </a:t>
            </a:r>
            <a:r>
              <a:rPr lang="en-US" sz="1200" b="1" dirty="0">
                <a:ln w="3175">
                  <a:noFill/>
                </a:ln>
                <a:solidFill>
                  <a:srgbClr val="000000"/>
                </a:solidFill>
                <a:latin typeface="Segoe UI" panose="020B0502040204020203" pitchFamily="34" charset="0"/>
                <a:sym typeface="Rubik Light"/>
              </a:rPr>
              <a:t>executar tarefas </a:t>
            </a:r>
            <a:r>
              <a:rPr lang="en-US" sz="1200" dirty="0">
                <a:ln w="3175">
                  <a:noFill/>
                </a:ln>
                <a:solidFill>
                  <a:srgbClr val="000000"/>
                </a:solidFill>
                <a:latin typeface="Segoe UI" panose="020B0502040204020203" pitchFamily="34" charset="0"/>
                <a:sym typeface="Rubik Light"/>
              </a:rPr>
              <a:t>específicas</a:t>
            </a:r>
            <a:br>
              <a:rPr lang="en-US" sz="1200" dirty="0">
                <a:ln w="3175">
                  <a:noFill/>
                </a:ln>
                <a:solidFill>
                  <a:srgbClr val="000000"/>
                </a:solidFill>
                <a:latin typeface="Segoe UI" panose="020B0502040204020203" pitchFamily="34" charset="0"/>
                <a:sym typeface="Rubik Light"/>
              </a:rPr>
            </a:br>
            <a:r>
              <a:rPr lang="en-US" sz="1200" dirty="0">
                <a:ln w="3175">
                  <a:noFill/>
                </a:ln>
                <a:solidFill>
                  <a:srgbClr val="000000"/>
                </a:solidFill>
                <a:latin typeface="Segoe UI" panose="020B0502040204020203" pitchFamily="34" charset="0"/>
                <a:sym typeface="Rubik Light"/>
              </a:rPr>
              <a:t>por meio de linguagem natural.</a:t>
            </a:r>
            <a:endParaRPr lang="en-US"/>
          </a:p>
        </p:txBody>
      </p:sp>
      <p:sp>
        <p:nvSpPr>
          <p:cNvPr id="4" name="Slide Number Placeholder 3"/>
          <p:cNvSpPr>
            <a:spLocks noGrp="1"/>
          </p:cNvSpPr>
          <p:nvPr>
            <p:ph type="sldNum" sz="quarter" idx="5"/>
          </p:nvPr>
        </p:nvSpPr>
        <p:spPr/>
        <p:txBody>
          <a:bodyPr/>
          <a:lstStyle/>
          <a:p>
            <a:fld id="{6C822E6C-A02C-4BB1-90E8-FA24A474D4B7}" type="slidenum">
              <a:rPr lang="en-US" smtClean="0"/>
              <a:t>12</a:t>
            </a:fld>
            <a:endParaRPr lang="en-US"/>
          </a:p>
        </p:txBody>
      </p:sp>
    </p:spTree>
    <p:extLst>
      <p:ext uri="{BB962C8B-B14F-4D97-AF65-F5344CB8AC3E}">
        <p14:creationId xmlns:p14="http://schemas.microsoft.com/office/powerpoint/2010/main" val="632615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another way of visualizing an agent:</a:t>
            </a:r>
          </a:p>
          <a:p>
            <a:r>
              <a:rPr lang="en-US"/>
              <a:t>an LLM that can perform actions, has access to tools, and has access to knowledge.</a:t>
            </a:r>
          </a:p>
          <a:p>
            <a:endParaRPr lang="en-US"/>
          </a:p>
          <a:p>
            <a:pPr algn="l">
              <a:buNone/>
            </a:pPr>
            <a:r>
              <a:rPr lang="en-US" b="1" i="0">
                <a:solidFill>
                  <a:srgbClr val="1F2328"/>
                </a:solidFill>
                <a:effectLst/>
                <a:latin typeface="-apple-system"/>
              </a:rPr>
              <a:t>Large Language Models</a:t>
            </a:r>
            <a:r>
              <a:rPr lang="en-US" b="0" i="0">
                <a:solidFill>
                  <a:srgbClr val="1F2328"/>
                </a:solidFill>
                <a:effectLst/>
                <a:latin typeface="-apple-system"/>
              </a:rPr>
              <a:t> - The concept of agents existed before the creation of LLMs. The advantage of building AI Agents with LLMs is their ability to interpret human language and data. This ability enables LLMs to interpret environmental information and define a plan to change the environment.</a:t>
            </a:r>
          </a:p>
          <a:p>
            <a:pPr algn="l">
              <a:buNone/>
            </a:pPr>
            <a:r>
              <a:rPr lang="en-US" b="1" i="0">
                <a:solidFill>
                  <a:srgbClr val="1F2328"/>
                </a:solidFill>
                <a:effectLst/>
                <a:latin typeface="-apple-system"/>
              </a:rPr>
              <a:t>Perform Actions</a:t>
            </a:r>
            <a:r>
              <a:rPr lang="en-US" b="0" i="0">
                <a:solidFill>
                  <a:srgbClr val="1F2328"/>
                </a:solidFill>
                <a:effectLst/>
                <a:latin typeface="-apple-system"/>
              </a:rPr>
              <a:t> - Outside of AI Agent systems, LLMs are limited to situations where the action is generating content or information based on a user's prompt. Inside AI Agent systems, LLMs can accomplish tasks by interpreting the user's request and using tools that are available in their environment.</a:t>
            </a:r>
          </a:p>
          <a:p>
            <a:pPr algn="l">
              <a:buNone/>
            </a:pPr>
            <a:r>
              <a:rPr lang="en-US" b="1" i="0">
                <a:solidFill>
                  <a:srgbClr val="1F2328"/>
                </a:solidFill>
                <a:effectLst/>
                <a:latin typeface="-apple-system"/>
              </a:rPr>
              <a:t>Access To Tools</a:t>
            </a:r>
            <a:r>
              <a:rPr lang="en-US" b="0" i="0">
                <a:solidFill>
                  <a:srgbClr val="1F2328"/>
                </a:solidFill>
                <a:effectLst/>
                <a:latin typeface="-apple-system"/>
              </a:rPr>
              <a:t> - What tools the LLM has access to is defined by 1) the environment it's operating in and 2) the developer of the AI Agent. For our travel agent example, the agent's tools are limited by the operations available in the booking system, and/or the developer can limit the agent's tool access to flights.</a:t>
            </a:r>
          </a:p>
          <a:p>
            <a:pPr algn="l"/>
            <a:r>
              <a:rPr lang="en-US" b="1" i="0">
                <a:solidFill>
                  <a:srgbClr val="1F2328"/>
                </a:solidFill>
                <a:effectLst/>
                <a:latin typeface="-apple-system"/>
              </a:rPr>
              <a:t>Memory+Knowledge</a:t>
            </a:r>
            <a:r>
              <a:rPr lang="en-US" b="0" i="0">
                <a:solidFill>
                  <a:srgbClr val="1F2328"/>
                </a:solidFill>
                <a:effectLst/>
                <a:latin typeface="-apple-system"/>
              </a:rPr>
              <a:t> - Memory can be short-term in the context of the conversation between the user and the agent. Long-term, outside of the information provided by the environment, AI Agents can also retrieve knowledge from other systems, services, tools, and even other agents. In the travel agent example, this knowledge could be the information on the user's travel preferences located in a customer database.</a:t>
            </a:r>
          </a:p>
          <a:p>
            <a:endParaRPr lang="en-US"/>
          </a:p>
          <a:p>
            <a:r>
              <a:rPr lang="en-US"/>
              <a:t>That combination is very powerful and can help us automate many flows.</a:t>
            </a:r>
          </a:p>
        </p:txBody>
      </p:sp>
      <p:sp>
        <p:nvSpPr>
          <p:cNvPr id="4" name="Slide Number Placeholder 3"/>
          <p:cNvSpPr>
            <a:spLocks noGrp="1"/>
          </p:cNvSpPr>
          <p:nvPr>
            <p:ph type="sldNum" sz="quarter" idx="5"/>
          </p:nvPr>
        </p:nvSpPr>
        <p:spPr/>
        <p:txBody>
          <a:bodyPr/>
          <a:lstStyle/>
          <a:p>
            <a:fld id="{6C822E6C-A02C-4BB1-90E8-FA24A474D4B7}" type="slidenum">
              <a:rPr lang="en-US" smtClean="0"/>
              <a:t>13</a:t>
            </a:fld>
            <a:endParaRPr lang="en-US"/>
          </a:p>
        </p:txBody>
      </p:sp>
    </p:spTree>
    <p:extLst>
      <p:ext uri="{BB962C8B-B14F-4D97-AF65-F5344CB8AC3E}">
        <p14:creationId xmlns:p14="http://schemas.microsoft.com/office/powerpoint/2010/main" val="16976147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look at some examples of when you'd want to use agents.</a:t>
            </a:r>
          </a:p>
        </p:txBody>
      </p:sp>
      <p:sp>
        <p:nvSpPr>
          <p:cNvPr id="4" name="Slide Number Placeholder 3"/>
          <p:cNvSpPr>
            <a:spLocks noGrp="1"/>
          </p:cNvSpPr>
          <p:nvPr>
            <p:ph type="sldNum" sz="quarter" idx="5"/>
          </p:nvPr>
        </p:nvSpPr>
        <p:spPr/>
        <p:txBody>
          <a:bodyPr/>
          <a:lstStyle/>
          <a:p>
            <a:fld id="{6C822E6C-A02C-4BB1-90E8-FA24A474D4B7}" type="slidenum">
              <a:rPr lang="en-US" smtClean="0"/>
              <a:t>14</a:t>
            </a:fld>
            <a:endParaRPr lang="en-US"/>
          </a:p>
        </p:txBody>
      </p:sp>
    </p:spTree>
    <p:extLst>
      <p:ext uri="{BB962C8B-B14F-4D97-AF65-F5344CB8AC3E}">
        <p14:creationId xmlns:p14="http://schemas.microsoft.com/office/powerpoint/2010/main" val="37808613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1" i="0">
                <a:solidFill>
                  <a:srgbClr val="1F2328"/>
                </a:solidFill>
                <a:effectLst/>
                <a:latin typeface="-apple-system"/>
              </a:rPr>
              <a:t>These are three situations where agents can be beneficial:</a:t>
            </a:r>
          </a:p>
          <a:p>
            <a:pPr algn="l">
              <a:buFont typeface="Arial" panose="020B0604020202020204" pitchFamily="34" charset="0"/>
              <a:buChar char="•"/>
            </a:pPr>
            <a:endParaRPr lang="en-US" b="1" i="0">
              <a:solidFill>
                <a:srgbClr val="1F2328"/>
              </a:solidFill>
              <a:effectLst/>
              <a:latin typeface="-apple-system"/>
            </a:endParaRPr>
          </a:p>
          <a:p>
            <a:pPr algn="l">
              <a:buFont typeface="Arial" panose="020B0604020202020204" pitchFamily="34" charset="0"/>
              <a:buChar char="•"/>
            </a:pPr>
            <a:r>
              <a:rPr lang="en-US" b="1" i="0">
                <a:solidFill>
                  <a:srgbClr val="1F2328"/>
                </a:solidFill>
                <a:effectLst/>
                <a:latin typeface="-apple-system"/>
              </a:rPr>
              <a:t>Open-Ended Problems</a:t>
            </a:r>
            <a:r>
              <a:rPr lang="en-US" b="0" i="0">
                <a:solidFill>
                  <a:srgbClr val="1F2328"/>
                </a:solidFill>
                <a:effectLst/>
                <a:latin typeface="-apple-system"/>
              </a:rPr>
              <a:t> - If you have an open-ended problem, it can be hard to program with traditional if/else statements because it's not always clear what task should be tackled next. Instead, you can use an LLM to make the planning decisions.</a:t>
            </a:r>
          </a:p>
          <a:p>
            <a:pPr algn="l">
              <a:buFont typeface="Arial" panose="020B0604020202020204" pitchFamily="34" charset="0"/>
              <a:buChar char="•"/>
            </a:pPr>
            <a:r>
              <a:rPr lang="en-US" b="0" i="0">
                <a:solidFill>
                  <a:srgbClr val="1F2328"/>
                </a:solidFill>
                <a:effectLst/>
                <a:latin typeface="-apple-system"/>
              </a:rPr>
              <a:t> </a:t>
            </a:r>
            <a:r>
              <a:rPr lang="en-US" b="1" i="0">
                <a:solidFill>
                  <a:srgbClr val="1F2328"/>
                </a:solidFill>
                <a:effectLst/>
                <a:latin typeface="-apple-system"/>
              </a:rPr>
              <a:t>Multi-Step Processes</a:t>
            </a:r>
            <a:r>
              <a:rPr lang="en-US" b="0" i="0">
                <a:solidFill>
                  <a:srgbClr val="1F2328"/>
                </a:solidFill>
                <a:effectLst/>
                <a:latin typeface="-apple-system"/>
              </a:rPr>
              <a:t> - These are tasks that require a level of complexity in which the AI Agent needs to use tools or information over multiple turns instead of single shot retrieval.</a:t>
            </a:r>
          </a:p>
          <a:p>
            <a:pPr algn="l">
              <a:buFont typeface="Arial" panose="020B0604020202020204" pitchFamily="34" charset="0"/>
              <a:buChar char="•"/>
            </a:pPr>
            <a:r>
              <a:rPr lang="en-US" b="1" i="0">
                <a:solidFill>
                  <a:srgbClr val="1F2328"/>
                </a:solidFill>
                <a:effectLst/>
                <a:latin typeface="-apple-system"/>
              </a:rPr>
              <a:t>Improvement Over Time</a:t>
            </a:r>
            <a:r>
              <a:rPr lang="en-US" b="0" i="0">
                <a:solidFill>
                  <a:srgbClr val="1F2328"/>
                </a:solidFill>
                <a:effectLst/>
                <a:latin typeface="-apple-system"/>
              </a:rPr>
              <a:t> - These are tasks where the agent can improve over time by receiving feedback from either its environment or users in order to provide better utility.</a:t>
            </a:r>
          </a:p>
          <a:p>
            <a:endParaRPr lang="en-US"/>
          </a:p>
        </p:txBody>
      </p:sp>
      <p:sp>
        <p:nvSpPr>
          <p:cNvPr id="4" name="Slide Number Placeholder 3"/>
          <p:cNvSpPr>
            <a:spLocks noGrp="1"/>
          </p:cNvSpPr>
          <p:nvPr>
            <p:ph type="sldNum" sz="quarter" idx="5"/>
          </p:nvPr>
        </p:nvSpPr>
        <p:spPr/>
        <p:txBody>
          <a:bodyPr/>
          <a:lstStyle/>
          <a:p>
            <a:fld id="{6C822E6C-A02C-4BB1-90E8-FA24A474D4B7}" type="slidenum">
              <a:rPr lang="en-US" smtClean="0"/>
              <a:t>15</a:t>
            </a:fld>
            <a:endParaRPr lang="en-US"/>
          </a:p>
        </p:txBody>
      </p:sp>
    </p:spTree>
    <p:extLst>
      <p:ext uri="{BB962C8B-B14F-4D97-AF65-F5344CB8AC3E}">
        <p14:creationId xmlns:p14="http://schemas.microsoft.com/office/powerpoint/2010/main" val="42244954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6B5CB-C988-AC7F-9194-CC9FC88D3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047E5-86B3-8581-04B3-5F1960F0BF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03192-86C3-410D-757E-D00D85B0205A}"/>
              </a:ext>
            </a:extLst>
          </p:cNvPr>
          <p:cNvSpPr>
            <a:spLocks noGrp="1"/>
          </p:cNvSpPr>
          <p:nvPr>
            <p:ph type="body" idx="1"/>
          </p:nvPr>
        </p:nvSpPr>
        <p:spPr/>
        <p:txBody>
          <a:bodyPr/>
          <a:lstStyle/>
          <a:p>
            <a:r>
              <a:rPr lang="en-US"/>
              <a:t>Let's look at a specific example, an assistant for a call center. This system demonstrates how agents can collaborate dynamically to solve customer queries. The system starts with a query parsing agent, which interprets the user's request. The Planner agent then breaks down the task into specific sub-tasks, while agents like Doc and Web Search pull relevant documentation and online resources to assist the customer.</a:t>
            </a:r>
          </a:p>
          <a:p>
            <a:r>
              <a:rPr lang="en-US"/>
              <a:t>This dynamic, real-time orchestration of tasks by multiple agents enables the handling of complex customer service queries. The process is continuously evaluated by the system, ensuring the relevant data is fetched and presented in an actionable format.</a:t>
            </a:r>
          </a:p>
        </p:txBody>
      </p:sp>
      <p:sp>
        <p:nvSpPr>
          <p:cNvPr id="4" name="Slide Number Placeholder 3">
            <a:extLst>
              <a:ext uri="{FF2B5EF4-FFF2-40B4-BE49-F238E27FC236}">
                <a16:creationId xmlns:a16="http://schemas.microsoft.com/office/drawing/2014/main" id="{6F97BDFA-0B5E-0507-2617-6D860BFAE5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9F58D4-BD80-4EB1-BE64-8CAB5D6EE4D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57535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Microsoft offers different tools for getting started, depending on your level of technical skill. For all users, there's the Agent builder, which is a no-code option for making custom Copilots. For users that are a bit more technical (but perhaps not software engineers), Copilot Studio is a way to build Copilots with minimal code, but more flexibility. Finally, for developers, Copilot Studio integrates with Visual Studio Code and allows you to customize your Copilot agent much more.</a:t>
            </a:r>
          </a:p>
        </p:txBody>
      </p:sp>
      <p:sp>
        <p:nvSpPr>
          <p:cNvPr id="4" name="Slide Number Placeholder 3"/>
          <p:cNvSpPr>
            <a:spLocks noGrp="1"/>
          </p:cNvSpPr>
          <p:nvPr>
            <p:ph type="sldNum" sz="quarter" idx="5"/>
          </p:nvPr>
        </p:nvSpPr>
        <p:spPr/>
        <p:txBody>
          <a:bodyPr/>
          <a:lstStyle/>
          <a:p>
            <a:fld id="{6C822E6C-A02C-4BB1-90E8-FA24A474D4B7}" type="slidenum">
              <a:rPr lang="en-US" smtClean="0"/>
              <a:t>18</a:t>
            </a:fld>
            <a:endParaRPr lang="en-US"/>
          </a:p>
        </p:txBody>
      </p:sp>
    </p:spTree>
    <p:extLst>
      <p:ext uri="{BB962C8B-B14F-4D97-AF65-F5344CB8AC3E}">
        <p14:creationId xmlns:p14="http://schemas.microsoft.com/office/powerpoint/2010/main" val="3761864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Developers always ask what AI Agent frameworks to use for coding your first agent.</a:t>
            </a:r>
          </a:p>
          <a:p>
            <a:r>
              <a:rPr lang="en-US"/>
              <a:t>For a single agent scenario, Microsoft offers the Azure AI Agent service and SDK, which basically creates a microservice for your agent, complete with thread storage.</a:t>
            </a:r>
          </a:p>
          <a:p>
            <a:r>
              <a:rPr lang="en-US"/>
              <a:t>For multi-agent scenarios, Microsoft offers two libraries that can make orchestration easier:</a:t>
            </a:r>
          </a:p>
          <a:p>
            <a:r>
              <a:rPr lang="en-US"/>
              <a:t>Autogen, from Microsoft Research, which includes state-of-the-art orchestration strategies</a:t>
            </a:r>
          </a:p>
          <a:p>
            <a:r>
              <a:rPr lang="en-US"/>
              <a:t>Semantic Kernel, which is designed more for production scenarios but brings in some of the strategies from AutoGen</a:t>
            </a:r>
          </a:p>
        </p:txBody>
      </p:sp>
      <p:sp>
        <p:nvSpPr>
          <p:cNvPr id="4" name="Slide Number Placeholder 3"/>
          <p:cNvSpPr>
            <a:spLocks noGrp="1"/>
          </p:cNvSpPr>
          <p:nvPr>
            <p:ph type="sldNum" sz="quarter" idx="5"/>
          </p:nvPr>
        </p:nvSpPr>
        <p:spPr/>
        <p:txBody>
          <a:bodyPr/>
          <a:lstStyle/>
          <a:p>
            <a:fld id="{6C822E6C-A02C-4BB1-90E8-FA24A474D4B7}" type="slidenum">
              <a:rPr lang="en-US" smtClean="0"/>
              <a:t>19</a:t>
            </a:fld>
            <a:endParaRPr lang="en-US"/>
          </a:p>
        </p:txBody>
      </p:sp>
    </p:spTree>
    <p:extLst>
      <p:ext uri="{BB962C8B-B14F-4D97-AF65-F5344CB8AC3E}">
        <p14:creationId xmlns:p14="http://schemas.microsoft.com/office/powerpoint/2010/main" val="3367737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Okay, but there's a difference between making an agent and making a *good* agent. What are the characteristics of a high-quality agent? Let's explore!</a:t>
            </a:r>
          </a:p>
        </p:txBody>
      </p:sp>
      <p:sp>
        <p:nvSpPr>
          <p:cNvPr id="4" name="Slide Number Placeholder 3"/>
          <p:cNvSpPr>
            <a:spLocks noGrp="1"/>
          </p:cNvSpPr>
          <p:nvPr>
            <p:ph type="sldNum" sz="quarter" idx="5"/>
          </p:nvPr>
        </p:nvSpPr>
        <p:spPr/>
        <p:txBody>
          <a:bodyPr/>
          <a:lstStyle/>
          <a:p>
            <a:fld id="{6C822E6C-A02C-4BB1-90E8-FA24A474D4B7}" type="slidenum">
              <a:rPr lang="en-US" smtClean="0"/>
              <a:t>20</a:t>
            </a:fld>
            <a:endParaRPr lang="en-US"/>
          </a:p>
        </p:txBody>
      </p:sp>
    </p:spTree>
    <p:extLst>
      <p:ext uri="{BB962C8B-B14F-4D97-AF65-F5344CB8AC3E}">
        <p14:creationId xmlns:p14="http://schemas.microsoft.com/office/powerpoint/2010/main" val="2658387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a:solidFill>
                  <a:srgbClr val="1F2328"/>
                </a:solidFill>
                <a:effectLst/>
                <a:latin typeface="-apple-system"/>
              </a:rPr>
              <a:t>Let's go through these three design principles: Space, Time, and Core.</a:t>
            </a:r>
          </a:p>
          <a:p>
            <a:pPr algn="l">
              <a:buNone/>
            </a:pPr>
            <a:endParaRPr lang="en-US" b="1" i="0">
              <a:solidFill>
                <a:srgbClr val="1F2328"/>
              </a:solidFill>
              <a:effectLst/>
              <a:latin typeface="-apple-system"/>
            </a:endParaRPr>
          </a:p>
          <a:p>
            <a:pPr algn="l">
              <a:buNone/>
            </a:pPr>
            <a:r>
              <a:rPr lang="en-US" b="1" i="0">
                <a:solidFill>
                  <a:srgbClr val="1F2328"/>
                </a:solidFill>
                <a:effectLst/>
                <a:latin typeface="-apple-system"/>
              </a:rPr>
              <a:t>Agent (Space)</a:t>
            </a:r>
          </a:p>
          <a:p>
            <a:pPr algn="l">
              <a:buNone/>
            </a:pPr>
            <a:r>
              <a:rPr lang="en-US" b="0" i="0">
                <a:solidFill>
                  <a:srgbClr val="1F2328"/>
                </a:solidFill>
                <a:effectLst/>
                <a:latin typeface="-apple-system"/>
              </a:rPr>
              <a:t>This is the environment in which the agent operates. These principles inform how we design agents for engaging in physical and digital worlds.</a:t>
            </a:r>
          </a:p>
          <a:p>
            <a:pPr algn="l">
              <a:buFont typeface="Arial" panose="020B0604020202020204" pitchFamily="34" charset="0"/>
              <a:buChar char="•"/>
            </a:pPr>
            <a:r>
              <a:rPr lang="en-US" b="1" i="0">
                <a:solidFill>
                  <a:srgbClr val="1F2328"/>
                </a:solidFill>
                <a:effectLst/>
                <a:latin typeface="-apple-system"/>
              </a:rPr>
              <a:t>Connecting, not collapsing</a:t>
            </a:r>
            <a:r>
              <a:rPr lang="en-US" b="0" i="0">
                <a:solidFill>
                  <a:srgbClr val="1F2328"/>
                </a:solidFill>
                <a:effectLst/>
                <a:latin typeface="-apple-system"/>
              </a:rPr>
              <a:t> – help connect people to other people, events, and actionable knowledge to enable collaboration and connection.</a:t>
            </a:r>
          </a:p>
          <a:p>
            <a:pPr algn="l">
              <a:buFont typeface="Arial" panose="020B0604020202020204" pitchFamily="34" charset="0"/>
              <a:buChar char="•"/>
            </a:pPr>
            <a:r>
              <a:rPr lang="en-US" b="0" i="0">
                <a:solidFill>
                  <a:srgbClr val="1F2328"/>
                </a:solidFill>
                <a:effectLst/>
                <a:latin typeface="-apple-system"/>
              </a:rPr>
              <a:t>Agents help connect events, knowledge, and people.</a:t>
            </a:r>
          </a:p>
          <a:p>
            <a:pPr algn="l">
              <a:buFont typeface="Arial" panose="020B0604020202020204" pitchFamily="34" charset="0"/>
              <a:buChar char="•"/>
            </a:pPr>
            <a:r>
              <a:rPr lang="en-US" b="0" i="0">
                <a:solidFill>
                  <a:srgbClr val="1F2328"/>
                </a:solidFill>
                <a:effectLst/>
                <a:latin typeface="-apple-system"/>
              </a:rPr>
              <a:t>Agents bring people closer together. They are not designed to replace or belittle people.</a:t>
            </a:r>
          </a:p>
          <a:p>
            <a:pPr algn="l">
              <a:buFont typeface="Arial" panose="020B0604020202020204" pitchFamily="34" charset="0"/>
              <a:buChar char="•"/>
            </a:pPr>
            <a:r>
              <a:rPr lang="en-US" b="1" i="0">
                <a:solidFill>
                  <a:srgbClr val="1F2328"/>
                </a:solidFill>
                <a:effectLst/>
                <a:latin typeface="-apple-system"/>
              </a:rPr>
              <a:t>Easily accessible yet occasionally invisible</a:t>
            </a:r>
            <a:r>
              <a:rPr lang="en-US" b="0" i="0">
                <a:solidFill>
                  <a:srgbClr val="1F2328"/>
                </a:solidFill>
                <a:effectLst/>
                <a:latin typeface="-apple-system"/>
              </a:rPr>
              <a:t> – agent largely operates in the background and only nudges us when it is relevant and appropriate.</a:t>
            </a:r>
          </a:p>
          <a:p>
            <a:pPr marL="742950" lvl="1" indent="-285750" algn="l">
              <a:buFont typeface="Arial" panose="020B0604020202020204" pitchFamily="34" charset="0"/>
              <a:buChar char="•"/>
            </a:pPr>
            <a:r>
              <a:rPr lang="en-US" b="0" i="0">
                <a:solidFill>
                  <a:srgbClr val="1F2328"/>
                </a:solidFill>
                <a:effectLst/>
                <a:latin typeface="-apple-system"/>
              </a:rPr>
              <a:t>Agent is easily discoverable and accessible for authorized users on any device or platform.</a:t>
            </a:r>
          </a:p>
          <a:p>
            <a:pPr marL="742950" lvl="1" indent="-285750" algn="l">
              <a:buFont typeface="Arial" panose="020B0604020202020204" pitchFamily="34" charset="0"/>
              <a:buChar char="•"/>
            </a:pPr>
            <a:r>
              <a:rPr lang="en-US" b="0" i="0">
                <a:solidFill>
                  <a:srgbClr val="1F2328"/>
                </a:solidFill>
                <a:effectLst/>
                <a:latin typeface="-apple-system"/>
              </a:rPr>
              <a:t>Agent supports multimodal inputs and outputs (sound, voice, text, etc.).</a:t>
            </a:r>
          </a:p>
          <a:p>
            <a:pPr marL="742950" lvl="1" indent="-285750" algn="l">
              <a:buFont typeface="Arial" panose="020B0604020202020204" pitchFamily="34" charset="0"/>
              <a:buChar char="•"/>
            </a:pPr>
            <a:r>
              <a:rPr lang="en-US" b="0" i="0">
                <a:solidFill>
                  <a:srgbClr val="1F2328"/>
                </a:solidFill>
                <a:effectLst/>
                <a:latin typeface="-apple-system"/>
              </a:rPr>
              <a:t>Agent can seamlessly transition between foreground and background; between proactive and reactive, depending on its sensing of user needs.</a:t>
            </a:r>
          </a:p>
          <a:p>
            <a:pPr marL="742950" lvl="1" indent="-285750" algn="l">
              <a:buFont typeface="Arial" panose="020B0604020202020204" pitchFamily="34" charset="0"/>
              <a:buChar char="•"/>
            </a:pPr>
            <a:r>
              <a:rPr lang="en-US" b="0" i="0">
                <a:solidFill>
                  <a:srgbClr val="1F2328"/>
                </a:solidFill>
                <a:effectLst/>
                <a:latin typeface="-apple-system"/>
              </a:rPr>
              <a:t>Agent may operate in invisible form, yet its background process path and collaboration with other Agents are transparent to and controllable by the user.</a:t>
            </a:r>
          </a:p>
          <a:p>
            <a:pPr algn="l">
              <a:buNone/>
            </a:pPr>
            <a:r>
              <a:rPr lang="en-US" b="1" i="0">
                <a:solidFill>
                  <a:srgbClr val="1F2328"/>
                </a:solidFill>
                <a:effectLst/>
                <a:latin typeface="-apple-system"/>
              </a:rPr>
              <a:t>Agent (Time)</a:t>
            </a:r>
          </a:p>
          <a:p>
            <a:pPr algn="l">
              <a:buNone/>
            </a:pPr>
            <a:r>
              <a:rPr lang="en-US" b="0" i="0">
                <a:solidFill>
                  <a:srgbClr val="1F2328"/>
                </a:solidFill>
                <a:effectLst/>
                <a:latin typeface="-apple-system"/>
              </a:rPr>
              <a:t>This is how the agent operates over time. These principles inform how we design agents interacting across the past, present, and future.</a:t>
            </a:r>
          </a:p>
          <a:p>
            <a:pPr algn="l">
              <a:buFont typeface="Arial" panose="020B0604020202020204" pitchFamily="34" charset="0"/>
              <a:buChar char="•"/>
            </a:pPr>
            <a:r>
              <a:rPr lang="en-US" b="1" i="0">
                <a:solidFill>
                  <a:srgbClr val="1F2328"/>
                </a:solidFill>
                <a:effectLst/>
                <a:latin typeface="-apple-system"/>
              </a:rPr>
              <a:t>Past</a:t>
            </a:r>
            <a:r>
              <a:rPr lang="en-US" b="0" i="0">
                <a:solidFill>
                  <a:srgbClr val="1F2328"/>
                </a:solidFill>
                <a:effectLst/>
                <a:latin typeface="-apple-system"/>
              </a:rPr>
              <a:t>: Reflecting on history that includes both state and context.</a:t>
            </a:r>
          </a:p>
          <a:p>
            <a:pPr marL="742950" lvl="1" indent="-285750" algn="l">
              <a:buFont typeface="Arial" panose="020B0604020202020204" pitchFamily="34" charset="0"/>
              <a:buChar char="•"/>
            </a:pPr>
            <a:r>
              <a:rPr lang="en-US" b="0" i="0">
                <a:solidFill>
                  <a:srgbClr val="1F2328"/>
                </a:solidFill>
                <a:effectLst/>
                <a:latin typeface="-apple-system"/>
              </a:rPr>
              <a:t>Agent provides more relevant results based on analysis of richer historical data beyond only the event, people, or states.</a:t>
            </a:r>
          </a:p>
          <a:p>
            <a:pPr marL="742950" lvl="1" indent="-285750" algn="l">
              <a:buFont typeface="Arial" panose="020B0604020202020204" pitchFamily="34" charset="0"/>
              <a:buChar char="•"/>
            </a:pPr>
            <a:r>
              <a:rPr lang="en-US" b="0" i="0">
                <a:solidFill>
                  <a:srgbClr val="1F2328"/>
                </a:solidFill>
                <a:effectLst/>
                <a:latin typeface="-apple-system"/>
              </a:rPr>
              <a:t>Agent creates connections from past events and actively reflects on memory to engage with current situations.</a:t>
            </a:r>
          </a:p>
          <a:p>
            <a:pPr algn="l">
              <a:buFont typeface="Arial" panose="020B0604020202020204" pitchFamily="34" charset="0"/>
              <a:buChar char="•"/>
            </a:pPr>
            <a:r>
              <a:rPr lang="en-US" b="1" i="0">
                <a:solidFill>
                  <a:srgbClr val="1F2328"/>
                </a:solidFill>
                <a:effectLst/>
                <a:latin typeface="-apple-system"/>
              </a:rPr>
              <a:t>Now</a:t>
            </a:r>
            <a:r>
              <a:rPr lang="en-US" b="0" i="0">
                <a:solidFill>
                  <a:srgbClr val="1F2328"/>
                </a:solidFill>
                <a:effectLst/>
                <a:latin typeface="-apple-system"/>
              </a:rPr>
              <a:t>: Nudging more than notifying.</a:t>
            </a:r>
          </a:p>
          <a:p>
            <a:pPr marL="742950" lvl="1" indent="-285750" algn="l">
              <a:buFont typeface="Arial" panose="020B0604020202020204" pitchFamily="34" charset="0"/>
              <a:buChar char="•"/>
            </a:pPr>
            <a:r>
              <a:rPr lang="en-US" b="0" i="0">
                <a:solidFill>
                  <a:srgbClr val="1F2328"/>
                </a:solidFill>
                <a:effectLst/>
                <a:latin typeface="-apple-system"/>
              </a:rPr>
              <a:t>Agent embodies a comprehensive approach to interacting with people. When an event happens, the Agent goes beyond static notification or other static formality. Agent can simplify flows or dynamically generate cues to direct the user’s attention at the right moment.</a:t>
            </a:r>
          </a:p>
          <a:p>
            <a:pPr marL="742950" lvl="1" indent="-285750" algn="l">
              <a:buFont typeface="Arial" panose="020B0604020202020204" pitchFamily="34" charset="0"/>
              <a:buChar char="•"/>
            </a:pPr>
            <a:r>
              <a:rPr lang="en-US" b="0" i="0">
                <a:solidFill>
                  <a:srgbClr val="1F2328"/>
                </a:solidFill>
                <a:effectLst/>
                <a:latin typeface="-apple-system"/>
              </a:rPr>
              <a:t>Agent delivers information based on contextual environment, social and cultural changes and tailored to user intent.</a:t>
            </a:r>
          </a:p>
          <a:p>
            <a:pPr marL="742950" lvl="1" indent="-285750" algn="l">
              <a:buFont typeface="Arial" panose="020B0604020202020204" pitchFamily="34" charset="0"/>
              <a:buChar char="•"/>
            </a:pPr>
            <a:r>
              <a:rPr lang="en-US" b="0" i="0">
                <a:solidFill>
                  <a:srgbClr val="1F2328"/>
                </a:solidFill>
                <a:effectLst/>
                <a:latin typeface="-apple-system"/>
              </a:rPr>
              <a:t>Agent interaction can be gradual, evolving/growing in complexity to empower users over the long term.</a:t>
            </a:r>
          </a:p>
          <a:p>
            <a:pPr algn="l">
              <a:buFont typeface="Arial" panose="020B0604020202020204" pitchFamily="34" charset="0"/>
              <a:buChar char="•"/>
            </a:pPr>
            <a:r>
              <a:rPr lang="en-US" b="1" i="0">
                <a:solidFill>
                  <a:srgbClr val="1F2328"/>
                </a:solidFill>
                <a:effectLst/>
                <a:latin typeface="-apple-system"/>
              </a:rPr>
              <a:t>Future</a:t>
            </a:r>
            <a:r>
              <a:rPr lang="en-US" b="0" i="0">
                <a:solidFill>
                  <a:srgbClr val="1F2328"/>
                </a:solidFill>
                <a:effectLst/>
                <a:latin typeface="-apple-system"/>
              </a:rPr>
              <a:t>: Adapting and evolving.</a:t>
            </a:r>
          </a:p>
          <a:p>
            <a:pPr marL="742950" lvl="1" indent="-285750" algn="l">
              <a:buFont typeface="Arial" panose="020B0604020202020204" pitchFamily="34" charset="0"/>
              <a:buChar char="•"/>
            </a:pPr>
            <a:r>
              <a:rPr lang="en-US" b="0" i="0">
                <a:solidFill>
                  <a:srgbClr val="1F2328"/>
                </a:solidFill>
                <a:effectLst/>
                <a:latin typeface="-apple-system"/>
              </a:rPr>
              <a:t>Agent adapts to various devices, platforms, and modalities.</a:t>
            </a:r>
          </a:p>
          <a:p>
            <a:pPr marL="742950" lvl="1" indent="-285750" algn="l">
              <a:buFont typeface="Arial" panose="020B0604020202020204" pitchFamily="34" charset="0"/>
              <a:buChar char="•"/>
            </a:pPr>
            <a:r>
              <a:rPr lang="en-US" b="0" i="0">
                <a:solidFill>
                  <a:srgbClr val="1F2328"/>
                </a:solidFill>
                <a:effectLst/>
                <a:latin typeface="-apple-system"/>
              </a:rPr>
              <a:t>Agent adapts to user behavior, accessibility needs, and is freely customizable.</a:t>
            </a:r>
          </a:p>
          <a:p>
            <a:pPr marL="742950" lvl="1" indent="-285750" algn="l">
              <a:buFont typeface="Arial" panose="020B0604020202020204" pitchFamily="34" charset="0"/>
              <a:buChar char="•"/>
            </a:pPr>
            <a:r>
              <a:rPr lang="en-US" b="0" i="0">
                <a:solidFill>
                  <a:srgbClr val="1F2328"/>
                </a:solidFill>
                <a:effectLst/>
                <a:latin typeface="-apple-system"/>
              </a:rPr>
              <a:t>Agent is shaped by and evolves through continuous user interaction.</a:t>
            </a:r>
          </a:p>
          <a:p>
            <a:pPr algn="l">
              <a:buNone/>
            </a:pPr>
            <a:r>
              <a:rPr lang="en-US" b="1" i="0">
                <a:solidFill>
                  <a:srgbClr val="1F2328"/>
                </a:solidFill>
                <a:effectLst/>
                <a:latin typeface="-apple-system"/>
              </a:rPr>
              <a:t>Agent (Core)</a:t>
            </a:r>
          </a:p>
          <a:p>
            <a:pPr algn="l">
              <a:buNone/>
            </a:pPr>
            <a:r>
              <a:rPr lang="en-US" b="0" i="0">
                <a:solidFill>
                  <a:srgbClr val="1F2328"/>
                </a:solidFill>
                <a:effectLst/>
                <a:latin typeface="-apple-system"/>
              </a:rPr>
              <a:t>These are the key elements in the core of an agent’s design.</a:t>
            </a:r>
          </a:p>
          <a:p>
            <a:pPr algn="l">
              <a:buFont typeface="Arial" panose="020B0604020202020204" pitchFamily="34" charset="0"/>
              <a:buChar char="•"/>
            </a:pPr>
            <a:r>
              <a:rPr lang="en-US" b="1" i="0">
                <a:solidFill>
                  <a:srgbClr val="1F2328"/>
                </a:solidFill>
                <a:effectLst/>
                <a:latin typeface="-apple-system"/>
              </a:rPr>
              <a:t>Embrace uncertainty but establish trust</a:t>
            </a:r>
            <a:r>
              <a:rPr lang="en-US" b="0" i="0">
                <a:solidFill>
                  <a:srgbClr val="1F2328"/>
                </a:solidFill>
                <a:effectLst/>
                <a:latin typeface="-apple-system"/>
              </a:rPr>
              <a:t>.</a:t>
            </a:r>
          </a:p>
          <a:p>
            <a:pPr marL="742950" lvl="1" indent="-285750" algn="l">
              <a:buFont typeface="Arial" panose="020B0604020202020204" pitchFamily="34" charset="0"/>
              <a:buChar char="•"/>
            </a:pPr>
            <a:r>
              <a:rPr lang="en-US" b="0" i="0">
                <a:solidFill>
                  <a:srgbClr val="1F2328"/>
                </a:solidFill>
                <a:effectLst/>
                <a:latin typeface="-apple-system"/>
              </a:rPr>
              <a:t>A certain level of Agent uncertainty is expected. Uncertainty is a key element of agent design.</a:t>
            </a:r>
          </a:p>
          <a:p>
            <a:pPr marL="742950" lvl="1" indent="-285750" algn="l">
              <a:buFont typeface="Arial" panose="020B0604020202020204" pitchFamily="34" charset="0"/>
              <a:buChar char="•"/>
            </a:pPr>
            <a:r>
              <a:rPr lang="en-US" b="0" i="0">
                <a:solidFill>
                  <a:srgbClr val="1F2328"/>
                </a:solidFill>
                <a:effectLst/>
                <a:latin typeface="-apple-system"/>
              </a:rPr>
              <a:t>Trust and transparency are foundational layers of Agent design.</a:t>
            </a:r>
          </a:p>
          <a:p>
            <a:pPr marL="742950" lvl="1" indent="-285750" algn="l">
              <a:buFont typeface="Arial" panose="020B0604020202020204" pitchFamily="34" charset="0"/>
              <a:buChar char="•"/>
            </a:pPr>
            <a:r>
              <a:rPr lang="en-US" b="0" i="0">
                <a:solidFill>
                  <a:srgbClr val="1F2328"/>
                </a:solidFill>
                <a:effectLst/>
                <a:latin typeface="-apple-system"/>
              </a:rPr>
              <a:t>Humans are in control of when the Agent is on/off and Agent status is clearly visible at all times.</a:t>
            </a:r>
          </a:p>
          <a:p>
            <a:endParaRPr lang="en-US"/>
          </a:p>
        </p:txBody>
      </p:sp>
      <p:sp>
        <p:nvSpPr>
          <p:cNvPr id="4" name="Slide Number Placeholder 3"/>
          <p:cNvSpPr>
            <a:spLocks noGrp="1"/>
          </p:cNvSpPr>
          <p:nvPr>
            <p:ph type="sldNum" sz="quarter" idx="5"/>
          </p:nvPr>
        </p:nvSpPr>
        <p:spPr/>
        <p:txBody>
          <a:bodyPr/>
          <a:lstStyle/>
          <a:p>
            <a:fld id="{6C822E6C-A02C-4BB1-90E8-FA24A474D4B7}" type="slidenum">
              <a:rPr lang="en-US" smtClean="0"/>
              <a:t>21</a:t>
            </a:fld>
            <a:endParaRPr lang="en-US"/>
          </a:p>
        </p:txBody>
      </p:sp>
    </p:spTree>
    <p:extLst>
      <p:ext uri="{BB962C8B-B14F-4D97-AF65-F5344CB8AC3E}">
        <p14:creationId xmlns:p14="http://schemas.microsoft.com/office/powerpoint/2010/main" val="14039326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let's look at design *patterns*: common ways of designing agentic flows to incorporate tools, knowledge, and actions.</a:t>
            </a:r>
          </a:p>
          <a:p>
            <a:endParaRPr lang="en-US"/>
          </a:p>
        </p:txBody>
      </p:sp>
      <p:sp>
        <p:nvSpPr>
          <p:cNvPr id="4" name="Slide Number Placeholder 3"/>
          <p:cNvSpPr>
            <a:spLocks noGrp="1"/>
          </p:cNvSpPr>
          <p:nvPr>
            <p:ph type="sldNum" sz="quarter" idx="5"/>
          </p:nvPr>
        </p:nvSpPr>
        <p:spPr/>
        <p:txBody>
          <a:bodyPr/>
          <a:lstStyle/>
          <a:p>
            <a:fld id="{6C822E6C-A02C-4BB1-90E8-FA24A474D4B7}" type="slidenum">
              <a:rPr lang="en-US" smtClean="0"/>
              <a:t>22</a:t>
            </a:fld>
            <a:endParaRPr lang="en-US"/>
          </a:p>
        </p:txBody>
      </p:sp>
    </p:spTree>
    <p:extLst>
      <p:ext uri="{BB962C8B-B14F-4D97-AF65-F5344CB8AC3E}">
        <p14:creationId xmlns:p14="http://schemas.microsoft.com/office/powerpoint/2010/main" val="15510064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t>This slide has lots of </a:t>
            </a:r>
            <a:r>
              <a:rPr lang="en-US" sz="1000" err="1"/>
              <a:t>annimations</a:t>
            </a:r>
            <a:endParaRPr lang="en-US" sz="1000"/>
          </a:p>
          <a:p>
            <a:r>
              <a:rPr lang="en-US" sz="1000"/>
              <a:t>So, a bit more of a drill down</a:t>
            </a:r>
          </a:p>
          <a:p>
            <a:r>
              <a:rPr lang="en-US" sz="1000"/>
              <a:t>High level – this is how the AI Agent Service works</a:t>
            </a:r>
          </a:p>
          <a:p>
            <a:pPr marL="228600" indent="-228600">
              <a:buFont typeface="+mj-lt"/>
              <a:buAutoNum type="arabicPeriod"/>
            </a:pPr>
            <a:r>
              <a:rPr lang="en-US" sz="1000"/>
              <a:t>Create/define agent, </a:t>
            </a:r>
          </a:p>
          <a:p>
            <a:pPr marL="228600" indent="-228600">
              <a:buFont typeface="+mj-lt"/>
              <a:buAutoNum type="arabicPeriod"/>
            </a:pPr>
            <a:r>
              <a:rPr lang="en-US" sz="1000"/>
              <a:t>Create a thread which is a unit of conversation</a:t>
            </a:r>
          </a:p>
          <a:p>
            <a:pPr marL="228600" indent="-228600">
              <a:buFont typeface="+mj-lt"/>
              <a:buAutoNum type="arabicPeriod"/>
            </a:pPr>
            <a:r>
              <a:rPr lang="en-US" sz="1000"/>
              <a:t>Run the Agent</a:t>
            </a:r>
          </a:p>
          <a:p>
            <a:pPr marL="228600" indent="-228600">
              <a:buFont typeface="+mj-lt"/>
              <a:buAutoNum type="arabicPeriod"/>
            </a:pPr>
            <a:r>
              <a:rPr lang="en-US" sz="1000"/>
              <a:t>Check status till complete</a:t>
            </a:r>
          </a:p>
          <a:p>
            <a:pPr marL="228600" indent="-228600">
              <a:buFont typeface="+mj-lt"/>
              <a:buAutoNum type="arabicPeriod"/>
            </a:pPr>
            <a:r>
              <a:rPr lang="en-US" sz="1000"/>
              <a:t>Show output</a:t>
            </a:r>
          </a:p>
          <a:p>
            <a:pPr marL="228600" indent="-228600">
              <a:buFont typeface="+mj-lt"/>
              <a:buAutoNum type="arabicPeriod"/>
            </a:pPr>
            <a:endParaRPr lang="en-US" sz="1000"/>
          </a:p>
          <a:p>
            <a:pPr marL="228600" indent="-228600">
              <a:buFont typeface="+mj-lt"/>
              <a:buAutoNum type="arabicPeriod"/>
            </a:pPr>
            <a:r>
              <a:rPr lang="en-US" sz="1000"/>
              <a:t>Break this down </a:t>
            </a:r>
            <a:r>
              <a:rPr lang="en-US" sz="1000" err="1"/>
              <a:t>futher</a:t>
            </a:r>
            <a:endParaRPr lang="en-US" sz="100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4/7/25 3:31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37084236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RAG, Retrieval-Augmented Generation, is a way of getting an LLM to answer questions about your own data, by first retrieving relevant context and sending that to the LLM. There are many ways that we can improve RAG through agentic design patterns to increase the accuracy of the answers.</a:t>
            </a:r>
          </a:p>
          <a:p>
            <a:r>
              <a:rPr lang="en-US"/>
              <a:t>In this diagram, we send the user question to an LLM for initial analysis. It decides what tools to call and how to call them in order to find results, searching multiple places for relevant information. Then we collect the results together, and use either a model or algorithm to decide if the quality is high enough. If not, we repeat the retrieval step, but if so, we send the results to the LLM to generate a response. Finally, we remember the interaction in memory, for future reference.</a:t>
            </a:r>
          </a:p>
          <a:p>
            <a:endParaRPr lang="en-US"/>
          </a:p>
        </p:txBody>
      </p:sp>
      <p:sp>
        <p:nvSpPr>
          <p:cNvPr id="4" name="Slide Number Placeholder 3"/>
          <p:cNvSpPr>
            <a:spLocks noGrp="1"/>
          </p:cNvSpPr>
          <p:nvPr>
            <p:ph type="sldNum" sz="quarter" idx="5"/>
          </p:nvPr>
        </p:nvSpPr>
        <p:spPr/>
        <p:txBody>
          <a:bodyPr/>
          <a:lstStyle/>
          <a:p>
            <a:fld id="{6C822E6C-A02C-4BB1-90E8-FA24A474D4B7}" type="slidenum">
              <a:rPr lang="en-US" smtClean="0"/>
              <a:t>24</a:t>
            </a:fld>
            <a:endParaRPr lang="en-US"/>
          </a:p>
        </p:txBody>
      </p:sp>
    </p:spTree>
    <p:extLst>
      <p:ext uri="{BB962C8B-B14F-4D97-AF65-F5344CB8AC3E}">
        <p14:creationId xmlns:p14="http://schemas.microsoft.com/office/powerpoint/2010/main" val="22281092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we're going to use agents for business automation – to actually take actions – we need a high degree of confidence in their accuracy.</a:t>
            </a:r>
          </a:p>
        </p:txBody>
      </p:sp>
      <p:sp>
        <p:nvSpPr>
          <p:cNvPr id="4" name="Slide Number Placeholder 3"/>
          <p:cNvSpPr>
            <a:spLocks noGrp="1"/>
          </p:cNvSpPr>
          <p:nvPr>
            <p:ph type="sldNum" sz="quarter" idx="5"/>
          </p:nvPr>
        </p:nvSpPr>
        <p:spPr/>
        <p:txBody>
          <a:bodyPr/>
          <a:lstStyle/>
          <a:p>
            <a:fld id="{6C822E6C-A02C-4BB1-90E8-FA24A474D4B7}" type="slidenum">
              <a:rPr lang="en-US" smtClean="0"/>
              <a:t>26</a:t>
            </a:fld>
            <a:endParaRPr lang="en-US"/>
          </a:p>
        </p:txBody>
      </p:sp>
    </p:spTree>
    <p:extLst>
      <p:ext uri="{BB962C8B-B14F-4D97-AF65-F5344CB8AC3E}">
        <p14:creationId xmlns:p14="http://schemas.microsoft.com/office/powerpoint/2010/main" val="22495783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a:t>https://learn.microsoft.com/azure/ai-services/openai/concepts/system-message?tabs=top-techniques</a:t>
            </a:r>
          </a:p>
        </p:txBody>
      </p:sp>
      <p:sp>
        <p:nvSpPr>
          <p:cNvPr id="4" name="Slide Number Placeholder 3"/>
          <p:cNvSpPr>
            <a:spLocks noGrp="1"/>
          </p:cNvSpPr>
          <p:nvPr>
            <p:ph type="sldNum" sz="quarter" idx="5"/>
          </p:nvPr>
        </p:nvSpPr>
        <p:spPr/>
        <p:txBody>
          <a:bodyPr/>
          <a:lstStyle/>
          <a:p>
            <a:fld id="{6C822E6C-A02C-4BB1-90E8-FA24A474D4B7}" type="slidenum">
              <a:rPr lang="en-US" smtClean="0"/>
              <a:t>27</a:t>
            </a:fld>
            <a:endParaRPr lang="en-US"/>
          </a:p>
        </p:txBody>
      </p:sp>
    </p:spTree>
    <p:extLst>
      <p:ext uri="{BB962C8B-B14F-4D97-AF65-F5344CB8AC3E}">
        <p14:creationId xmlns:p14="http://schemas.microsoft.com/office/powerpoint/2010/main" val="10811225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systems that need high accuracy, we will often need a way to bring in humans. A human can provide missing information, it can approve any actions that have low confidence, it can interact with users that are having a hard time getting what they need from an agent (like for customer support). Even if we bring humans in to handle 5% of cases, using AI agents can still help us speed up 95% of a business process.</a:t>
            </a:r>
          </a:p>
        </p:txBody>
      </p:sp>
      <p:sp>
        <p:nvSpPr>
          <p:cNvPr id="4" name="Slide Number Placeholder 3"/>
          <p:cNvSpPr>
            <a:spLocks noGrp="1"/>
          </p:cNvSpPr>
          <p:nvPr>
            <p:ph type="sldNum" sz="quarter" idx="5"/>
          </p:nvPr>
        </p:nvSpPr>
        <p:spPr/>
        <p:txBody>
          <a:bodyPr/>
          <a:lstStyle/>
          <a:p>
            <a:fld id="{6C822E6C-A02C-4BB1-90E8-FA24A474D4B7}" type="slidenum">
              <a:rPr lang="en-US" smtClean="0"/>
              <a:t>28</a:t>
            </a:fld>
            <a:endParaRPr lang="en-US"/>
          </a:p>
        </p:txBody>
      </p:sp>
    </p:spTree>
    <p:extLst>
      <p:ext uri="{BB962C8B-B14F-4D97-AF65-F5344CB8AC3E}">
        <p14:creationId xmlns:p14="http://schemas.microsoft.com/office/powerpoint/2010/main" val="42765136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1BC3C-A995-140B-A0A7-58039E149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35046-DB09-EC64-2725-2823707AB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7FE3E5-6836-6EF0-C266-B66BF6C54320}"/>
              </a:ext>
            </a:extLst>
          </p:cNvPr>
          <p:cNvSpPr>
            <a:spLocks noGrp="1"/>
          </p:cNvSpPr>
          <p:nvPr>
            <p:ph type="body" idx="1"/>
          </p:nvPr>
        </p:nvSpPr>
        <p:spPr/>
        <p:txBody>
          <a:bodyPr/>
          <a:lstStyle/>
          <a:p>
            <a:r>
              <a:rPr lang="en-US"/>
              <a:t>For systems that need high accuracy, we will often need a way to bring in humans. A human can provide missing information, it can approve any actions that have low confidence, it can interact with users that are having a hard time getting what they need from an agent (like for customer support). Even if we bring humans in to handle 5% of cases, using AI agents can still help us speed up 95% of a business process.</a:t>
            </a:r>
          </a:p>
        </p:txBody>
      </p:sp>
      <p:sp>
        <p:nvSpPr>
          <p:cNvPr id="4" name="Slide Number Placeholder 3">
            <a:extLst>
              <a:ext uri="{FF2B5EF4-FFF2-40B4-BE49-F238E27FC236}">
                <a16:creationId xmlns:a16="http://schemas.microsoft.com/office/drawing/2014/main" id="{AB3896F5-C238-07E3-ADD6-0784F770659E}"/>
              </a:ext>
            </a:extLst>
          </p:cNvPr>
          <p:cNvSpPr>
            <a:spLocks noGrp="1"/>
          </p:cNvSpPr>
          <p:nvPr>
            <p:ph type="sldNum" sz="quarter" idx="5"/>
          </p:nvPr>
        </p:nvSpPr>
        <p:spPr/>
        <p:txBody>
          <a:bodyPr/>
          <a:lstStyle/>
          <a:p>
            <a:fld id="{6C822E6C-A02C-4BB1-90E8-FA24A474D4B7}" type="slidenum">
              <a:rPr lang="en-US" smtClean="0"/>
              <a:t>29</a:t>
            </a:fld>
            <a:endParaRPr lang="en-US"/>
          </a:p>
        </p:txBody>
      </p:sp>
    </p:spTree>
    <p:extLst>
      <p:ext uri="{BB962C8B-B14F-4D97-AF65-F5344CB8AC3E}">
        <p14:creationId xmlns:p14="http://schemas.microsoft.com/office/powerpoint/2010/main" val="21562300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here's some advice from my colleagues that have developed agents.</a:t>
            </a:r>
          </a:p>
        </p:txBody>
      </p:sp>
      <p:sp>
        <p:nvSpPr>
          <p:cNvPr id="4" name="Slide Number Placeholder 3"/>
          <p:cNvSpPr>
            <a:spLocks noGrp="1"/>
          </p:cNvSpPr>
          <p:nvPr>
            <p:ph type="sldNum" sz="quarter" idx="5"/>
          </p:nvPr>
        </p:nvSpPr>
        <p:spPr/>
        <p:txBody>
          <a:bodyPr/>
          <a:lstStyle/>
          <a:p>
            <a:fld id="{6C822E6C-A02C-4BB1-90E8-FA24A474D4B7}" type="slidenum">
              <a:rPr lang="en-US" smtClean="0"/>
              <a:t>31</a:t>
            </a:fld>
            <a:endParaRPr lang="en-US"/>
          </a:p>
        </p:txBody>
      </p:sp>
    </p:spTree>
    <p:extLst>
      <p:ext uri="{BB962C8B-B14F-4D97-AF65-F5344CB8AC3E}">
        <p14:creationId xmlns:p14="http://schemas.microsoft.com/office/powerpoint/2010/main" val="32893345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it's really fun! It's amazing to see what these new techmologies can do.</a:t>
            </a:r>
          </a:p>
        </p:txBody>
      </p:sp>
      <p:sp>
        <p:nvSpPr>
          <p:cNvPr id="4" name="Slide Number Placeholder 3"/>
          <p:cNvSpPr>
            <a:spLocks noGrp="1"/>
          </p:cNvSpPr>
          <p:nvPr>
            <p:ph type="sldNum" sz="quarter" idx="5"/>
          </p:nvPr>
        </p:nvSpPr>
        <p:spPr/>
        <p:txBody>
          <a:bodyPr/>
          <a:lstStyle/>
          <a:p>
            <a:fld id="{6C822E6C-A02C-4BB1-90E8-FA24A474D4B7}" type="slidenum">
              <a:rPr lang="en-US" smtClean="0"/>
              <a:t>32</a:t>
            </a:fld>
            <a:endParaRPr lang="en-US"/>
          </a:p>
        </p:txBody>
      </p:sp>
    </p:spTree>
    <p:extLst>
      <p:ext uri="{BB962C8B-B14F-4D97-AF65-F5344CB8AC3E}">
        <p14:creationId xmlns:p14="http://schemas.microsoft.com/office/powerpoint/2010/main" val="35660063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However, it can also be very difficult, especially when you start testing your system with real data and real user input.</a:t>
            </a:r>
          </a:p>
        </p:txBody>
      </p:sp>
      <p:sp>
        <p:nvSpPr>
          <p:cNvPr id="4" name="Slide Number Placeholder 3"/>
          <p:cNvSpPr>
            <a:spLocks noGrp="1"/>
          </p:cNvSpPr>
          <p:nvPr>
            <p:ph type="sldNum" sz="quarter" idx="5"/>
          </p:nvPr>
        </p:nvSpPr>
        <p:spPr/>
        <p:txBody>
          <a:bodyPr/>
          <a:lstStyle/>
          <a:p>
            <a:fld id="{6C822E6C-A02C-4BB1-90E8-FA24A474D4B7}" type="slidenum">
              <a:rPr lang="en-US" smtClean="0"/>
              <a:t>33</a:t>
            </a:fld>
            <a:endParaRPr lang="en-US"/>
          </a:p>
        </p:txBody>
      </p:sp>
    </p:spTree>
    <p:extLst>
      <p:ext uri="{BB962C8B-B14F-4D97-AF65-F5344CB8AC3E}">
        <p14:creationId xmlns:p14="http://schemas.microsoft.com/office/powerpoint/2010/main" val="17627982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But just because it's hard, that doesn't mean you should give up!</a:t>
            </a:r>
          </a:p>
          <a:p>
            <a:r>
              <a:rPr lang="en-US"/>
              <a:t>Here are the steps that I recommend...</a:t>
            </a:r>
          </a:p>
          <a:p>
            <a:endParaRPr lang="en-US"/>
          </a:p>
          <a:p>
            <a:endParaRPr lang="en-US"/>
          </a:p>
        </p:txBody>
      </p:sp>
      <p:sp>
        <p:nvSpPr>
          <p:cNvPr id="4" name="Slide Number Placeholder 3"/>
          <p:cNvSpPr>
            <a:spLocks noGrp="1"/>
          </p:cNvSpPr>
          <p:nvPr>
            <p:ph type="sldNum" sz="quarter" idx="5"/>
          </p:nvPr>
        </p:nvSpPr>
        <p:spPr/>
        <p:txBody>
          <a:bodyPr/>
          <a:lstStyle/>
          <a:p>
            <a:fld id="{6C822E6C-A02C-4BB1-90E8-FA24A474D4B7}" type="slidenum">
              <a:rPr lang="en-US" smtClean="0"/>
              <a:t>34</a:t>
            </a:fld>
            <a:endParaRPr lang="en-US"/>
          </a:p>
        </p:txBody>
      </p:sp>
    </p:spTree>
    <p:extLst>
      <p:ext uri="{BB962C8B-B14F-4D97-AF65-F5344CB8AC3E}">
        <p14:creationId xmlns:p14="http://schemas.microsoft.com/office/powerpoint/2010/main" val="42454140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543E0-9122-E8BB-1289-E35CD3AC3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FC06E-599C-07E7-A224-E220699B62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882759-3128-720C-5B89-E6EFC5105FCC}"/>
              </a:ext>
            </a:extLst>
          </p:cNvPr>
          <p:cNvSpPr>
            <a:spLocks noGrp="1"/>
          </p:cNvSpPr>
          <p:nvPr>
            <p:ph type="body" idx="1"/>
          </p:nvPr>
        </p:nvSpPr>
        <p:spPr/>
        <p:txBody>
          <a:bodyPr/>
          <a:lstStyle/>
          <a:p>
            <a:r>
              <a:rPr lang="en-US"/>
              <a:t>This part of the presentation is based in free agents curriculum that's available online, and is translated into portuguese too.</a:t>
            </a:r>
          </a:p>
          <a:p>
            <a:r>
              <a:rPr lang="en-US"/>
              <a:t>You can dive way more into these concepts after this talk from that link.</a:t>
            </a:r>
          </a:p>
        </p:txBody>
      </p:sp>
      <p:sp>
        <p:nvSpPr>
          <p:cNvPr id="4" name="Slide Number Placeholder 3">
            <a:extLst>
              <a:ext uri="{FF2B5EF4-FFF2-40B4-BE49-F238E27FC236}">
                <a16:creationId xmlns:a16="http://schemas.microsoft.com/office/drawing/2014/main" id="{568E7B30-717D-58F3-9EB9-5FA6612976C8}"/>
              </a:ext>
            </a:extLst>
          </p:cNvPr>
          <p:cNvSpPr>
            <a:spLocks noGrp="1"/>
          </p:cNvSpPr>
          <p:nvPr>
            <p:ph type="sldNum" sz="quarter" idx="5"/>
          </p:nvPr>
        </p:nvSpPr>
        <p:spPr/>
        <p:txBody>
          <a:bodyPr/>
          <a:lstStyle/>
          <a:p>
            <a:fld id="{6C822E6C-A02C-4BB1-90E8-FA24A474D4B7}" type="slidenum">
              <a:rPr lang="en-US" smtClean="0"/>
              <a:t>35</a:t>
            </a:fld>
            <a:endParaRPr lang="en-US"/>
          </a:p>
        </p:txBody>
      </p:sp>
    </p:spTree>
    <p:extLst>
      <p:ext uri="{BB962C8B-B14F-4D97-AF65-F5344CB8AC3E}">
        <p14:creationId xmlns:p14="http://schemas.microsoft.com/office/powerpoint/2010/main" val="37513761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3404F-9A5A-9AC2-C1F8-B10068110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92D75-01AA-3C26-50F1-6887D48AB3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85418-D37E-6ED1-D44F-90E1731C3AC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A6AA02A-F840-13B3-085C-5F5148BD1317}"/>
              </a:ext>
            </a:extLst>
          </p:cNvPr>
          <p:cNvSpPr>
            <a:spLocks noGrp="1"/>
          </p:cNvSpPr>
          <p:nvPr>
            <p:ph type="sldNum" sz="quarter" idx="5"/>
          </p:nvPr>
        </p:nvSpPr>
        <p:spPr/>
        <p:txBody>
          <a:bodyPr/>
          <a:lstStyle/>
          <a:p>
            <a:fld id="{6C822E6C-A02C-4BB1-90E8-FA24A474D4B7}" type="slidenum">
              <a:rPr lang="en-US" smtClean="0"/>
              <a:t>37</a:t>
            </a:fld>
            <a:endParaRPr lang="en-US"/>
          </a:p>
        </p:txBody>
      </p:sp>
    </p:spTree>
    <p:extLst>
      <p:ext uri="{BB962C8B-B14F-4D97-AF65-F5344CB8AC3E}">
        <p14:creationId xmlns:p14="http://schemas.microsoft.com/office/powerpoint/2010/main" val="2910968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Josh: Hi everyone, hope you enjoyed today's session! If you aren't registered for the AI Agents hackathon yet, register now at aka.ms/agentshack and start hacking on the agent of your dreams. </a:t>
            </a:r>
          </a:p>
          <a:p>
            <a:pPr>
              <a:buNone/>
            </a:pPr>
            <a:endParaRPr lang="en-US"/>
          </a:p>
          <a:p>
            <a:pPr>
              <a:buNone/>
            </a:pPr>
            <a:r>
              <a:rPr lang="en-US"/>
              <a:t>Pamela: If you have any questions along the way, post in our discussion forum or attend live office hours in Discord.  And of course, make sure to join our upcoming live streams to keep learning about agents.</a:t>
            </a:r>
          </a:p>
          <a:p>
            <a:pPr>
              <a:buNone/>
            </a:pPr>
            <a:endParaRPr lang="en-US"/>
          </a:p>
          <a:p>
            <a:pPr>
              <a:buNone/>
            </a:pPr>
            <a:r>
              <a:rPr lang="en-US"/>
              <a:t>Josh: Once your project is ready, submit it before April 30th at 11:59PM PT to be eligible for our prizes. Thanks for joining!</a:t>
            </a:r>
          </a:p>
          <a:p>
            <a:endParaRPr lang="en-US"/>
          </a:p>
        </p:txBody>
      </p:sp>
      <p:sp>
        <p:nvSpPr>
          <p:cNvPr id="4" name="Slide Number Placeholder 3"/>
          <p:cNvSpPr>
            <a:spLocks noGrp="1"/>
          </p:cNvSpPr>
          <p:nvPr>
            <p:ph type="sldNum" sz="quarter" idx="5"/>
          </p:nvPr>
        </p:nvSpPr>
        <p:spPr/>
        <p:txBody>
          <a:bodyPr/>
          <a:lstStyle/>
          <a:p>
            <a:fld id="{6C822E6C-A02C-4BB1-90E8-FA24A474D4B7}" type="slidenum">
              <a:rPr lang="en-US" smtClean="0"/>
              <a:t>48</a:t>
            </a:fld>
            <a:endParaRPr lang="en-US"/>
          </a:p>
        </p:txBody>
      </p:sp>
    </p:spTree>
    <p:extLst>
      <p:ext uri="{BB962C8B-B14F-4D97-AF65-F5344CB8AC3E}">
        <p14:creationId xmlns:p14="http://schemas.microsoft.com/office/powerpoint/2010/main" val="16710318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18.jpe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1.xml"/><Relationship Id="rId5" Type="http://schemas.openxmlformats.org/officeDocument/2006/relationships/image" Target="../media/image22.jpeg"/><Relationship Id="rId4" Type="http://schemas.openxmlformats.org/officeDocument/2006/relationships/image" Target="../media/image21.jpe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7.jpe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Master" Target="../slideMasters/slideMaster1.xml"/><Relationship Id="rId5" Type="http://schemas.openxmlformats.org/officeDocument/2006/relationships/image" Target="../media/image31.jpeg"/><Relationship Id="rId4" Type="http://schemas.openxmlformats.org/officeDocument/2006/relationships/image" Target="../media/image30.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1.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Master" Target="../slideMasters/slideMaster1.xml"/><Relationship Id="rId4" Type="http://schemas.openxmlformats.org/officeDocument/2006/relationships/image" Target="../media/image39.jpe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40.jpeg"/><Relationship Id="rId4" Type="http://schemas.openxmlformats.org/officeDocument/2006/relationships/image" Target="../media/image39.jpe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Master" Target="../slideMasters/slideMaster1.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aka.ms/AISkillsFest" TargetMode="External"/><Relationship Id="rId2" Type="http://schemas.openxmlformats.org/officeDocument/2006/relationships/image" Target="../media/image46.png"/><Relationship Id="rId1" Type="http://schemas.openxmlformats.org/officeDocument/2006/relationships/slideMaster" Target="../slideMasters/slideMaster1.xml"/><Relationship Id="rId4" Type="http://schemas.openxmlformats.org/officeDocument/2006/relationships/image" Target="../media/image47.png"/></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Defaul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450669-ECBA-B744-89C6-0564B02EB2D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9" name="Title 1"/>
          <p:cNvSpPr>
            <a:spLocks noGrp="1"/>
          </p:cNvSpPr>
          <p:nvPr>
            <p:ph type="title" hasCustomPrompt="1"/>
          </p:nvPr>
        </p:nvSpPr>
        <p:spPr bwMode="white">
          <a:xfrm>
            <a:off x="584200" y="2302670"/>
            <a:ext cx="5577840" cy="123110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sz="1800" spc="0" baseline="0">
                <a:solidFill>
                  <a:srgbClr val="091F2C"/>
                </a:solidFill>
                <a:latin typeface="+mn-lt"/>
                <a:cs typeface="Segoe UI" panose="020B0502040204020203" pitchFamily="34" charset="0"/>
              </a:defRPr>
            </a:lvl1pPr>
          </a:lstStyle>
          <a:p>
            <a:pPr lvl="0"/>
            <a:r>
              <a:rPr lang="en-US"/>
              <a:t>Speaker name or subtitle text</a:t>
            </a:r>
          </a:p>
        </p:txBody>
      </p:sp>
      <p:pic>
        <p:nvPicPr>
          <p:cNvPr id="3" name="MS logo gray - EMF" descr="Microsoft logo, gray text version">
            <a:extLst>
              <a:ext uri="{FF2B5EF4-FFF2-40B4-BE49-F238E27FC236}">
                <a16:creationId xmlns:a16="http://schemas.microsoft.com/office/drawing/2014/main" id="{528725CB-B775-081A-D40D-3A222E9843C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009752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TechPro">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795DD1-EE31-6EA9-5CEB-7EFB6F3612E6}"/>
              </a:ext>
            </a:extLst>
          </p:cNvPr>
          <p:cNvPicPr>
            <a:picLocks noChangeAspect="1"/>
          </p:cNvPicPr>
          <p:nvPr userDrawn="1"/>
        </p:nvPicPr>
        <p:blipFill>
          <a:blip r:embed="rId2"/>
          <a:srcRect/>
          <a:stretch/>
        </p:blipFill>
        <p:spPr>
          <a:xfrm>
            <a:off x="0" y="0"/>
            <a:ext cx="12191998" cy="6857998"/>
          </a:xfrm>
          <a:prstGeom prst="rect">
            <a:avLst/>
          </a:prstGeom>
        </p:spPr>
      </p:pic>
      <p:sp>
        <p:nvSpPr>
          <p:cNvPr id="9" name="Title 1"/>
          <p:cNvSpPr>
            <a:spLocks noGrp="1"/>
          </p:cNvSpPr>
          <p:nvPr>
            <p:ph type="title" hasCustomPrompt="1"/>
          </p:nvPr>
        </p:nvSpPr>
        <p:spPr bwMode="white">
          <a:xfrm>
            <a:off x="584200" y="2302670"/>
            <a:ext cx="5577840" cy="123110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sz="1800" spc="0" baseline="0">
                <a:solidFill>
                  <a:srgbClr val="091F2C"/>
                </a:solidFill>
                <a:latin typeface="+mn-lt"/>
                <a:cs typeface="Segoe UI" panose="020B0502040204020203" pitchFamily="34" charset="0"/>
              </a:defRPr>
            </a:lvl1pPr>
          </a:lstStyle>
          <a:p>
            <a:pPr lvl="0"/>
            <a:r>
              <a:rPr lang="en-US"/>
              <a:t>Speaker name or subtitle text</a:t>
            </a:r>
          </a:p>
        </p:txBody>
      </p:sp>
      <p:pic>
        <p:nvPicPr>
          <p:cNvPr id="3" name="MS logo gray - EMF" descr="Microsoft logo, gray text version">
            <a:extLst>
              <a:ext uri="{FF2B5EF4-FFF2-40B4-BE49-F238E27FC236}">
                <a16:creationId xmlns:a16="http://schemas.microsoft.com/office/drawing/2014/main" id="{528725CB-B775-081A-D40D-3A222E9843C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35191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NextGe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C02264-6880-81B7-356A-8D600C79A6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1998" cy="6858000"/>
          </a:xfrm>
          <a:prstGeom prst="rect">
            <a:avLst/>
          </a:prstGeom>
        </p:spPr>
      </p:pic>
      <p:sp>
        <p:nvSpPr>
          <p:cNvPr id="9" name="Title 1"/>
          <p:cNvSpPr>
            <a:spLocks noGrp="1"/>
          </p:cNvSpPr>
          <p:nvPr>
            <p:ph type="title" hasCustomPrompt="1"/>
          </p:nvPr>
        </p:nvSpPr>
        <p:spPr bwMode="white">
          <a:xfrm>
            <a:off x="584200" y="2302670"/>
            <a:ext cx="5577840" cy="123110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sz="1800" spc="0" baseline="0">
                <a:solidFill>
                  <a:srgbClr val="091F2C"/>
                </a:solidFill>
                <a:latin typeface="+mn-lt"/>
                <a:cs typeface="Segoe UI" panose="020B0502040204020203" pitchFamily="34" charset="0"/>
              </a:defRPr>
            </a:lvl1pPr>
          </a:lstStyle>
          <a:p>
            <a:pPr lvl="0"/>
            <a:r>
              <a:rPr lang="en-US"/>
              <a:t>Speaker name or subtitle text</a:t>
            </a:r>
          </a:p>
        </p:txBody>
      </p:sp>
      <p:pic>
        <p:nvPicPr>
          <p:cNvPr id="3" name="MS logo gray - EMF" descr="Microsoft logo, gray text version">
            <a:extLst>
              <a:ext uri="{FF2B5EF4-FFF2-40B4-BE49-F238E27FC236}">
                <a16:creationId xmlns:a16="http://schemas.microsoft.com/office/drawing/2014/main" id="{528725CB-B775-081A-D40D-3A222E9843C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28556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BusinessUs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795DD1-EE31-6EA9-5CEB-7EFB6F3612E6}"/>
              </a:ext>
            </a:extLst>
          </p:cNvPr>
          <p:cNvPicPr>
            <a:picLocks noChangeAspect="1"/>
          </p:cNvPicPr>
          <p:nvPr userDrawn="1"/>
        </p:nvPicPr>
        <p:blipFill>
          <a:blip r:embed="rId2"/>
          <a:srcRect/>
          <a:stretch/>
        </p:blipFill>
        <p:spPr>
          <a:xfrm>
            <a:off x="0" y="0"/>
            <a:ext cx="12191998" cy="6857998"/>
          </a:xfrm>
          <a:prstGeom prst="rect">
            <a:avLst/>
          </a:prstGeom>
        </p:spPr>
      </p:pic>
      <p:sp>
        <p:nvSpPr>
          <p:cNvPr id="9" name="Title 1"/>
          <p:cNvSpPr>
            <a:spLocks noGrp="1"/>
          </p:cNvSpPr>
          <p:nvPr>
            <p:ph type="title" hasCustomPrompt="1"/>
          </p:nvPr>
        </p:nvSpPr>
        <p:spPr bwMode="white">
          <a:xfrm>
            <a:off x="584200" y="2302670"/>
            <a:ext cx="5577840" cy="123110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sz="1800" spc="0" baseline="0">
                <a:solidFill>
                  <a:srgbClr val="091F2C"/>
                </a:solidFill>
                <a:latin typeface="+mn-lt"/>
                <a:cs typeface="Segoe UI" panose="020B0502040204020203" pitchFamily="34" charset="0"/>
              </a:defRPr>
            </a:lvl1pPr>
          </a:lstStyle>
          <a:p>
            <a:pPr lvl="0"/>
            <a:r>
              <a:rPr lang="en-US"/>
              <a:t>Speaker name or subtitle text</a:t>
            </a:r>
          </a:p>
        </p:txBody>
      </p:sp>
      <p:pic>
        <p:nvPicPr>
          <p:cNvPr id="3" name="MS logo gray - EMF" descr="Microsoft logo, gray text version">
            <a:extLst>
              <a:ext uri="{FF2B5EF4-FFF2-40B4-BE49-F238E27FC236}">
                <a16:creationId xmlns:a16="http://schemas.microsoft.com/office/drawing/2014/main" id="{528725CB-B775-081A-D40D-3A222E9843C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37401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Oth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795DD1-EE31-6EA9-5CEB-7EFB6F3612E6}"/>
              </a:ext>
            </a:extLst>
          </p:cNvPr>
          <p:cNvPicPr>
            <a:picLocks noChangeAspect="1"/>
          </p:cNvPicPr>
          <p:nvPr userDrawn="1"/>
        </p:nvPicPr>
        <p:blipFill>
          <a:blip r:embed="rId2"/>
          <a:srcRect/>
          <a:stretch/>
        </p:blipFill>
        <p:spPr>
          <a:xfrm>
            <a:off x="353" y="198"/>
            <a:ext cx="12191292" cy="6857601"/>
          </a:xfrm>
          <a:prstGeom prst="rect">
            <a:avLst/>
          </a:prstGeom>
        </p:spPr>
      </p:pic>
      <p:sp>
        <p:nvSpPr>
          <p:cNvPr id="9" name="Title 1"/>
          <p:cNvSpPr>
            <a:spLocks noGrp="1"/>
          </p:cNvSpPr>
          <p:nvPr>
            <p:ph type="title" hasCustomPrompt="1"/>
          </p:nvPr>
        </p:nvSpPr>
        <p:spPr bwMode="white">
          <a:xfrm>
            <a:off x="584200" y="2302670"/>
            <a:ext cx="5577840" cy="123110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sz="1800" spc="0" baseline="0">
                <a:solidFill>
                  <a:srgbClr val="091F2C"/>
                </a:solidFill>
                <a:latin typeface="+mn-lt"/>
                <a:cs typeface="Segoe UI" panose="020B0502040204020203" pitchFamily="34" charset="0"/>
              </a:defRPr>
            </a:lvl1pPr>
          </a:lstStyle>
          <a:p>
            <a:pPr lvl="0"/>
            <a:r>
              <a:rPr lang="en-US"/>
              <a:t>Speaker name or subtitle text</a:t>
            </a:r>
          </a:p>
        </p:txBody>
      </p:sp>
      <p:pic>
        <p:nvPicPr>
          <p:cNvPr id="3" name="MS logo gray - EMF" descr="Microsoft logo, gray text version">
            <a:extLst>
              <a:ext uri="{FF2B5EF4-FFF2-40B4-BE49-F238E27FC236}">
                <a16:creationId xmlns:a16="http://schemas.microsoft.com/office/drawing/2014/main" id="{528725CB-B775-081A-D40D-3A222E9843C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pic>
        <p:nvPicPr>
          <p:cNvPr id="8" name="Picture 7" descr="A pixelated magnifying glass">
            <a:extLst>
              <a:ext uri="{FF2B5EF4-FFF2-40B4-BE49-F238E27FC236}">
                <a16:creationId xmlns:a16="http://schemas.microsoft.com/office/drawing/2014/main" id="{0599355C-2A03-0D12-AD1F-22E104B45E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057926" y="656372"/>
            <a:ext cx="1169349" cy="1177497"/>
          </a:xfrm>
          <a:prstGeom prst="rect">
            <a:avLst/>
          </a:prstGeom>
        </p:spPr>
      </p:pic>
    </p:spTree>
    <p:extLst>
      <p:ext uri="{BB962C8B-B14F-4D97-AF65-F5344CB8AC3E}">
        <p14:creationId xmlns:p14="http://schemas.microsoft.com/office/powerpoint/2010/main" val="1320184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083713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Title Defaul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632C5F-6998-82BE-AA6A-893B3297F031}"/>
              </a:ext>
            </a:extLst>
          </p:cNvPr>
          <p:cNvPicPr>
            <a:picLocks noChangeAspect="1"/>
          </p:cNvPicPr>
          <p:nvPr userDrawn="1"/>
        </p:nvPicPr>
        <p:blipFill>
          <a:blip r:embed="rId2"/>
          <a:srcRect/>
          <a:stretch/>
        </p:blipFill>
        <p:spPr>
          <a:xfrm>
            <a:off x="0" y="0"/>
            <a:ext cx="12191999" cy="6857999"/>
          </a:xfrm>
          <a:prstGeom prst="rect">
            <a:avLst/>
          </a:prstGeom>
        </p:spPr>
      </p:pic>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778354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D95377-1266-A4CB-E102-6B8FC933F2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1998" cy="6857999"/>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02950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Defaul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2274401-DBC2-9496-5064-46F436CBD279}"/>
              </a:ext>
            </a:extLst>
          </p:cNvPr>
          <p:cNvPicPr>
            <a:picLocks noChangeAspect="1"/>
          </p:cNvPicPr>
          <p:nvPr userDrawn="1"/>
        </p:nvPicPr>
        <p:blipFill>
          <a:blip r:embed="rId2"/>
          <a:srcRect/>
          <a:stretch/>
        </p:blipFill>
        <p:spPr>
          <a:xfrm>
            <a:off x="0" y="0"/>
            <a:ext cx="12191999" cy="6857999"/>
          </a:xfrm>
          <a:prstGeom prst="rect">
            <a:avLst/>
          </a:prstGeom>
        </p:spPr>
      </p:pic>
      <p:sp>
        <p:nvSpPr>
          <p:cNvPr id="2" name="Title 1"/>
          <p:cNvSpPr>
            <a:spLocks noGrp="1"/>
          </p:cNvSpPr>
          <p:nvPr>
            <p:ph type="title" hasCustomPrompt="1"/>
          </p:nvPr>
        </p:nvSpPr>
        <p:spPr>
          <a:xfrm>
            <a:off x="585216" y="2365386"/>
            <a:ext cx="62179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Agenda or Title</a:t>
            </a:r>
          </a:p>
        </p:txBody>
      </p:sp>
      <p:sp>
        <p:nvSpPr>
          <p:cNvPr id="5" name="Text Placeholder 4"/>
          <p:cNvSpPr>
            <a:spLocks noGrp="1"/>
          </p:cNvSpPr>
          <p:nvPr>
            <p:ph type="body" sz="quarter" idx="12" hasCustomPrompt="1"/>
          </p:nvPr>
        </p:nvSpPr>
        <p:spPr>
          <a:xfrm>
            <a:off x="585216" y="3364882"/>
            <a:ext cx="6217920" cy="646331"/>
          </a:xfrm>
          <a:noFill/>
        </p:spPr>
        <p:txBody>
          <a:bodyPr lIns="0" tIns="0" rIns="0" bIns="0">
            <a:spAutoFit/>
          </a:bodyPr>
          <a:lstStyle>
            <a:lvl1pPr marL="0" indent="0">
              <a:spcBef>
                <a:spcPts val="0"/>
              </a:spcBef>
              <a:spcAft>
                <a:spcPts val="0"/>
              </a:spcAft>
              <a:buFont typeface="Arial" panose="020B0604020202020204" pitchFamily="34" charset="0"/>
              <a:buNone/>
              <a:defRPr kumimoji="0" lang="en-US" sz="1600" b="0" i="0" u="none" strike="noStrike" kern="1200" cap="none" spc="0" normalizeH="0" baseline="0" noProof="0" dirty="0">
                <a:ln>
                  <a:noFill/>
                </a:ln>
                <a:solidFill>
                  <a:srgbClr val="091F2C"/>
                </a:solidFill>
                <a:effectLst/>
                <a:uLnTx/>
                <a:uFillTx/>
                <a:latin typeface="Segoe Sans Display"/>
                <a:ea typeface="+mn-ea"/>
                <a:cs typeface="Segoe Sans Display" pitchFamily="2" charset="0"/>
              </a:defRPr>
            </a:lvl1pPr>
          </a:lstStyle>
          <a:p>
            <a:pPr marL="342900" marR="0" lvl="0" indent="-342900" algn="l" defTabSz="932742" rtl="0" eaLnBrk="1" fontAlgn="auto" latinLnBrk="0" hangingPunct="1">
              <a:lnSpc>
                <a:spcPct val="100000"/>
              </a:lnSpc>
              <a:spcBef>
                <a:spcPts val="0"/>
              </a:spcBef>
              <a:spcAft>
                <a:spcPts val="1200"/>
              </a:spcAft>
              <a:buClrTx/>
              <a:buSzPct val="90000"/>
              <a:buFont typeface="+mj-lt"/>
              <a:buAutoNum type="arabicPeriod"/>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pitchFamily="2" charset="0"/>
              </a:rPr>
              <a:t>Item one</a:t>
            </a:r>
          </a:p>
          <a:p>
            <a:pPr marL="342900" marR="0" lvl="0" indent="-342900" algn="l" defTabSz="932742" rtl="0" eaLnBrk="1" fontAlgn="auto" latinLnBrk="0" hangingPunct="1">
              <a:lnSpc>
                <a:spcPct val="100000"/>
              </a:lnSpc>
              <a:spcBef>
                <a:spcPts val="0"/>
              </a:spcBef>
              <a:spcAft>
                <a:spcPts val="1200"/>
              </a:spcAft>
              <a:buClrTx/>
              <a:buSzPct val="90000"/>
              <a:buFont typeface="+mj-lt"/>
              <a:buAutoNum type="arabicPeriod"/>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pitchFamily="2" charset="0"/>
              </a:rPr>
              <a:t>Item two</a:t>
            </a:r>
          </a:p>
        </p:txBody>
      </p:sp>
    </p:spTree>
    <p:extLst>
      <p:ext uri="{BB962C8B-B14F-4D97-AF65-F5344CB8AC3E}">
        <p14:creationId xmlns:p14="http://schemas.microsoft.com/office/powerpoint/2010/main" val="164850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mo slide Defaul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2274401-DBC2-9496-5064-46F436CBD279}"/>
              </a:ext>
            </a:extLst>
          </p:cNvPr>
          <p:cNvPicPr>
            <a:picLocks noChangeAspect="1"/>
          </p:cNvPicPr>
          <p:nvPr userDrawn="1"/>
        </p:nvPicPr>
        <p:blipFill>
          <a:blip r:embed="rId2"/>
          <a:srcRect/>
          <a:stretch/>
        </p:blipFill>
        <p:spPr>
          <a:xfrm>
            <a:off x="0" y="0"/>
            <a:ext cx="12191999" cy="6857999"/>
          </a:xfrm>
          <a:prstGeom prst="rect">
            <a:avLst/>
          </a:prstGeom>
        </p:spPr>
      </p:pic>
      <p:sp>
        <p:nvSpPr>
          <p:cNvPr id="2" name="Title 1"/>
          <p:cNvSpPr>
            <a:spLocks noGrp="1"/>
          </p:cNvSpPr>
          <p:nvPr>
            <p:ph type="title" hasCustomPrompt="1"/>
          </p:nvPr>
        </p:nvSpPr>
        <p:spPr>
          <a:xfrm>
            <a:off x="585216" y="2977823"/>
            <a:ext cx="62179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6217920" cy="276999"/>
          </a:xfrm>
          <a:noFill/>
        </p:spPr>
        <p:txBody>
          <a:bodyPr lIns="0" tIns="0" rIns="0" bIns="0">
            <a:spAutoFit/>
          </a:bodyPr>
          <a:lstStyle>
            <a:lvl1pPr marL="0" indent="0">
              <a:spcBef>
                <a:spcPts val="0"/>
              </a:spcBef>
              <a:spcAft>
                <a:spcPts val="0"/>
              </a:spcAft>
              <a:buFont typeface="Arial" panose="020B0604020202020204" pitchFamily="34" charset="0"/>
              <a:buNone/>
              <a:defRPr sz="18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783287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38F212-CEBD-0DA7-8DA7-DF3DE8A6FDC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1998" cy="6857999"/>
          </a:xfrm>
          <a:prstGeom prst="rect">
            <a:avLst/>
          </a:prstGeom>
        </p:spPr>
      </p:pic>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76999"/>
          </a:xfrm>
          <a:noFill/>
        </p:spPr>
        <p:txBody>
          <a:bodyPr lIns="0" tIns="0" rIns="0" bIns="0">
            <a:spAutoFit/>
          </a:bodyPr>
          <a:lstStyle>
            <a:lvl1pPr marL="0" indent="0">
              <a:spcBef>
                <a:spcPts val="0"/>
              </a:spcBef>
              <a:spcAft>
                <a:spcPts val="0"/>
              </a:spcAft>
              <a:buFont typeface="Arial" panose="020B0604020202020204" pitchFamily="34" charset="0"/>
              <a:buNone/>
              <a:defRPr sz="18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641196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hasCustomPrompt="1"/>
          </p:nvPr>
        </p:nvSpPr>
        <p:spPr>
          <a:xfrm>
            <a:off x="584200" y="1435100"/>
            <a:ext cx="11018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5448639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hasCustomPrompt="1"/>
          </p:nvPr>
        </p:nvSpPr>
        <p:spPr/>
        <p:txBody>
          <a:bodyPr/>
          <a:lstStyle/>
          <a:p>
            <a:r>
              <a:rPr lang="en-US"/>
              <a:t>Click to edit title style</a:t>
            </a:r>
          </a:p>
        </p:txBody>
      </p:sp>
      <p:sp>
        <p:nvSpPr>
          <p:cNvPr id="4" name="Text Placeholder 3"/>
          <p:cNvSpPr>
            <a:spLocks noGrp="1"/>
          </p:cNvSpPr>
          <p:nvPr>
            <p:ph type="body" sz="quarter" idx="10" hasCustomPrompt="1"/>
          </p:nvPr>
        </p:nvSpPr>
        <p:spPr>
          <a:xfrm>
            <a:off x="586390" y="1434370"/>
            <a:ext cx="11018520" cy="1612749"/>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241793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hasCustomPrompt="1"/>
          </p:nvPr>
        </p:nvSpPr>
        <p:spPr/>
        <p:txBody>
          <a:bodyPr/>
          <a:lstStyle/>
          <a:p>
            <a:r>
              <a:rPr lang="en-US"/>
              <a:t>Click to edit title style</a:t>
            </a:r>
          </a:p>
        </p:txBody>
      </p:sp>
      <p:sp>
        <p:nvSpPr>
          <p:cNvPr id="4" name="Text Placeholder 3"/>
          <p:cNvSpPr>
            <a:spLocks noGrp="1"/>
          </p:cNvSpPr>
          <p:nvPr>
            <p:ph type="body" sz="quarter" idx="10" hasCustomPrompt="1"/>
          </p:nvPr>
        </p:nvSpPr>
        <p:spPr>
          <a:xfrm>
            <a:off x="586390" y="1434370"/>
            <a:ext cx="11018520" cy="1612749"/>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9600436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hasCustomPrompt="1"/>
          </p:nvPr>
        </p:nvSpPr>
        <p:spPr/>
        <p:txBody>
          <a:bodyPr/>
          <a:lstStyle/>
          <a:p>
            <a:r>
              <a:rPr lang="en-US"/>
              <a:t>Click to edit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hasCustomPrompt="1"/>
          </p:nvPr>
        </p:nvSpPr>
        <p:spPr>
          <a:xfrm>
            <a:off x="584200" y="1435100"/>
            <a:ext cx="5211763" cy="161274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hasCustomPrompt="1"/>
          </p:nvPr>
        </p:nvSpPr>
        <p:spPr>
          <a:xfrm>
            <a:off x="6389688" y="1435100"/>
            <a:ext cx="5219700" cy="1612749"/>
          </a:xfrm>
        </p:spPr>
        <p:txBody>
          <a:bodyPr/>
          <a:lstStyle>
            <a:lvl1pPr>
              <a:defRPr/>
            </a:lvl1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857724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p:cNvSpPr>
            <a:spLocks noGrp="1"/>
          </p:cNvSpPr>
          <p:nvPr>
            <p:ph type="body" sz="quarter" idx="10" hasCustomPrompt="1"/>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hasCustomPrompt="1"/>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37256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spAutoFit/>
          </a:bodyPr>
          <a:lstStyle>
            <a:lvl1pPr>
              <a:defRPr/>
            </a:lvl1pPr>
          </a:lstStyle>
          <a:p>
            <a:r>
              <a:rPr lang="en-US"/>
              <a:t>Click to edit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hasCustomPrompt="1"/>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hasCustomPrompt="1"/>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hasCustomPrompt="1"/>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hasCustomPrompt="1"/>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63949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spAutoFit/>
          </a:bodyPr>
          <a:lstStyle>
            <a:lvl1pPr>
              <a:defRPr/>
            </a:lvl1pPr>
          </a:lstStyle>
          <a:p>
            <a:r>
              <a:rPr lang="en-US"/>
              <a:t>Click to edit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hasCustomPrompt="1"/>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hasCustomPrompt="1"/>
          </p:nvPr>
        </p:nvSpPr>
        <p:spPr>
          <a:xfrm>
            <a:off x="588963" y="2081212"/>
            <a:ext cx="5214937" cy="1551194"/>
          </a:xfrm>
        </p:spPr>
        <p:txBody>
          <a:bodyPr/>
          <a:lstStyle>
            <a:lvl1pPr>
              <a:defRPr sz="2400"/>
            </a:lvl1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hasCustomPrompt="1"/>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hasCustomPrompt="1"/>
          </p:nvPr>
        </p:nvSpPr>
        <p:spPr>
          <a:xfrm>
            <a:off x="6394451" y="2081212"/>
            <a:ext cx="5214937" cy="1551194"/>
          </a:xfrm>
        </p:spPr>
        <p:txBody>
          <a:bodyPr/>
          <a:lstStyle>
            <a:lvl1pPr>
              <a:defRPr sz="2400"/>
            </a:lvl1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2443999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hasCustomPrompt="1"/>
          </p:nvPr>
        </p:nvSpPr>
        <p:spPr>
          <a:xfrm>
            <a:off x="585217" y="1438275"/>
            <a:ext cx="3264408" cy="338554"/>
          </a:xfrm>
        </p:spPr>
        <p:txBody>
          <a:bodyPr anchor="t"/>
          <a:lstStyle>
            <a:lvl1pPr marL="0" indent="0">
              <a:spcBef>
                <a:spcPts val="0"/>
              </a:spcBef>
              <a:buNone/>
              <a:defRPr sz="2200">
                <a:solidFill>
                  <a:schemeClr val="tx1"/>
                </a:solidFill>
                <a:latin typeface="+mj-lt"/>
              </a:defRPr>
            </a:lvl1pPr>
          </a:lstStyle>
          <a:p>
            <a:pPr lvl="0"/>
            <a:r>
              <a:rPr lang="en-US"/>
              <a:t>Click to edit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hasCustomPrompt="1"/>
          </p:nvPr>
        </p:nvSpPr>
        <p:spPr>
          <a:xfrm>
            <a:off x="585217" y="2390775"/>
            <a:ext cx="3264408" cy="1452705"/>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hasCustomPrompt="1"/>
          </p:nvPr>
        </p:nvSpPr>
        <p:spPr>
          <a:xfrm>
            <a:off x="4463796" y="1438275"/>
            <a:ext cx="3264408" cy="338554"/>
          </a:xfrm>
        </p:spPr>
        <p:txBody>
          <a:bodyPr anchor="t"/>
          <a:lstStyle>
            <a:lvl1pPr marL="0" indent="0">
              <a:spcBef>
                <a:spcPts val="0"/>
              </a:spcBef>
              <a:buNone/>
              <a:defRPr sz="2200">
                <a:solidFill>
                  <a:schemeClr val="tx1"/>
                </a:solidFill>
                <a:latin typeface="+mj-lt"/>
              </a:defRPr>
            </a:lvl1pPr>
          </a:lstStyle>
          <a:p>
            <a:pPr lvl="0"/>
            <a:r>
              <a:rPr lang="en-US"/>
              <a:t>Click to edit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hasCustomPrompt="1"/>
          </p:nvPr>
        </p:nvSpPr>
        <p:spPr>
          <a:xfrm>
            <a:off x="4463796" y="2384135"/>
            <a:ext cx="3264408" cy="1452705"/>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hasCustomPrompt="1"/>
          </p:nvPr>
        </p:nvSpPr>
        <p:spPr>
          <a:xfrm>
            <a:off x="8342375" y="1438275"/>
            <a:ext cx="3264408" cy="338554"/>
          </a:xfrm>
        </p:spPr>
        <p:txBody>
          <a:bodyPr anchor="t"/>
          <a:lstStyle>
            <a:lvl1pPr marL="0" indent="0">
              <a:spcBef>
                <a:spcPts val="0"/>
              </a:spcBef>
              <a:buNone/>
              <a:defRPr sz="2200">
                <a:solidFill>
                  <a:schemeClr val="tx1"/>
                </a:solidFill>
                <a:latin typeface="+mj-lt"/>
              </a:defRPr>
            </a:lvl1pPr>
          </a:lstStyle>
          <a:p>
            <a:pPr lvl="0"/>
            <a:r>
              <a:rPr lang="en-US"/>
              <a:t>Click to edit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hasCustomPrompt="1"/>
          </p:nvPr>
        </p:nvSpPr>
        <p:spPr>
          <a:xfrm>
            <a:off x="8342375" y="2390775"/>
            <a:ext cx="3264408" cy="1452705"/>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99091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hasCustomPrompt="1"/>
          </p:nvPr>
        </p:nvSpPr>
        <p:spPr>
          <a:xfrm>
            <a:off x="584200" y="2283115"/>
            <a:ext cx="2532063" cy="1384995"/>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hasCustomPrompt="1"/>
          </p:nvPr>
        </p:nvSpPr>
        <p:spPr>
          <a:xfrm>
            <a:off x="3413125" y="2276475"/>
            <a:ext cx="2532063" cy="1384995"/>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hasCustomPrompt="1"/>
          </p:nvPr>
        </p:nvSpPr>
        <p:spPr>
          <a:xfrm>
            <a:off x="6244208" y="2283115"/>
            <a:ext cx="2532063" cy="1384995"/>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hasCustomPrompt="1"/>
          </p:nvPr>
        </p:nvSpPr>
        <p:spPr>
          <a:xfrm>
            <a:off x="9073133" y="2276475"/>
            <a:ext cx="2532063" cy="1384995"/>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635733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hasCustomPrompt="1"/>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hasCustomPrompt="1"/>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hasCustomPrompt="1"/>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hasCustomPrompt="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hasCustomPrompt="1"/>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503533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p:txBody>
          <a:bodyPr/>
          <a:lstStyle/>
          <a:p>
            <a:r>
              <a:rPr lang="en-US"/>
              <a:t>Click to edit title style</a:t>
            </a:r>
          </a:p>
        </p:txBody>
      </p:sp>
    </p:spTree>
    <p:extLst>
      <p:ext uri="{BB962C8B-B14F-4D97-AF65-F5344CB8AC3E}">
        <p14:creationId xmlns:p14="http://schemas.microsoft.com/office/powerpoint/2010/main" val="351800525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588264" y="2875002"/>
            <a:ext cx="4127692" cy="1107996"/>
          </a:xfrm>
        </p:spPr>
        <p:txBody>
          <a:bodyPr wrap="square" anchor="ctr">
            <a:spAutoFit/>
          </a:bodyPr>
          <a:lstStyle/>
          <a:p>
            <a:r>
              <a:rPr lang="en-US"/>
              <a:t>Click to edit title style</a:t>
            </a:r>
          </a:p>
        </p:txBody>
      </p:sp>
    </p:spTree>
    <p:extLst>
      <p:ext uri="{BB962C8B-B14F-4D97-AF65-F5344CB8AC3E}">
        <p14:creationId xmlns:p14="http://schemas.microsoft.com/office/powerpoint/2010/main" val="21179287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title style</a:t>
            </a:r>
          </a:p>
        </p:txBody>
      </p:sp>
    </p:spTree>
    <p:extLst>
      <p:ext uri="{BB962C8B-B14F-4D97-AF65-F5344CB8AC3E}">
        <p14:creationId xmlns:p14="http://schemas.microsoft.com/office/powerpoint/2010/main" val="32135734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hasCustomPrompt="1"/>
          </p:nvPr>
        </p:nvSpPr>
        <p:spPr>
          <a:xfrm>
            <a:off x="584200" y="3535540"/>
            <a:ext cx="4162425" cy="338554"/>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3732651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hasCustomPrompt="1"/>
          </p:nvPr>
        </p:nvSpPr>
        <p:spPr>
          <a:xfrm>
            <a:off x="588263" y="2873414"/>
            <a:ext cx="4159950" cy="1107996"/>
          </a:xfrm>
        </p:spPr>
        <p:txBody>
          <a:bodyPr anchor="ct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49554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577957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90538574"/>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252920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6383474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hasCustomPrompt="1"/>
          </p:nvPr>
        </p:nvSpPr>
        <p:spPr>
          <a:xfrm>
            <a:off x="588263" y="5436128"/>
            <a:ext cx="11018520" cy="553998"/>
          </a:xfrm>
        </p:spPr>
        <p:txBody>
          <a:bodyPr anchor="ctr"/>
          <a:lstStyle>
            <a:lvl1pPr algn="ctr">
              <a:defRPr/>
            </a:lvl1pP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2879351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hasCustomPrompt="1"/>
          </p:nvPr>
        </p:nvSpPr>
        <p:spPr>
          <a:xfrm>
            <a:off x="588263" y="866287"/>
            <a:ext cx="11018520" cy="553998"/>
          </a:xfrm>
        </p:spPr>
        <p:txBody>
          <a:bodyPr anchor="ctr"/>
          <a:lstStyle>
            <a:lvl1pPr algn="ctr">
              <a:defRPr/>
            </a:lvl1pP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1396618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4199" y="5689600"/>
            <a:ext cx="5367528" cy="276999"/>
          </a:xfrm>
        </p:spPr>
        <p:txBody>
          <a:bodyPr/>
          <a:lstStyle>
            <a:lvl1pPr marL="0" indent="0" algn="l">
              <a:spcBef>
                <a:spcPts val="0"/>
              </a:spcBef>
              <a:buNone/>
              <a:defRPr sz="18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6241860" y="5689600"/>
            <a:ext cx="5367528" cy="276999"/>
          </a:xfrm>
        </p:spPr>
        <p:txBody>
          <a:bodyPr/>
          <a:lstStyle>
            <a:lvl1pPr marL="0" indent="0" algn="l">
              <a:spcBef>
                <a:spcPts val="0"/>
              </a:spcBef>
              <a:buNone/>
              <a:defRPr sz="18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8432234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5689600"/>
            <a:ext cx="3475037" cy="276999"/>
          </a:xfrm>
        </p:spPr>
        <p:txBody>
          <a:bodyPr/>
          <a:lstStyle>
            <a:lvl1pPr marL="0" indent="0" algn="l">
              <a:spcBef>
                <a:spcPts val="0"/>
              </a:spcBef>
              <a:buNone/>
              <a:defRPr sz="18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4358640" y="5689600"/>
            <a:ext cx="3475037" cy="276999"/>
          </a:xfrm>
        </p:spPr>
        <p:txBody>
          <a:bodyPr/>
          <a:lstStyle>
            <a:lvl1pPr marL="0" indent="0" algn="l">
              <a:spcBef>
                <a:spcPts val="0"/>
              </a:spcBef>
              <a:buNone/>
              <a:defRPr sz="1800">
                <a:latin typeface="+mj-lt"/>
              </a:defRPr>
            </a:lvl1pPr>
          </a:lstStyle>
          <a:p>
            <a:pPr lvl="0"/>
            <a:r>
              <a:rPr lang="en-US"/>
              <a:t>Click to edit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8134351" y="5689600"/>
            <a:ext cx="3475037" cy="276999"/>
          </a:xfrm>
        </p:spPr>
        <p:txBody>
          <a:bodyPr/>
          <a:lstStyle>
            <a:lvl1pPr marL="0" indent="0" algn="l">
              <a:spcBef>
                <a:spcPts val="0"/>
              </a:spcBef>
              <a:buNone/>
              <a:defRPr sz="18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8719177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4753938"/>
            <a:ext cx="2532888" cy="276999"/>
          </a:xfrm>
        </p:spPr>
        <p:txBody>
          <a:bodyPr/>
          <a:lstStyle>
            <a:lvl1pPr marL="0" indent="0" algn="l">
              <a:spcBef>
                <a:spcPts val="0"/>
              </a:spcBef>
              <a:buNone/>
              <a:defRPr sz="18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3413908" y="4753938"/>
            <a:ext cx="2532888" cy="276999"/>
          </a:xfrm>
        </p:spPr>
        <p:txBody>
          <a:bodyPr/>
          <a:lstStyle>
            <a:lvl1pPr marL="0" indent="0" algn="l">
              <a:spcBef>
                <a:spcPts val="0"/>
              </a:spcBef>
              <a:buNone/>
              <a:defRPr sz="1800">
                <a:latin typeface="+mj-lt"/>
              </a:defRPr>
            </a:lvl1pPr>
          </a:lstStyle>
          <a:p>
            <a:pPr lvl="0"/>
            <a:r>
              <a:rPr lang="en-US"/>
              <a:t>Click to edit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6245204" y="4753938"/>
            <a:ext cx="2532888" cy="276999"/>
          </a:xfrm>
        </p:spPr>
        <p:txBody>
          <a:bodyPr/>
          <a:lstStyle>
            <a:lvl1pPr marL="0" indent="0" algn="l">
              <a:spcBef>
                <a:spcPts val="0"/>
              </a:spcBef>
              <a:buNone/>
              <a:defRPr sz="18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hasCustomPrompt="1"/>
          </p:nvPr>
        </p:nvSpPr>
        <p:spPr>
          <a:xfrm>
            <a:off x="9076500" y="4753938"/>
            <a:ext cx="2532888" cy="276999"/>
          </a:xfrm>
        </p:spPr>
        <p:txBody>
          <a:bodyPr/>
          <a:lstStyle>
            <a:lvl1pPr marL="0" indent="0" algn="l">
              <a:spcBef>
                <a:spcPts val="0"/>
              </a:spcBef>
              <a:buNone/>
              <a:defRPr sz="1800">
                <a:latin typeface="+mj-lt"/>
              </a:defRPr>
            </a:lvl1pPr>
          </a:lstStyle>
          <a:p>
            <a:pPr lvl="0"/>
            <a:r>
              <a:rPr lang="en-US"/>
              <a:t>Click to edit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9538817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5334000"/>
            <a:ext cx="4892040" cy="276999"/>
          </a:xfrm>
        </p:spPr>
        <p:txBody>
          <a:bodyPr/>
          <a:lstStyle>
            <a:lvl1pPr marL="0" indent="0" algn="ctr">
              <a:spcBef>
                <a:spcPts val="0"/>
              </a:spcBef>
              <a:buNone/>
              <a:defRPr sz="18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6714744" y="5334000"/>
            <a:ext cx="4892040" cy="276999"/>
          </a:xfrm>
        </p:spPr>
        <p:txBody>
          <a:bodyPr/>
          <a:lstStyle>
            <a:lvl1pPr marL="0" indent="0" algn="ctr">
              <a:spcBef>
                <a:spcPts val="0"/>
              </a:spcBef>
              <a:buNone/>
              <a:defRPr sz="18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708878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2"/>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4800600"/>
            <a:ext cx="2852928" cy="276999"/>
          </a:xfrm>
        </p:spPr>
        <p:txBody>
          <a:bodyPr/>
          <a:lstStyle>
            <a:lvl1pPr marL="0" indent="0" algn="ctr">
              <a:spcBef>
                <a:spcPts val="0"/>
              </a:spcBef>
              <a:buNone/>
              <a:defRPr sz="18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4669536" y="4799409"/>
            <a:ext cx="2852928" cy="276999"/>
          </a:xfrm>
        </p:spPr>
        <p:txBody>
          <a:bodyPr/>
          <a:lstStyle>
            <a:lvl1pPr marL="0" indent="0" algn="ctr">
              <a:spcBef>
                <a:spcPts val="0"/>
              </a:spcBef>
              <a:buNone/>
              <a:defRPr sz="18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8753856" y="4799410"/>
            <a:ext cx="2852928" cy="276999"/>
          </a:xfrm>
        </p:spPr>
        <p:txBody>
          <a:bodyPr/>
          <a:lstStyle>
            <a:lvl1pPr marL="0" indent="0" algn="ctr">
              <a:spcBef>
                <a:spcPts val="0"/>
              </a:spcBef>
              <a:buNone/>
              <a:defRPr sz="18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4168969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4800600"/>
            <a:ext cx="1828800" cy="553998"/>
          </a:xfrm>
        </p:spPr>
        <p:txBody>
          <a:bodyPr/>
          <a:lstStyle>
            <a:lvl1pPr marL="0" indent="0" algn="ctr">
              <a:spcBef>
                <a:spcPts val="0"/>
              </a:spcBef>
              <a:buNone/>
              <a:defRPr sz="18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3649472" y="4799409"/>
            <a:ext cx="1828800" cy="553998"/>
          </a:xfrm>
        </p:spPr>
        <p:txBody>
          <a:bodyPr/>
          <a:lstStyle>
            <a:lvl1pPr marL="0" indent="0" algn="ctr">
              <a:spcBef>
                <a:spcPts val="0"/>
              </a:spcBef>
              <a:buNone/>
              <a:defRPr sz="18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6713728" y="4799410"/>
            <a:ext cx="1828800" cy="553998"/>
          </a:xfrm>
        </p:spPr>
        <p:txBody>
          <a:bodyPr/>
          <a:lstStyle>
            <a:lvl1pPr marL="0" indent="0" algn="ctr">
              <a:spcBef>
                <a:spcPts val="0"/>
              </a:spcBef>
              <a:buNone/>
              <a:defRPr sz="18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hasCustomPrompt="1"/>
          </p:nvPr>
        </p:nvSpPr>
        <p:spPr>
          <a:xfrm>
            <a:off x="9777984" y="4799409"/>
            <a:ext cx="1828800" cy="553998"/>
          </a:xfrm>
        </p:spPr>
        <p:txBody>
          <a:bodyPr/>
          <a:lstStyle>
            <a:lvl1pPr marL="0" indent="0" algn="ctr">
              <a:spcBef>
                <a:spcPts val="0"/>
              </a:spcBef>
              <a:buNone/>
              <a:defRPr sz="18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2161829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292608" y="4800600"/>
            <a:ext cx="1801368" cy="553998"/>
          </a:xfrm>
        </p:spPr>
        <p:txBody>
          <a:bodyPr/>
          <a:lstStyle>
            <a:lvl1pPr marL="0" indent="0" algn="ctr">
              <a:spcBef>
                <a:spcPts val="0"/>
              </a:spcBef>
              <a:buNone/>
              <a:defRPr sz="18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2743962" y="4799409"/>
            <a:ext cx="1801368" cy="553998"/>
          </a:xfrm>
        </p:spPr>
        <p:txBody>
          <a:bodyPr/>
          <a:lstStyle>
            <a:lvl1pPr marL="0" indent="0" algn="ctr">
              <a:spcBef>
                <a:spcPts val="0"/>
              </a:spcBef>
              <a:buNone/>
              <a:defRPr sz="18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5195316" y="4799410"/>
            <a:ext cx="1801368" cy="553998"/>
          </a:xfrm>
        </p:spPr>
        <p:txBody>
          <a:bodyPr/>
          <a:lstStyle>
            <a:lvl1pPr marL="0" indent="0" algn="ctr">
              <a:spcBef>
                <a:spcPts val="0"/>
              </a:spcBef>
              <a:buNone/>
              <a:defRPr sz="18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hasCustomPrompt="1"/>
          </p:nvPr>
        </p:nvSpPr>
        <p:spPr>
          <a:xfrm>
            <a:off x="7646670" y="4799409"/>
            <a:ext cx="1801368" cy="553998"/>
          </a:xfrm>
        </p:spPr>
        <p:txBody>
          <a:bodyPr/>
          <a:lstStyle>
            <a:lvl1pPr marL="0" indent="0" algn="ctr">
              <a:spcBef>
                <a:spcPts val="0"/>
              </a:spcBef>
              <a:buNone/>
              <a:defRPr sz="18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hasCustomPrompt="1"/>
          </p:nvPr>
        </p:nvSpPr>
        <p:spPr>
          <a:xfrm>
            <a:off x="10098024" y="4799409"/>
            <a:ext cx="1801368" cy="553998"/>
          </a:xfrm>
        </p:spPr>
        <p:txBody>
          <a:bodyPr/>
          <a:lstStyle>
            <a:lvl1pPr marL="0" indent="0" algn="ctr">
              <a:spcBef>
                <a:spcPts val="0"/>
              </a:spcBef>
              <a:buNone/>
              <a:defRPr sz="1800">
                <a:latin typeface="+mj-lt"/>
              </a:defRPr>
            </a:lvl1pPr>
          </a:lstStyle>
          <a:p>
            <a:pPr lvl="0"/>
            <a:r>
              <a:rPr lang="en-US"/>
              <a:t>Click to edit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646429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9747"/>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2037906"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4939284"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7840663"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0475872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3792"/>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584200"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3487250"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6390300"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hasCustomPrompt="1"/>
          </p:nvPr>
        </p:nvSpPr>
        <p:spPr>
          <a:xfrm>
            <a:off x="9293351"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1113897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3792"/>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584200" y="4235450"/>
            <a:ext cx="1737360" cy="553998"/>
          </a:xfrm>
        </p:spPr>
        <p:txBody>
          <a:bodyPr/>
          <a:lstStyle>
            <a:lvl1pPr marL="0" indent="0" algn="ctr">
              <a:spcBef>
                <a:spcPts val="0"/>
              </a:spcBef>
              <a:buNone/>
              <a:defRPr sz="18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2905506" y="4235450"/>
            <a:ext cx="1737360" cy="553998"/>
          </a:xfrm>
        </p:spPr>
        <p:txBody>
          <a:bodyPr/>
          <a:lstStyle>
            <a:lvl1pPr marL="0" indent="0" algn="ctr">
              <a:spcBef>
                <a:spcPts val="0"/>
              </a:spcBef>
              <a:buNone/>
              <a:defRPr sz="18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5227320" y="4235451"/>
            <a:ext cx="1737360" cy="553998"/>
          </a:xfrm>
        </p:spPr>
        <p:txBody>
          <a:bodyPr/>
          <a:lstStyle>
            <a:lvl1pPr marL="0" indent="0" algn="ctr">
              <a:spcBef>
                <a:spcPts val="0"/>
              </a:spcBef>
              <a:buNone/>
              <a:defRPr sz="18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hasCustomPrompt="1"/>
          </p:nvPr>
        </p:nvSpPr>
        <p:spPr>
          <a:xfrm>
            <a:off x="7548118" y="4235450"/>
            <a:ext cx="1737360" cy="553998"/>
          </a:xfrm>
        </p:spPr>
        <p:txBody>
          <a:bodyPr/>
          <a:lstStyle>
            <a:lvl1pPr marL="0" indent="0" algn="ctr">
              <a:spcBef>
                <a:spcPts val="0"/>
              </a:spcBef>
              <a:buNone/>
              <a:defRPr sz="18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hasCustomPrompt="1"/>
          </p:nvPr>
        </p:nvSpPr>
        <p:spPr>
          <a:xfrm>
            <a:off x="9869423" y="4235450"/>
            <a:ext cx="1737360" cy="553998"/>
          </a:xfrm>
        </p:spPr>
        <p:txBody>
          <a:bodyPr/>
          <a:lstStyle>
            <a:lvl1pPr marL="0" indent="0" algn="ctr">
              <a:spcBef>
                <a:spcPts val="0"/>
              </a:spcBef>
              <a:buNone/>
              <a:defRPr sz="1800">
                <a:latin typeface="+mj-lt"/>
              </a:defRPr>
            </a:lvl1pPr>
          </a:lstStyle>
          <a:p>
            <a:pPr lvl="0"/>
            <a:r>
              <a:rPr lang="en-US"/>
              <a:t>Click to edit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9100615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hasCustomPrompt="1"/>
          </p:nvPr>
        </p:nvSpPr>
        <p:spPr>
          <a:xfrm>
            <a:off x="4356100" y="2309812"/>
            <a:ext cx="7253288" cy="430887"/>
          </a:xfrm>
        </p:spPr>
        <p:txBody>
          <a:bodyPr anchor="t"/>
          <a:lstStyle>
            <a:lvl1pPr marL="231775" indent="-231775">
              <a:spcAft>
                <a:spcPts val="600"/>
              </a:spcAft>
              <a:buFont typeface="Wingdings" panose="05000000000000000000" pitchFamily="2" charset="2"/>
              <a:buChar char=""/>
              <a:defRPr/>
            </a:lvl1pPr>
          </a:lstStyle>
          <a:p>
            <a:pPr lvl="0"/>
            <a:r>
              <a:rPr lang="en-US"/>
              <a:t>Click to edit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61944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3211969"/>
            <a:ext cx="6667500" cy="430887"/>
          </a:xfrm>
        </p:spPr>
        <p:txBody>
          <a:bodyPr anchor="ctr"/>
          <a:lstStyle>
            <a:lvl1pPr marL="231775" indent="-231775">
              <a:spcAft>
                <a:spcPts val="600"/>
              </a:spcAft>
              <a:buFont typeface="Wingdings" panose="05000000000000000000" pitchFamily="2" charset="2"/>
              <a:buChar char=""/>
              <a:defRPr/>
            </a:lvl1pPr>
          </a:lstStyle>
          <a:p>
            <a:pPr lvl="0"/>
            <a:r>
              <a:rPr lang="en-US"/>
              <a:t>Click to edit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5564691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hasCustomPrompt="1"/>
          </p:nvPr>
        </p:nvSpPr>
        <p:spPr/>
        <p:txBody>
          <a:bodyPr anchor="ctr"/>
          <a:lstStyle/>
          <a:p>
            <a:r>
              <a:rPr lang="en-US"/>
              <a:t>Click to edit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hasCustomPrompt="1"/>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text styles</a:t>
            </a:r>
          </a:p>
        </p:txBody>
      </p:sp>
    </p:spTree>
    <p:extLst>
      <p:ext uri="{BB962C8B-B14F-4D97-AF65-F5344CB8AC3E}">
        <p14:creationId xmlns:p14="http://schemas.microsoft.com/office/powerpoint/2010/main" val="708821197"/>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rgbClr val="0078D4"/>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21002597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hasCustomPrompt="1"/>
          </p:nvPr>
        </p:nvSpPr>
        <p:spPr>
          <a:xfrm>
            <a:off x="588263" y="4224580"/>
            <a:ext cx="11018520" cy="492443"/>
          </a:xfrm>
        </p:spPr>
        <p:txBody>
          <a:bodyPr/>
          <a:lstStyle>
            <a:lvl1pPr>
              <a:defRPr sz="3200">
                <a:solidFill>
                  <a:schemeClr val="tx1"/>
                </a:solidFill>
              </a:defRPr>
            </a:lvl1pPr>
          </a:lstStyle>
          <a:p>
            <a:r>
              <a:rPr lang="en-US"/>
              <a:t>Click to edit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rgbClr val="0078D4"/>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5871627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rgbClr val="0078D4"/>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36461372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28036872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812220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BC028C-A225-65A3-A052-02DC09CAC31C}"/>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1998" cy="6857998"/>
          </a:xfrm>
          <a:prstGeom prst="rect">
            <a:avLst/>
          </a:prstGeom>
        </p:spPr>
      </p:pic>
      <p:sp>
        <p:nvSpPr>
          <p:cNvPr id="3" name="TextBox 2">
            <a:extLst>
              <a:ext uri="{FF2B5EF4-FFF2-40B4-BE49-F238E27FC236}">
                <a16:creationId xmlns:a16="http://schemas.microsoft.com/office/drawing/2014/main" id="{BB0522D1-C6FA-5953-2AB4-29194F7F8900}"/>
              </a:ext>
            </a:extLst>
          </p:cNvPr>
          <p:cNvSpPr txBox="1"/>
          <p:nvPr userDrawn="1"/>
        </p:nvSpPr>
        <p:spPr>
          <a:xfrm>
            <a:off x="4318000" y="3524370"/>
            <a:ext cx="3556000" cy="338554"/>
          </a:xfrm>
          <a:prstGeom prst="rect">
            <a:avLst/>
          </a:prstGeom>
          <a:noFill/>
        </p:spPr>
        <p:txBody>
          <a:bodyPr wrap="square" lIns="0">
            <a:spAutoFit/>
          </a:body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091F2C"/>
                </a:solidFill>
                <a:effectLst/>
                <a:uLnTx/>
                <a:uFillTx/>
                <a:latin typeface="Segoe UI" panose="020B0502040204020203" pitchFamily="34" charset="0"/>
                <a:cs typeface="Segoe UI" panose="020B0502040204020203" pitchFamily="34" charset="0"/>
              </a:rPr>
              <a:t>Hackathon runs April 8–30, 2025 </a:t>
            </a:r>
          </a:p>
        </p:txBody>
      </p:sp>
      <p:sp>
        <p:nvSpPr>
          <p:cNvPr id="4" name="Text Placeholder 13">
            <a:hlinkClick r:id="rId3"/>
            <a:extLst>
              <a:ext uri="{FF2B5EF4-FFF2-40B4-BE49-F238E27FC236}">
                <a16:creationId xmlns:a16="http://schemas.microsoft.com/office/drawing/2014/main" id="{D58F302C-CBE8-41B7-09B8-0880F1B734F4}"/>
              </a:ext>
            </a:extLst>
          </p:cNvPr>
          <p:cNvSpPr txBox="1">
            <a:spLocks/>
          </p:cNvSpPr>
          <p:nvPr userDrawn="1"/>
        </p:nvSpPr>
        <p:spPr>
          <a:xfrm>
            <a:off x="4620260" y="4019321"/>
            <a:ext cx="2951481" cy="596860"/>
          </a:xfrm>
          <a:prstGeom prst="roundRect">
            <a:avLst>
              <a:gd name="adj" fmla="val 12775"/>
            </a:avLst>
          </a:prstGeom>
          <a:solidFill>
            <a:schemeClr val="bg1">
              <a:alpha val="70000"/>
            </a:schemeClr>
          </a:solidFill>
          <a:ln w="6350">
            <a:solidFill>
              <a:schemeClr val="tx1"/>
            </a:solidFill>
          </a:ln>
        </p:spPr>
        <p:txBody>
          <a:bodyPr vert="horz" wrap="square" lIns="91440" tIns="91440" rIns="91440" bIns="91440" rtlCol="0" anchor="ctr" anchorCtr="0">
            <a:sp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Sans Display"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400" b="0" i="0" u="none" strike="noStrike" kern="1200" cap="none" spc="0" normalizeH="0" baseline="0" noProof="0">
                <a:ln>
                  <a:noFill/>
                </a:ln>
                <a:solidFill>
                  <a:srgbClr val="091F2C"/>
                </a:solidFill>
                <a:effectLst/>
                <a:uLnTx/>
                <a:uFillTx/>
                <a:latin typeface="Segoe UI Semilight" panose="020B0402040204020203" pitchFamily="34" charset="0"/>
                <a:ea typeface="+mn-ea"/>
                <a:cs typeface="Segoe UI Semilight" panose="020B0402040204020203" pitchFamily="34" charset="0"/>
              </a:rPr>
              <a:t>aka.ms/</a:t>
            </a:r>
            <a:r>
              <a:rPr kumimoji="0" lang="en-US" sz="2400" b="0" i="0" u="none" strike="noStrike" kern="1200" cap="none" spc="0" normalizeH="0" baseline="0" noProof="0" err="1">
                <a:ln>
                  <a:noFill/>
                </a:ln>
                <a:solidFill>
                  <a:srgbClr val="091F2C"/>
                </a:solidFill>
                <a:effectLst/>
                <a:uLnTx/>
                <a:uFillTx/>
                <a:latin typeface="Segoe UI Semilight" panose="020B0402040204020203" pitchFamily="34" charset="0"/>
                <a:ea typeface="+mn-ea"/>
                <a:cs typeface="Segoe UI Semilight" panose="020B0402040204020203" pitchFamily="34" charset="0"/>
              </a:rPr>
              <a:t>agentshack</a:t>
            </a:r>
            <a:endParaRPr kumimoji="0" lang="en-US" sz="2400" b="0" i="0" u="none" strike="noStrike" kern="1200" cap="none" spc="0" normalizeH="0" baseline="0" noProof="0">
              <a:ln>
                <a:noFill/>
              </a:ln>
              <a:solidFill>
                <a:srgbClr val="091F2C"/>
              </a:solidFill>
              <a:effectLst/>
              <a:uLnTx/>
              <a:uFillTx/>
              <a:latin typeface="Segoe UI Semilight" panose="020B0402040204020203" pitchFamily="34" charset="0"/>
              <a:ea typeface="+mn-ea"/>
              <a:cs typeface="Segoe UI Semilight" panose="020B0402040204020203" pitchFamily="34" charset="0"/>
            </a:endParaRPr>
          </a:p>
        </p:txBody>
      </p:sp>
      <p:sp>
        <p:nvSpPr>
          <p:cNvPr id="5" name="Text Placeholder 4">
            <a:extLst>
              <a:ext uri="{FF2B5EF4-FFF2-40B4-BE49-F238E27FC236}">
                <a16:creationId xmlns:a16="http://schemas.microsoft.com/office/drawing/2014/main" id="{88F09FCD-A52F-AF97-7073-48366B5E4A00}"/>
              </a:ext>
            </a:extLst>
          </p:cNvPr>
          <p:cNvSpPr txBox="1">
            <a:spLocks/>
          </p:cNvSpPr>
          <p:nvPr userDrawn="1"/>
        </p:nvSpPr>
        <p:spPr>
          <a:xfrm>
            <a:off x="582612" y="2627354"/>
            <a:ext cx="11026777" cy="550616"/>
          </a:xfrm>
          <a:prstGeom prst="rect">
            <a:avLst/>
          </a:prstGeom>
        </p:spPr>
        <p:txBody>
          <a:bodyPr lIns="0"/>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cap="all"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0"/>
              </a:spcBef>
              <a:defRPr/>
            </a:pPr>
            <a:r>
              <a:rPr lang="en-US" sz="2800" cap="none">
                <a:solidFill>
                  <a:srgbClr val="091F2C"/>
                </a:solidFill>
                <a:latin typeface="Segoe UI Semibold"/>
              </a:rPr>
              <a:t>Register for your next session and keep hacking!</a:t>
            </a:r>
          </a:p>
        </p:txBody>
      </p:sp>
      <p:pic>
        <p:nvPicPr>
          <p:cNvPr id="6" name="Picture 5" descr="3D Pixel arrow cursor">
            <a:extLst>
              <a:ext uri="{FF2B5EF4-FFF2-40B4-BE49-F238E27FC236}">
                <a16:creationId xmlns:a16="http://schemas.microsoft.com/office/drawing/2014/main" id="{8FFB824D-E63B-6664-C233-3D8D7006487C}"/>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6199928" y="4332115"/>
            <a:ext cx="1576156" cy="1576153"/>
          </a:xfrm>
          <a:prstGeom prst="rect">
            <a:avLst/>
          </a:prstGeom>
        </p:spPr>
      </p:pic>
      <p:sp>
        <p:nvSpPr>
          <p:cNvPr id="7" name="Title 4">
            <a:extLst>
              <a:ext uri="{FF2B5EF4-FFF2-40B4-BE49-F238E27FC236}">
                <a16:creationId xmlns:a16="http://schemas.microsoft.com/office/drawing/2014/main" id="{8594ECE4-5CE7-0519-1602-1A87771A7241}"/>
              </a:ext>
              <a:ext uri="{C183D7F6-B498-43B3-948B-1728B52AA6E4}">
                <adec:decorative xmlns:adec="http://schemas.microsoft.com/office/drawing/2017/decorative" val="0"/>
              </a:ext>
            </a:extLst>
          </p:cNvPr>
          <p:cNvSpPr>
            <a:spLocks/>
          </p:cNvSpPr>
          <p:nvPr userDrawn="1"/>
        </p:nvSpPr>
        <p:spPr>
          <a:xfrm>
            <a:off x="583406" y="1746568"/>
            <a:ext cx="11025188" cy="83099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R="0" lvl="0" indent="0" algn="ctr" defTabSz="932742" fontAlgn="auto">
              <a:lnSpc>
                <a:spcPct val="80000"/>
              </a:lnSpc>
              <a:spcBef>
                <a:spcPct val="0"/>
              </a:spcBef>
              <a:spcAft>
                <a:spcPts val="0"/>
              </a:spcAft>
              <a:buClrTx/>
              <a:buSzTx/>
              <a:tabLst>
                <a:tab pos="2628900" algn="l"/>
              </a:tabLst>
              <a:defRPr/>
            </a:pPr>
            <a:r>
              <a:rPr lang="en-US" sz="6000" b="1" spc="-50">
                <a:ln w="3175">
                  <a:noFill/>
                </a:ln>
                <a:gradFill>
                  <a:gsLst>
                    <a:gs pos="40000">
                      <a:srgbClr val="2A446F"/>
                    </a:gs>
                    <a:gs pos="80000">
                      <a:schemeClr val="accent1"/>
                    </a:gs>
                  </a:gsLst>
                  <a:lin ang="3900000" scaled="0"/>
                </a:gradFill>
                <a:latin typeface="Segoe UI Semibold"/>
                <a:cs typeface="Segoe UI Semibold"/>
              </a:rPr>
              <a:t>What will you learn next?</a:t>
            </a:r>
          </a:p>
        </p:txBody>
      </p:sp>
    </p:spTree>
    <p:extLst>
      <p:ext uri="{BB962C8B-B14F-4D97-AF65-F5344CB8AC3E}">
        <p14:creationId xmlns:p14="http://schemas.microsoft.com/office/powerpoint/2010/main" val="4600355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losing logo slide">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033916348"/>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2686629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55">
            <a:extLst>
              <a:ext uri="{96DAC541-7B7A-43D3-8B79-37D633B846F1}">
                <asvg:svgBlip xmlns:asvg="http://schemas.microsoft.com/office/drawing/2016/SVG/main" r:embed="rId56"/>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1916916273"/>
      </p:ext>
    </p:extLst>
  </p:cSld>
  <p:clrMap bg1="lt1" tx1="dk1" bg2="lt2" tx2="dk2" accent1="accent1" accent2="accent2" accent3="accent3" accent4="accent4" accent5="accent5" accent6="accent6" hlink="hlink" folHlink="folHlink"/>
  <p:sldLayoutIdLst>
    <p:sldLayoutId id="2147483774" r:id="rId1"/>
    <p:sldLayoutId id="2147483776" r:id="rId2"/>
    <p:sldLayoutId id="2147483778" r:id="rId3"/>
    <p:sldLayoutId id="2147483780" r:id="rId4"/>
    <p:sldLayoutId id="2147483782" r:id="rId5"/>
    <p:sldLayoutId id="2147483783" r:id="rId6"/>
    <p:sldLayoutId id="2147483825" r:id="rId7"/>
    <p:sldLayoutId id="2147483826" r:id="rId8"/>
    <p:sldLayoutId id="2147483815" r:id="rId9"/>
    <p:sldLayoutId id="2147483823" r:id="rId10"/>
    <p:sldLayoutId id="2147483824"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 id="2147483794" r:id="rId22"/>
    <p:sldLayoutId id="2147483795" r:id="rId23"/>
    <p:sldLayoutId id="2147483796" r:id="rId24"/>
    <p:sldLayoutId id="2147483797" r:id="rId25"/>
    <p:sldLayoutId id="2147483798" r:id="rId26"/>
    <p:sldLayoutId id="2147483799" r:id="rId27"/>
    <p:sldLayoutId id="2147483800" r:id="rId28"/>
    <p:sldLayoutId id="2147483801" r:id="rId29"/>
    <p:sldLayoutId id="2147483802" r:id="rId30"/>
    <p:sldLayoutId id="2147483803" r:id="rId31"/>
    <p:sldLayoutId id="2147483804" r:id="rId32"/>
    <p:sldLayoutId id="2147483805" r:id="rId33"/>
    <p:sldLayoutId id="2147483806" r:id="rId34"/>
    <p:sldLayoutId id="2147483807" r:id="rId35"/>
    <p:sldLayoutId id="2147483808" r:id="rId36"/>
    <p:sldLayoutId id="2147483809" r:id="rId37"/>
    <p:sldLayoutId id="2147483810" r:id="rId38"/>
    <p:sldLayoutId id="2147483811" r:id="rId39"/>
    <p:sldLayoutId id="2147483812" r:id="rId40"/>
    <p:sldLayoutId id="2147483813" r:id="rId41"/>
    <p:sldLayoutId id="2147483814" r:id="rId42"/>
    <p:sldLayoutId id="2147483816" r:id="rId43"/>
    <p:sldLayoutId id="2147483817" r:id="rId44"/>
    <p:sldLayoutId id="2147483818" r:id="rId45"/>
    <p:sldLayoutId id="2147483819" r:id="rId46"/>
    <p:sldLayoutId id="2147483820" r:id="rId47"/>
    <p:sldLayoutId id="2147483821" r:id="rId48"/>
    <p:sldLayoutId id="2147483822" r:id="rId49"/>
    <p:sldLayoutId id="2147483827" r:id="rId50"/>
    <p:sldLayoutId id="2147483828" r:id="rId51"/>
    <p:sldLayoutId id="2147483830" r:id="rId52"/>
    <p:sldLayoutId id="2147483832" r:id="rId5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aka.ms/agentshac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xml.rels><?xml version="1.0" encoding="UTF-8" standalone="yes"?>
<Relationships xmlns="http://schemas.openxmlformats.org/package/2006/relationships"><Relationship Id="rId3" Type="http://schemas.openxmlformats.org/officeDocument/2006/relationships/hyperlink" Target="https://aka.ms/AgentsHack"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aka.ms/agentshack/discord"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aka.ms/agentshack-pt" TargetMode="External"/><Relationship Id="rId2" Type="http://schemas.openxmlformats.org/officeDocument/2006/relationships/hyperlink" Target="https://aka.ms/agentshack-es" TargetMode="External"/><Relationship Id="rId1" Type="http://schemas.openxmlformats.org/officeDocument/2006/relationships/slideLayout" Target="../slideLayouts/slideLayout12.xml"/><Relationship Id="rId4" Type="http://schemas.openxmlformats.org/officeDocument/2006/relationships/hyperlink" Target="https://aka.ms/agentshack-zh"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hyperlink" Target="https://aka.ms/agentshack/register"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aka.ms/agentshack/submit" TargetMode="Externa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hyperlink" Target="https://aka.ms/ai-agents-beginners" TargetMode="External"/><Relationship Id="rId2" Type="http://schemas.openxmlformats.org/officeDocument/2006/relationships/notesSlide" Target="../notesSlides/notesSlide5.xml"/><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58.svg"/><Relationship Id="rId13" Type="http://schemas.openxmlformats.org/officeDocument/2006/relationships/image" Target="../media/image63.sv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56.svg"/><Relationship Id="rId11" Type="http://schemas.openxmlformats.org/officeDocument/2006/relationships/image" Target="../media/image61.sv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svg"/><Relationship Id="rId9" Type="http://schemas.openxmlformats.org/officeDocument/2006/relationships/image" Target="../media/image59.png"/><Relationship Id="rId14" Type="http://schemas.openxmlformats.org/officeDocument/2006/relationships/hyperlink" Target="https://aka.ms/creative-writer-agent"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jpeg"/><Relationship Id="rId3" Type="http://schemas.openxmlformats.org/officeDocument/2006/relationships/image" Target="../media/image64.png"/><Relationship Id="rId7" Type="http://schemas.openxmlformats.org/officeDocument/2006/relationships/image" Target="../media/image68.jpeg"/><Relationship Id="rId12" Type="http://schemas.openxmlformats.org/officeDocument/2006/relationships/image" Target="../media/image73.png"/><Relationship Id="rId2" Type="http://schemas.openxmlformats.org/officeDocument/2006/relationships/notesSlide" Target="../notesSlides/notesSlide13.xml"/><Relationship Id="rId1" Type="http://schemas.openxmlformats.org/officeDocument/2006/relationships/slideLayout" Target="../slideLayouts/slideLayout22.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emf"/><Relationship Id="rId10" Type="http://schemas.openxmlformats.org/officeDocument/2006/relationships/image" Target="../media/image71.png"/><Relationship Id="rId4" Type="http://schemas.openxmlformats.org/officeDocument/2006/relationships/image" Target="../media/image65.emf"/><Relationship Id="rId9" Type="http://schemas.openxmlformats.org/officeDocument/2006/relationships/image" Target="../media/image7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78.png"/><Relationship Id="rId11" Type="http://schemas.openxmlformats.org/officeDocument/2006/relationships/image" Target="../media/image71.png"/><Relationship Id="rId5" Type="http://schemas.openxmlformats.org/officeDocument/2006/relationships/image" Target="../media/image77.sv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73.png"/><Relationship Id="rId7" Type="http://schemas.openxmlformats.org/officeDocument/2006/relationships/image" Target="../media/image85.jpe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74.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19.xml"/><Relationship Id="rId1" Type="http://schemas.openxmlformats.org/officeDocument/2006/relationships/slideLayout" Target="../slideLayouts/slideLayout50.xml"/><Relationship Id="rId6" Type="http://schemas.openxmlformats.org/officeDocument/2006/relationships/image" Target="../media/image89.png"/><Relationship Id="rId5" Type="http://schemas.openxmlformats.org/officeDocument/2006/relationships/image" Target="../media/image88.jpeg"/><Relationship Id="rId4" Type="http://schemas.openxmlformats.org/officeDocument/2006/relationships/image" Target="../media/image87.png"/><Relationship Id="rId9" Type="http://schemas.openxmlformats.org/officeDocument/2006/relationships/image" Target="../media/image92.png"/></Relationships>
</file>

<file path=ppt/slides/_rels/slide2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94.svg"/></Relationships>
</file>

<file path=ppt/slides/_rels/slide25.xml.rels><?xml version="1.0" encoding="UTF-8" standalone="yes"?>
<Relationships xmlns="http://schemas.openxmlformats.org/package/2006/relationships"><Relationship Id="rId2" Type="http://schemas.openxmlformats.org/officeDocument/2006/relationships/hyperlink" Target="https://modelcontextprotocol.io/" TargetMode="Externa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96.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hyperlink" Target="https://learn.microsoft.com/azure/ai-foundry/how-to/develop/agent-evaluate-sdk" TargetMode="Externa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hyperlink" Target="https://aka.ms/ai-agents-beginners" TargetMode="External"/><Relationship Id="rId2" Type="http://schemas.openxmlformats.org/officeDocument/2006/relationships/notesSlide" Target="../notesSlides/notesSlide29.xml"/><Relationship Id="rId1" Type="http://schemas.openxmlformats.org/officeDocument/2006/relationships/slideLayout" Target="../slideLayouts/slideLayout5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99.svg"/><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99.svg"/><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8" Type="http://schemas.openxmlformats.org/officeDocument/2006/relationships/image" Target="../media/image104.svg"/><Relationship Id="rId3" Type="http://schemas.openxmlformats.org/officeDocument/2006/relationships/image" Target="../media/image62.png"/><Relationship Id="rId7" Type="http://schemas.openxmlformats.org/officeDocument/2006/relationships/image" Target="../media/image103.png"/><Relationship Id="rId2" Type="http://schemas.openxmlformats.org/officeDocument/2006/relationships/image" Target="../media/image100.jpeg"/><Relationship Id="rId1" Type="http://schemas.openxmlformats.org/officeDocument/2006/relationships/slideLayout" Target="../slideLayouts/slideLayout13.xml"/><Relationship Id="rId6" Type="http://schemas.openxmlformats.org/officeDocument/2006/relationships/image" Target="../media/image102.svg"/><Relationship Id="rId11" Type="http://schemas.openxmlformats.org/officeDocument/2006/relationships/hyperlink" Target="https://developer.microsoft.com/reactor/series/S-1505" TargetMode="External"/><Relationship Id="rId5" Type="http://schemas.openxmlformats.org/officeDocument/2006/relationships/image" Target="../media/image101.png"/><Relationship Id="rId10" Type="http://schemas.openxmlformats.org/officeDocument/2006/relationships/image" Target="../media/image106.svg"/><Relationship Id="rId4" Type="http://schemas.openxmlformats.org/officeDocument/2006/relationships/image" Target="../media/image63.svg"/><Relationship Id="rId9" Type="http://schemas.openxmlformats.org/officeDocument/2006/relationships/image" Target="../media/image10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06.svg"/><Relationship Id="rId2" Type="http://schemas.openxmlformats.org/officeDocument/2006/relationships/image" Target="../media/image105.png"/><Relationship Id="rId1" Type="http://schemas.openxmlformats.org/officeDocument/2006/relationships/slideLayout" Target="../slideLayouts/slideLayout13.xml"/><Relationship Id="rId5" Type="http://schemas.openxmlformats.org/officeDocument/2006/relationships/image" Target="../media/image63.svg"/><Relationship Id="rId4" Type="http://schemas.openxmlformats.org/officeDocument/2006/relationships/image" Target="../media/image6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hyperlink" Target="https://aka.ms/agentshack/register" TargetMode="External"/><Relationship Id="rId2" Type="http://schemas.openxmlformats.org/officeDocument/2006/relationships/notesSlide" Target="../notesSlides/notesSlide31.xml"/><Relationship Id="rId1" Type="http://schemas.openxmlformats.org/officeDocument/2006/relationships/slideLayout" Target="../slideLayouts/slideLayout13.xml"/><Relationship Id="rId5" Type="http://schemas.openxmlformats.org/officeDocument/2006/relationships/hyperlink" Target="https://aka.ms/agentshack/streams" TargetMode="External"/><Relationship Id="rId4" Type="http://schemas.openxmlformats.org/officeDocument/2006/relationships/hyperlink" Target="https://aka.ms/agentshack/discord"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ABF30-2A32-D8B8-F7F1-7C2A2DF686C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06A42F-B2A9-A2B2-40A4-A23C01432262}"/>
              </a:ext>
            </a:extLst>
          </p:cNvPr>
          <p:cNvSpPr>
            <a:spLocks noGrp="1"/>
          </p:cNvSpPr>
          <p:nvPr>
            <p:ph type="title"/>
          </p:nvPr>
        </p:nvSpPr>
        <p:spPr>
          <a:xfrm>
            <a:off x="584200" y="2764335"/>
            <a:ext cx="7613032" cy="769441"/>
          </a:xfrm>
        </p:spPr>
        <p:txBody>
          <a:bodyPr/>
          <a:lstStyle/>
          <a:p>
            <a:r>
              <a:rPr lang="en-US" sz="5000"/>
              <a:t>AI Agents Hackathon</a:t>
            </a:r>
          </a:p>
        </p:txBody>
      </p:sp>
      <p:sp>
        <p:nvSpPr>
          <p:cNvPr id="5" name="Text Placeholder 4">
            <a:extLst>
              <a:ext uri="{FF2B5EF4-FFF2-40B4-BE49-F238E27FC236}">
                <a16:creationId xmlns:a16="http://schemas.microsoft.com/office/drawing/2014/main" id="{3F088901-41BB-073F-F21F-950774B92FFD}"/>
              </a:ext>
            </a:extLst>
          </p:cNvPr>
          <p:cNvSpPr>
            <a:spLocks noGrp="1"/>
          </p:cNvSpPr>
          <p:nvPr>
            <p:ph type="body" sz="quarter" idx="12"/>
          </p:nvPr>
        </p:nvSpPr>
        <p:spPr>
          <a:xfrm>
            <a:off x="584200" y="3962400"/>
            <a:ext cx="5577840" cy="738664"/>
          </a:xfrm>
        </p:spPr>
        <p:txBody>
          <a:bodyPr/>
          <a:lstStyle/>
          <a:p>
            <a:r>
              <a:rPr lang="en-US" sz="2400"/>
              <a:t>Build, innovate and </a:t>
            </a:r>
            <a:r>
              <a:rPr lang="en-US" sz="2400">
                <a:solidFill>
                  <a:schemeClr val="tx1"/>
                </a:solidFill>
              </a:rPr>
              <a:t>#HackTogether</a:t>
            </a:r>
          </a:p>
          <a:p>
            <a:r>
              <a:rPr lang="en-US" sz="2400">
                <a:hlinkClick r:id="rId3"/>
              </a:rPr>
              <a:t>aka.ms/agentshack</a:t>
            </a:r>
            <a:endParaRPr lang="en-US" sz="2400"/>
          </a:p>
        </p:txBody>
      </p:sp>
      <p:pic>
        <p:nvPicPr>
          <p:cNvPr id="2" name="Picture 1" descr="A black and grey logo&#10;&#10;AI-generated content may be incorrect.">
            <a:extLst>
              <a:ext uri="{FF2B5EF4-FFF2-40B4-BE49-F238E27FC236}">
                <a16:creationId xmlns:a16="http://schemas.microsoft.com/office/drawing/2014/main" id="{BF5BF115-4353-9B64-ACF2-2B7AA95C51E1}"/>
              </a:ext>
            </a:extLst>
          </p:cNvPr>
          <p:cNvPicPr>
            <a:picLocks noChangeAspect="1"/>
          </p:cNvPicPr>
          <p:nvPr/>
        </p:nvPicPr>
        <p:blipFill>
          <a:blip r:embed="rId4"/>
          <a:stretch>
            <a:fillRect/>
          </a:stretch>
        </p:blipFill>
        <p:spPr>
          <a:xfrm>
            <a:off x="2639083" y="5796650"/>
            <a:ext cx="1468074" cy="596781"/>
          </a:xfrm>
          <a:prstGeom prst="rect">
            <a:avLst/>
          </a:prstGeom>
        </p:spPr>
      </p:pic>
      <p:sp>
        <p:nvSpPr>
          <p:cNvPr id="3" name="Text Placeholder 4">
            <a:extLst>
              <a:ext uri="{FF2B5EF4-FFF2-40B4-BE49-F238E27FC236}">
                <a16:creationId xmlns:a16="http://schemas.microsoft.com/office/drawing/2014/main" id="{EDCE0C13-4496-E623-7B37-B6B2A7E22E38}"/>
              </a:ext>
            </a:extLst>
          </p:cNvPr>
          <p:cNvSpPr txBox="1">
            <a:spLocks/>
          </p:cNvSpPr>
          <p:nvPr/>
        </p:nvSpPr>
        <p:spPr bwMode="white">
          <a:xfrm>
            <a:off x="584200" y="6130286"/>
            <a:ext cx="1944709" cy="276999"/>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solidFill>
                  <a:srgbClr val="091F2C"/>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91F2C"/>
                </a:solidFill>
                <a:effectLst/>
                <a:uLnTx/>
                <a:uFillTx/>
                <a:latin typeface="Segoe UI"/>
                <a:ea typeface="+mn-ea"/>
                <a:cs typeface="Segoe UI" panose="020B0502040204020203" pitchFamily="34" charset="0"/>
              </a:rPr>
              <a:t>In partnership with</a:t>
            </a:r>
          </a:p>
        </p:txBody>
      </p:sp>
      <p:sp>
        <p:nvSpPr>
          <p:cNvPr id="6" name="Text Placeholder 4">
            <a:extLst>
              <a:ext uri="{FF2B5EF4-FFF2-40B4-BE49-F238E27FC236}">
                <a16:creationId xmlns:a16="http://schemas.microsoft.com/office/drawing/2014/main" id="{50B7E295-02C0-D0BD-3118-BC4C50415907}"/>
              </a:ext>
            </a:extLst>
          </p:cNvPr>
          <p:cNvSpPr txBox="1">
            <a:spLocks/>
          </p:cNvSpPr>
          <p:nvPr/>
        </p:nvSpPr>
        <p:spPr bwMode="white">
          <a:xfrm>
            <a:off x="584200" y="2041758"/>
            <a:ext cx="5577840" cy="369332"/>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solidFill>
                  <a:srgbClr val="091F2C"/>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a:solidFill>
                  <a:srgbClr val="8661C5"/>
                </a:solidFill>
              </a:rPr>
              <a:t>April 8 - 30</a:t>
            </a:r>
          </a:p>
        </p:txBody>
      </p:sp>
    </p:spTree>
    <p:extLst>
      <p:ext uri="{BB962C8B-B14F-4D97-AF65-F5344CB8AC3E}">
        <p14:creationId xmlns:p14="http://schemas.microsoft.com/office/powerpoint/2010/main" val="380105841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0567" y="457200"/>
            <a:ext cx="7436998" cy="553998"/>
          </a:xfrm>
        </p:spPr>
        <p:txBody>
          <a:bodyPr/>
          <a:lstStyle/>
          <a:p>
            <a:r>
              <a:rPr lang="en-US">
                <a:cs typeface="Segoe UI"/>
              </a:rPr>
              <a:t>Four weeks of learning &amp; hacking!</a:t>
            </a:r>
            <a:endParaRPr lang="en-US"/>
          </a:p>
        </p:txBody>
      </p:sp>
      <p:sp>
        <p:nvSpPr>
          <p:cNvPr id="5" name="TextBox 4">
            <a:extLst>
              <a:ext uri="{FF2B5EF4-FFF2-40B4-BE49-F238E27FC236}">
                <a16:creationId xmlns:a16="http://schemas.microsoft.com/office/drawing/2014/main" id="{3C0F6033-6267-BF90-C61D-8DBA78E5889B}"/>
              </a:ext>
            </a:extLst>
          </p:cNvPr>
          <p:cNvSpPr txBox="1"/>
          <p:nvPr/>
        </p:nvSpPr>
        <p:spPr>
          <a:xfrm rot="16200000">
            <a:off x="-179820" y="1630876"/>
            <a:ext cx="1070295"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cs typeface="Segoe UI"/>
              </a:rPr>
              <a:t>Week 1</a:t>
            </a:r>
            <a:endParaRPr lang="en-US" sz="2000" err="1"/>
          </a:p>
        </p:txBody>
      </p:sp>
      <p:sp>
        <p:nvSpPr>
          <p:cNvPr id="8" name="Rectangle 7">
            <a:extLst>
              <a:ext uri="{FF2B5EF4-FFF2-40B4-BE49-F238E27FC236}">
                <a16:creationId xmlns:a16="http://schemas.microsoft.com/office/drawing/2014/main" id="{043BD1E3-CBBD-85FE-D11A-9BCB91751AF7}"/>
              </a:ext>
            </a:extLst>
          </p:cNvPr>
          <p:cNvSpPr/>
          <p:nvPr/>
        </p:nvSpPr>
        <p:spPr bwMode="auto">
          <a:xfrm>
            <a:off x="2157388" y="1194170"/>
            <a:ext cx="161122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9" name="Rectangle 8">
            <a:extLst>
              <a:ext uri="{FF2B5EF4-FFF2-40B4-BE49-F238E27FC236}">
                <a16:creationId xmlns:a16="http://schemas.microsoft.com/office/drawing/2014/main" id="{06651CB7-A65E-3B4D-043C-29AFF22B94E3}"/>
              </a:ext>
            </a:extLst>
          </p:cNvPr>
          <p:cNvSpPr/>
          <p:nvPr/>
        </p:nvSpPr>
        <p:spPr bwMode="auto">
          <a:xfrm>
            <a:off x="3692953" y="1194170"/>
            <a:ext cx="1627790"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10" name="Rectangle 9">
            <a:extLst>
              <a:ext uri="{FF2B5EF4-FFF2-40B4-BE49-F238E27FC236}">
                <a16:creationId xmlns:a16="http://schemas.microsoft.com/office/drawing/2014/main" id="{8A881E47-2844-B99A-7771-0FB2C1E15839}"/>
              </a:ext>
            </a:extLst>
          </p:cNvPr>
          <p:cNvSpPr/>
          <p:nvPr/>
        </p:nvSpPr>
        <p:spPr bwMode="auto">
          <a:xfrm>
            <a:off x="5319626" y="1194170"/>
            <a:ext cx="157809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82C944C8-C609-7795-2DBB-328F3F0546B1}"/>
              </a:ext>
            </a:extLst>
          </p:cNvPr>
          <p:cNvSpPr/>
          <p:nvPr/>
        </p:nvSpPr>
        <p:spPr bwMode="auto">
          <a:xfrm>
            <a:off x="6904886" y="1194170"/>
            <a:ext cx="157809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12" name="Rectangle 11">
            <a:extLst>
              <a:ext uri="{FF2B5EF4-FFF2-40B4-BE49-F238E27FC236}">
                <a16:creationId xmlns:a16="http://schemas.microsoft.com/office/drawing/2014/main" id="{0C44F135-4E22-22DE-42FD-86548D088EAD}"/>
              </a:ext>
            </a:extLst>
          </p:cNvPr>
          <p:cNvSpPr/>
          <p:nvPr/>
        </p:nvSpPr>
        <p:spPr bwMode="auto">
          <a:xfrm>
            <a:off x="8490147" y="1194170"/>
            <a:ext cx="157809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462B5D37-6823-16F1-9CEB-3C666F65A8AE}"/>
              </a:ext>
            </a:extLst>
          </p:cNvPr>
          <p:cNvSpPr/>
          <p:nvPr/>
        </p:nvSpPr>
        <p:spPr bwMode="auto">
          <a:xfrm>
            <a:off x="10067124" y="1194170"/>
            <a:ext cx="151183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237B242D-01D6-8454-5B70-3DB9FA6C34ED}"/>
              </a:ext>
            </a:extLst>
          </p:cNvPr>
          <p:cNvSpPr txBox="1"/>
          <p:nvPr/>
        </p:nvSpPr>
        <p:spPr>
          <a:xfrm>
            <a:off x="2204736" y="1191088"/>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8 </a:t>
            </a:r>
            <a:endParaRPr lang="en-US" sz="1200">
              <a:solidFill>
                <a:srgbClr val="091F2C"/>
              </a:solidFill>
              <a:cs typeface="Segoe UI"/>
            </a:endParaRPr>
          </a:p>
        </p:txBody>
      </p:sp>
      <p:sp>
        <p:nvSpPr>
          <p:cNvPr id="16" name="TextBox 15">
            <a:extLst>
              <a:ext uri="{FF2B5EF4-FFF2-40B4-BE49-F238E27FC236}">
                <a16:creationId xmlns:a16="http://schemas.microsoft.com/office/drawing/2014/main" id="{27E47B20-FB28-0AC5-F322-FC8393826342}"/>
              </a:ext>
            </a:extLst>
          </p:cNvPr>
          <p:cNvSpPr txBox="1"/>
          <p:nvPr/>
        </p:nvSpPr>
        <p:spPr>
          <a:xfrm>
            <a:off x="3786714" y="1191088"/>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9</a:t>
            </a:r>
          </a:p>
        </p:txBody>
      </p:sp>
      <p:sp>
        <p:nvSpPr>
          <p:cNvPr id="18" name="TextBox 17">
            <a:extLst>
              <a:ext uri="{FF2B5EF4-FFF2-40B4-BE49-F238E27FC236}">
                <a16:creationId xmlns:a16="http://schemas.microsoft.com/office/drawing/2014/main" id="{11908D6C-639F-D781-1AEE-3A2A0F55C650}"/>
              </a:ext>
            </a:extLst>
          </p:cNvPr>
          <p:cNvSpPr txBox="1"/>
          <p:nvPr/>
        </p:nvSpPr>
        <p:spPr>
          <a:xfrm>
            <a:off x="5360409" y="1191088"/>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10</a:t>
            </a:r>
          </a:p>
        </p:txBody>
      </p:sp>
      <p:sp>
        <p:nvSpPr>
          <p:cNvPr id="19" name="TextBox 18">
            <a:extLst>
              <a:ext uri="{FF2B5EF4-FFF2-40B4-BE49-F238E27FC236}">
                <a16:creationId xmlns:a16="http://schemas.microsoft.com/office/drawing/2014/main" id="{D56530AE-E561-87D6-F469-187B97A121C2}"/>
              </a:ext>
            </a:extLst>
          </p:cNvPr>
          <p:cNvSpPr txBox="1"/>
          <p:nvPr/>
        </p:nvSpPr>
        <p:spPr>
          <a:xfrm>
            <a:off x="6942387" y="1191088"/>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11</a:t>
            </a:r>
          </a:p>
        </p:txBody>
      </p:sp>
      <p:sp>
        <p:nvSpPr>
          <p:cNvPr id="20" name="TextBox 19">
            <a:extLst>
              <a:ext uri="{FF2B5EF4-FFF2-40B4-BE49-F238E27FC236}">
                <a16:creationId xmlns:a16="http://schemas.microsoft.com/office/drawing/2014/main" id="{47DB5A51-3AA2-0D6F-9DBF-623F3B92BB02}"/>
              </a:ext>
            </a:extLst>
          </p:cNvPr>
          <p:cNvSpPr txBox="1"/>
          <p:nvPr/>
        </p:nvSpPr>
        <p:spPr>
          <a:xfrm>
            <a:off x="8540930" y="1191088"/>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12</a:t>
            </a:r>
          </a:p>
        </p:txBody>
      </p:sp>
      <p:sp>
        <p:nvSpPr>
          <p:cNvPr id="21" name="TextBox 20">
            <a:extLst>
              <a:ext uri="{FF2B5EF4-FFF2-40B4-BE49-F238E27FC236}">
                <a16:creationId xmlns:a16="http://schemas.microsoft.com/office/drawing/2014/main" id="{D3C7F0B7-DFF7-3279-76C5-66C77542ECA8}"/>
              </a:ext>
            </a:extLst>
          </p:cNvPr>
          <p:cNvSpPr txBox="1"/>
          <p:nvPr/>
        </p:nvSpPr>
        <p:spPr>
          <a:xfrm>
            <a:off x="10114625" y="1191088"/>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13</a:t>
            </a:r>
          </a:p>
        </p:txBody>
      </p:sp>
      <p:sp>
        <p:nvSpPr>
          <p:cNvPr id="24" name="TextBox 23">
            <a:extLst>
              <a:ext uri="{FF2B5EF4-FFF2-40B4-BE49-F238E27FC236}">
                <a16:creationId xmlns:a16="http://schemas.microsoft.com/office/drawing/2014/main" id="{16F01A00-9231-7F10-9B12-812DA6028059}"/>
              </a:ext>
            </a:extLst>
          </p:cNvPr>
          <p:cNvSpPr txBox="1"/>
          <p:nvPr/>
        </p:nvSpPr>
        <p:spPr>
          <a:xfrm>
            <a:off x="2920353" y="1249619"/>
            <a:ext cx="697396"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TUESDAY</a:t>
            </a:r>
            <a:endParaRPr lang="en-US" sz="1200">
              <a:cs typeface="Segoe UI"/>
            </a:endParaRPr>
          </a:p>
        </p:txBody>
      </p:sp>
      <p:sp>
        <p:nvSpPr>
          <p:cNvPr id="25" name="TextBox 24">
            <a:extLst>
              <a:ext uri="{FF2B5EF4-FFF2-40B4-BE49-F238E27FC236}">
                <a16:creationId xmlns:a16="http://schemas.microsoft.com/office/drawing/2014/main" id="{FE5EA056-2F22-1628-953E-372399B7331D}"/>
              </a:ext>
            </a:extLst>
          </p:cNvPr>
          <p:cNvSpPr txBox="1"/>
          <p:nvPr/>
        </p:nvSpPr>
        <p:spPr>
          <a:xfrm>
            <a:off x="4195875" y="1249619"/>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WEDNESDAY</a:t>
            </a:r>
            <a:endParaRPr lang="en-US" sz="1200">
              <a:cs typeface="Segoe UI"/>
            </a:endParaRPr>
          </a:p>
        </p:txBody>
      </p:sp>
      <p:sp>
        <p:nvSpPr>
          <p:cNvPr id="26" name="TextBox 25">
            <a:extLst>
              <a:ext uri="{FF2B5EF4-FFF2-40B4-BE49-F238E27FC236}">
                <a16:creationId xmlns:a16="http://schemas.microsoft.com/office/drawing/2014/main" id="{D6426EA6-2FED-C261-830D-9F7EBB27117A}"/>
              </a:ext>
            </a:extLst>
          </p:cNvPr>
          <p:cNvSpPr txBox="1"/>
          <p:nvPr/>
        </p:nvSpPr>
        <p:spPr>
          <a:xfrm>
            <a:off x="5802701" y="1249619"/>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THURSDAY</a:t>
            </a:r>
            <a:endParaRPr lang="en-US" sz="1200">
              <a:cs typeface="Segoe UI"/>
            </a:endParaRPr>
          </a:p>
        </p:txBody>
      </p:sp>
      <p:sp>
        <p:nvSpPr>
          <p:cNvPr id="27" name="TextBox 26">
            <a:extLst>
              <a:ext uri="{FF2B5EF4-FFF2-40B4-BE49-F238E27FC236}">
                <a16:creationId xmlns:a16="http://schemas.microsoft.com/office/drawing/2014/main" id="{6098EF25-5F9F-2786-FFCF-E2D9E48BBE4D}"/>
              </a:ext>
            </a:extLst>
          </p:cNvPr>
          <p:cNvSpPr txBox="1"/>
          <p:nvPr/>
        </p:nvSpPr>
        <p:spPr>
          <a:xfrm>
            <a:off x="7351549" y="1249619"/>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FRIDAY</a:t>
            </a:r>
            <a:endParaRPr lang="en-US" sz="1200">
              <a:cs typeface="Segoe UI"/>
            </a:endParaRPr>
          </a:p>
        </p:txBody>
      </p:sp>
      <p:sp>
        <p:nvSpPr>
          <p:cNvPr id="28" name="TextBox 27">
            <a:extLst>
              <a:ext uri="{FF2B5EF4-FFF2-40B4-BE49-F238E27FC236}">
                <a16:creationId xmlns:a16="http://schemas.microsoft.com/office/drawing/2014/main" id="{69669B8C-3651-6DAB-30F6-04E44FCE4347}"/>
              </a:ext>
            </a:extLst>
          </p:cNvPr>
          <p:cNvSpPr txBox="1"/>
          <p:nvPr/>
        </p:nvSpPr>
        <p:spPr>
          <a:xfrm>
            <a:off x="8950092" y="1249619"/>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SATURDAY</a:t>
            </a:r>
            <a:endParaRPr lang="en-US"/>
          </a:p>
        </p:txBody>
      </p:sp>
      <p:sp>
        <p:nvSpPr>
          <p:cNvPr id="29" name="TextBox 28">
            <a:extLst>
              <a:ext uri="{FF2B5EF4-FFF2-40B4-BE49-F238E27FC236}">
                <a16:creationId xmlns:a16="http://schemas.microsoft.com/office/drawing/2014/main" id="{FDC9E2EB-A200-4477-FA3E-2660AA560FA6}"/>
              </a:ext>
            </a:extLst>
          </p:cNvPr>
          <p:cNvSpPr txBox="1"/>
          <p:nvPr/>
        </p:nvSpPr>
        <p:spPr>
          <a:xfrm>
            <a:off x="10523788" y="1249619"/>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SUNDAY</a:t>
            </a:r>
            <a:endParaRPr lang="en-US"/>
          </a:p>
        </p:txBody>
      </p:sp>
      <p:sp>
        <p:nvSpPr>
          <p:cNvPr id="30" name="TextBox 29">
            <a:extLst>
              <a:ext uri="{FF2B5EF4-FFF2-40B4-BE49-F238E27FC236}">
                <a16:creationId xmlns:a16="http://schemas.microsoft.com/office/drawing/2014/main" id="{8E9B3887-25AC-840B-2C9F-8C7A219866F2}"/>
              </a:ext>
            </a:extLst>
          </p:cNvPr>
          <p:cNvSpPr txBox="1"/>
          <p:nvPr/>
        </p:nvSpPr>
        <p:spPr>
          <a:xfrm>
            <a:off x="2221301" y="1545242"/>
            <a:ext cx="1421849" cy="60619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400" b="1">
                <a:cs typeface="Segoe UI"/>
              </a:rPr>
              <a:t>Kickoff</a:t>
            </a:r>
          </a:p>
          <a:p>
            <a:pPr>
              <a:lnSpc>
                <a:spcPct val="150000"/>
              </a:lnSpc>
            </a:pPr>
            <a:r>
              <a:rPr lang="en-US" sz="1400" b="1">
                <a:cs typeface="Segoe UI"/>
              </a:rPr>
              <a:t>Guiness record!</a:t>
            </a:r>
          </a:p>
        </p:txBody>
      </p:sp>
      <p:sp>
        <p:nvSpPr>
          <p:cNvPr id="31" name="TextBox 30">
            <a:extLst>
              <a:ext uri="{FF2B5EF4-FFF2-40B4-BE49-F238E27FC236}">
                <a16:creationId xmlns:a16="http://schemas.microsoft.com/office/drawing/2014/main" id="{2E97C846-3149-D146-B450-B60555BA0BE6}"/>
              </a:ext>
            </a:extLst>
          </p:cNvPr>
          <p:cNvSpPr txBox="1"/>
          <p:nvPr/>
        </p:nvSpPr>
        <p:spPr>
          <a:xfrm>
            <a:off x="3794996" y="1553525"/>
            <a:ext cx="1421849" cy="92935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400" b="1">
                <a:cs typeface="Segoe UI"/>
              </a:rPr>
              <a:t>Azure AI Agent</a:t>
            </a:r>
          </a:p>
          <a:p>
            <a:pPr>
              <a:lnSpc>
                <a:spcPct val="150000"/>
              </a:lnSpc>
            </a:pPr>
            <a:r>
              <a:rPr lang="en-US" sz="1400" b="1" err="1">
                <a:cs typeface="Segoe UI"/>
              </a:rPr>
              <a:t>Java Agents</a:t>
            </a:r>
          </a:p>
          <a:p>
            <a:pPr>
              <a:lnSpc>
                <a:spcPct val="150000"/>
              </a:lnSpc>
            </a:pPr>
            <a:endParaRPr lang="en-US" sz="1400" b="1" err="1">
              <a:cs typeface="Segoe UI"/>
            </a:endParaRPr>
          </a:p>
        </p:txBody>
      </p:sp>
      <p:sp>
        <p:nvSpPr>
          <p:cNvPr id="32" name="TextBox 31">
            <a:extLst>
              <a:ext uri="{FF2B5EF4-FFF2-40B4-BE49-F238E27FC236}">
                <a16:creationId xmlns:a16="http://schemas.microsoft.com/office/drawing/2014/main" id="{18FC59F9-44DD-BFC5-F05D-3BF2DCC102D5}"/>
              </a:ext>
            </a:extLst>
          </p:cNvPr>
          <p:cNvSpPr txBox="1"/>
          <p:nvPr/>
        </p:nvSpPr>
        <p:spPr>
          <a:xfrm>
            <a:off x="5443235" y="1553525"/>
            <a:ext cx="1421849" cy="92935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400" b="1" err="1">
                <a:cs typeface="Segoe UI"/>
              </a:rPr>
              <a:t>M 365 Copilots</a:t>
            </a:r>
          </a:p>
          <a:p>
            <a:pPr>
              <a:lnSpc>
                <a:spcPct val="150000"/>
              </a:lnSpc>
            </a:pPr>
            <a:r>
              <a:rPr lang="en-US" sz="1400" b="1" err="1">
                <a:cs typeface="Segoe UI"/>
              </a:rPr>
              <a:t>Semantic Kernel</a:t>
            </a:r>
          </a:p>
          <a:p>
            <a:pPr>
              <a:lnSpc>
                <a:spcPct val="150000"/>
              </a:lnSpc>
            </a:pPr>
            <a:r>
              <a:rPr lang="en-US" sz="1400" b="1" err="1">
                <a:cs typeface="Segoe UI"/>
              </a:rPr>
              <a:t>.NET Agents</a:t>
            </a:r>
          </a:p>
        </p:txBody>
      </p:sp>
      <p:sp>
        <p:nvSpPr>
          <p:cNvPr id="33" name="TextBox 32">
            <a:extLst>
              <a:ext uri="{FF2B5EF4-FFF2-40B4-BE49-F238E27FC236}">
                <a16:creationId xmlns:a16="http://schemas.microsoft.com/office/drawing/2014/main" id="{1E97E7B4-C3AD-F3A5-F083-A21709446D87}"/>
              </a:ext>
            </a:extLst>
          </p:cNvPr>
          <p:cNvSpPr txBox="1"/>
          <p:nvPr/>
        </p:nvSpPr>
        <p:spPr>
          <a:xfrm>
            <a:off x="6987576" y="1561426"/>
            <a:ext cx="1421849" cy="3234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600" b="1">
                <a:cs typeface="Segoe UI"/>
              </a:rPr>
              <a:t>Hack!</a:t>
            </a:r>
            <a:endParaRPr lang="en-US" sz="1600">
              <a:cs typeface="Segoe UI"/>
            </a:endParaRPr>
          </a:p>
        </p:txBody>
      </p:sp>
      <p:sp>
        <p:nvSpPr>
          <p:cNvPr id="68" name="Rectangle 67">
            <a:extLst>
              <a:ext uri="{FF2B5EF4-FFF2-40B4-BE49-F238E27FC236}">
                <a16:creationId xmlns:a16="http://schemas.microsoft.com/office/drawing/2014/main" id="{F4221372-8BD8-CC97-9955-ADBD28B3B58F}"/>
              </a:ext>
            </a:extLst>
          </p:cNvPr>
          <p:cNvSpPr/>
          <p:nvPr/>
        </p:nvSpPr>
        <p:spPr bwMode="auto">
          <a:xfrm>
            <a:off x="550561" y="1194168"/>
            <a:ext cx="1611225" cy="1362914"/>
          </a:xfrm>
          <a:prstGeom prst="rect">
            <a:avLst/>
          </a:prstGeom>
          <a:solidFill>
            <a:srgbClr val="FFF6DE"/>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69" name="TextBox 68">
            <a:extLst>
              <a:ext uri="{FF2B5EF4-FFF2-40B4-BE49-F238E27FC236}">
                <a16:creationId xmlns:a16="http://schemas.microsoft.com/office/drawing/2014/main" id="{5A5C7E25-E860-962F-5B81-1D97A41B6FD8}"/>
              </a:ext>
            </a:extLst>
          </p:cNvPr>
          <p:cNvSpPr txBox="1"/>
          <p:nvPr/>
        </p:nvSpPr>
        <p:spPr>
          <a:xfrm>
            <a:off x="597909" y="1191086"/>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chemeClr val="tx1">
                    <a:lumMod val="65000"/>
                  </a:schemeClr>
                </a:solidFill>
                <a:cs typeface="Segoe UI"/>
              </a:rPr>
              <a:t>7 </a:t>
            </a:r>
            <a:endParaRPr lang="en-US" sz="1200">
              <a:solidFill>
                <a:schemeClr val="tx1">
                  <a:lumMod val="65000"/>
                </a:schemeClr>
              </a:solidFill>
              <a:cs typeface="Segoe UI"/>
            </a:endParaRPr>
          </a:p>
        </p:txBody>
      </p:sp>
      <p:sp>
        <p:nvSpPr>
          <p:cNvPr id="70" name="TextBox 69">
            <a:extLst>
              <a:ext uri="{FF2B5EF4-FFF2-40B4-BE49-F238E27FC236}">
                <a16:creationId xmlns:a16="http://schemas.microsoft.com/office/drawing/2014/main" id="{7EB9A1E0-4EA6-47B6-0E20-CE816CFAC17F}"/>
              </a:ext>
            </a:extLst>
          </p:cNvPr>
          <p:cNvSpPr txBox="1"/>
          <p:nvPr/>
        </p:nvSpPr>
        <p:spPr>
          <a:xfrm>
            <a:off x="1363222" y="1249617"/>
            <a:ext cx="697396"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chemeClr val="tx1">
                    <a:lumMod val="65000"/>
                  </a:schemeClr>
                </a:solidFill>
              </a:rPr>
              <a:t>MONDAY</a:t>
            </a:r>
            <a:endParaRPr lang="en-US" sz="1200">
              <a:solidFill>
                <a:schemeClr val="tx1">
                  <a:lumMod val="65000"/>
                </a:schemeClr>
              </a:solidFill>
              <a:cs typeface="Segoe UI"/>
            </a:endParaRPr>
          </a:p>
        </p:txBody>
      </p:sp>
      <p:sp>
        <p:nvSpPr>
          <p:cNvPr id="72" name="TextBox 71">
            <a:extLst>
              <a:ext uri="{FF2B5EF4-FFF2-40B4-BE49-F238E27FC236}">
                <a16:creationId xmlns:a16="http://schemas.microsoft.com/office/drawing/2014/main" id="{AEF570DF-63C8-1873-C6A4-66D42483AF09}"/>
              </a:ext>
            </a:extLst>
          </p:cNvPr>
          <p:cNvSpPr txBox="1"/>
          <p:nvPr/>
        </p:nvSpPr>
        <p:spPr>
          <a:xfrm>
            <a:off x="7822649" y="501764"/>
            <a:ext cx="3788784" cy="46166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3000" b="1">
                <a:solidFill>
                  <a:srgbClr val="7030A0"/>
                </a:solidFill>
                <a:cs typeface="Segoe UI"/>
                <a:hlinkClick r:id="rId3">
                  <a:extLst>
                    <a:ext uri="{A12FA001-AC4F-418D-AE19-62706E023703}">
                      <ahyp:hlinkClr xmlns:ahyp="http://schemas.microsoft.com/office/drawing/2018/hyperlinkcolor" val="tx"/>
                    </a:ext>
                  </a:extLst>
                </a:hlinkClick>
              </a:rPr>
              <a:t>aka.ms/AgentsHack</a:t>
            </a:r>
            <a:endParaRPr lang="en-US" sz="3000" b="1">
              <a:solidFill>
                <a:srgbClr val="7030A0"/>
              </a:solidFill>
              <a:cs typeface="Segoe UI"/>
            </a:endParaRPr>
          </a:p>
        </p:txBody>
      </p:sp>
      <p:sp>
        <p:nvSpPr>
          <p:cNvPr id="3" name="TextBox 2">
            <a:extLst>
              <a:ext uri="{FF2B5EF4-FFF2-40B4-BE49-F238E27FC236}">
                <a16:creationId xmlns:a16="http://schemas.microsoft.com/office/drawing/2014/main" id="{F387931B-CB7C-2DCE-7C49-050758BCA1E2}"/>
              </a:ext>
            </a:extLst>
          </p:cNvPr>
          <p:cNvSpPr txBox="1"/>
          <p:nvPr/>
        </p:nvSpPr>
        <p:spPr>
          <a:xfrm>
            <a:off x="8584604" y="1561426"/>
            <a:ext cx="1421849" cy="3234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600" b="1">
                <a:cs typeface="Segoe UI"/>
              </a:rPr>
              <a:t>Hack!</a:t>
            </a:r>
            <a:endParaRPr lang="en-US" sz="1600">
              <a:cs typeface="Segoe UI"/>
            </a:endParaRPr>
          </a:p>
        </p:txBody>
      </p:sp>
      <p:sp>
        <p:nvSpPr>
          <p:cNvPr id="4" name="TextBox 3">
            <a:extLst>
              <a:ext uri="{FF2B5EF4-FFF2-40B4-BE49-F238E27FC236}">
                <a16:creationId xmlns:a16="http://schemas.microsoft.com/office/drawing/2014/main" id="{432F29F6-B333-F931-8ECD-FD1984EC56F7}"/>
              </a:ext>
            </a:extLst>
          </p:cNvPr>
          <p:cNvSpPr txBox="1"/>
          <p:nvPr/>
        </p:nvSpPr>
        <p:spPr>
          <a:xfrm>
            <a:off x="10189584" y="1561426"/>
            <a:ext cx="1421849" cy="3234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600" b="1">
                <a:cs typeface="Segoe UI"/>
              </a:rPr>
              <a:t>Hack!</a:t>
            </a:r>
            <a:endParaRPr lang="en-US" sz="1600">
              <a:cs typeface="Segoe UI"/>
            </a:endParaRPr>
          </a:p>
        </p:txBody>
      </p:sp>
      <p:sp>
        <p:nvSpPr>
          <p:cNvPr id="233" name="TextBox 232">
            <a:extLst>
              <a:ext uri="{FF2B5EF4-FFF2-40B4-BE49-F238E27FC236}">
                <a16:creationId xmlns:a16="http://schemas.microsoft.com/office/drawing/2014/main" id="{7659E1AA-AEC1-558F-E170-EA4E845CAE44}"/>
              </a:ext>
            </a:extLst>
          </p:cNvPr>
          <p:cNvSpPr txBox="1"/>
          <p:nvPr/>
        </p:nvSpPr>
        <p:spPr>
          <a:xfrm rot="16200000">
            <a:off x="-177330" y="2990368"/>
            <a:ext cx="1070295"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cs typeface="Segoe UI"/>
              </a:rPr>
              <a:t>Week 2</a:t>
            </a:r>
            <a:endParaRPr lang="en-US" sz="2000" err="1"/>
          </a:p>
        </p:txBody>
      </p:sp>
      <p:sp>
        <p:nvSpPr>
          <p:cNvPr id="234" name="Rectangle 233">
            <a:extLst>
              <a:ext uri="{FF2B5EF4-FFF2-40B4-BE49-F238E27FC236}">
                <a16:creationId xmlns:a16="http://schemas.microsoft.com/office/drawing/2014/main" id="{37366A6E-B6C4-4A09-D1A6-A71BE95878B8}"/>
              </a:ext>
            </a:extLst>
          </p:cNvPr>
          <p:cNvSpPr/>
          <p:nvPr/>
        </p:nvSpPr>
        <p:spPr bwMode="auto">
          <a:xfrm>
            <a:off x="2159878" y="2553662"/>
            <a:ext cx="161122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35" name="Rectangle 234">
            <a:extLst>
              <a:ext uri="{FF2B5EF4-FFF2-40B4-BE49-F238E27FC236}">
                <a16:creationId xmlns:a16="http://schemas.microsoft.com/office/drawing/2014/main" id="{23E19C60-6300-6D81-3D5C-DB68EE6F016A}"/>
              </a:ext>
            </a:extLst>
          </p:cNvPr>
          <p:cNvSpPr/>
          <p:nvPr/>
        </p:nvSpPr>
        <p:spPr bwMode="auto">
          <a:xfrm>
            <a:off x="3695443" y="2553662"/>
            <a:ext cx="1627790"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36" name="Rectangle 235">
            <a:extLst>
              <a:ext uri="{FF2B5EF4-FFF2-40B4-BE49-F238E27FC236}">
                <a16:creationId xmlns:a16="http://schemas.microsoft.com/office/drawing/2014/main" id="{0AEB9CEB-5F26-2740-3D41-2B9A9C4F06A0}"/>
              </a:ext>
            </a:extLst>
          </p:cNvPr>
          <p:cNvSpPr/>
          <p:nvPr/>
        </p:nvSpPr>
        <p:spPr bwMode="auto">
          <a:xfrm>
            <a:off x="5322116" y="2553662"/>
            <a:ext cx="157809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37" name="Rectangle 236">
            <a:extLst>
              <a:ext uri="{FF2B5EF4-FFF2-40B4-BE49-F238E27FC236}">
                <a16:creationId xmlns:a16="http://schemas.microsoft.com/office/drawing/2014/main" id="{C853990E-82E7-A58D-B3F1-1F3AF678243D}"/>
              </a:ext>
            </a:extLst>
          </p:cNvPr>
          <p:cNvSpPr/>
          <p:nvPr/>
        </p:nvSpPr>
        <p:spPr bwMode="auto">
          <a:xfrm>
            <a:off x="6907376" y="2553662"/>
            <a:ext cx="157809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38" name="Rectangle 237">
            <a:extLst>
              <a:ext uri="{FF2B5EF4-FFF2-40B4-BE49-F238E27FC236}">
                <a16:creationId xmlns:a16="http://schemas.microsoft.com/office/drawing/2014/main" id="{403394A0-C6C3-7A3A-BE68-A45E8AA4730D}"/>
              </a:ext>
            </a:extLst>
          </p:cNvPr>
          <p:cNvSpPr/>
          <p:nvPr/>
        </p:nvSpPr>
        <p:spPr bwMode="auto">
          <a:xfrm>
            <a:off x="8492637" y="2553662"/>
            <a:ext cx="157809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39" name="Rectangle 238">
            <a:extLst>
              <a:ext uri="{FF2B5EF4-FFF2-40B4-BE49-F238E27FC236}">
                <a16:creationId xmlns:a16="http://schemas.microsoft.com/office/drawing/2014/main" id="{4F53DD89-4225-3B52-19A2-C4856C68B310}"/>
              </a:ext>
            </a:extLst>
          </p:cNvPr>
          <p:cNvSpPr/>
          <p:nvPr/>
        </p:nvSpPr>
        <p:spPr bwMode="auto">
          <a:xfrm>
            <a:off x="10069614" y="2553662"/>
            <a:ext cx="151183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40" name="TextBox 239">
            <a:extLst>
              <a:ext uri="{FF2B5EF4-FFF2-40B4-BE49-F238E27FC236}">
                <a16:creationId xmlns:a16="http://schemas.microsoft.com/office/drawing/2014/main" id="{47E48225-F55C-4969-C59B-ADD1E6B91429}"/>
              </a:ext>
            </a:extLst>
          </p:cNvPr>
          <p:cNvSpPr txBox="1"/>
          <p:nvPr/>
        </p:nvSpPr>
        <p:spPr>
          <a:xfrm>
            <a:off x="2207226" y="2550580"/>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15 </a:t>
            </a:r>
            <a:endParaRPr lang="en-US" sz="1200">
              <a:solidFill>
                <a:srgbClr val="091F2C"/>
              </a:solidFill>
              <a:cs typeface="Segoe UI"/>
            </a:endParaRPr>
          </a:p>
        </p:txBody>
      </p:sp>
      <p:sp>
        <p:nvSpPr>
          <p:cNvPr id="241" name="TextBox 240">
            <a:extLst>
              <a:ext uri="{FF2B5EF4-FFF2-40B4-BE49-F238E27FC236}">
                <a16:creationId xmlns:a16="http://schemas.microsoft.com/office/drawing/2014/main" id="{E319D070-D11B-E1AB-FC41-7F5655B73425}"/>
              </a:ext>
            </a:extLst>
          </p:cNvPr>
          <p:cNvSpPr txBox="1"/>
          <p:nvPr/>
        </p:nvSpPr>
        <p:spPr>
          <a:xfrm>
            <a:off x="3789204" y="2550580"/>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16</a:t>
            </a:r>
          </a:p>
        </p:txBody>
      </p:sp>
      <p:sp>
        <p:nvSpPr>
          <p:cNvPr id="242" name="TextBox 241">
            <a:extLst>
              <a:ext uri="{FF2B5EF4-FFF2-40B4-BE49-F238E27FC236}">
                <a16:creationId xmlns:a16="http://schemas.microsoft.com/office/drawing/2014/main" id="{A895C1EB-A3D2-3A00-D769-F51DA84A9517}"/>
              </a:ext>
            </a:extLst>
          </p:cNvPr>
          <p:cNvSpPr txBox="1"/>
          <p:nvPr/>
        </p:nvSpPr>
        <p:spPr>
          <a:xfrm>
            <a:off x="5362899" y="2550580"/>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17</a:t>
            </a:r>
          </a:p>
        </p:txBody>
      </p:sp>
      <p:sp>
        <p:nvSpPr>
          <p:cNvPr id="243" name="TextBox 242">
            <a:extLst>
              <a:ext uri="{FF2B5EF4-FFF2-40B4-BE49-F238E27FC236}">
                <a16:creationId xmlns:a16="http://schemas.microsoft.com/office/drawing/2014/main" id="{F2BC157E-449F-02D5-A50D-BBA01F500A38}"/>
              </a:ext>
            </a:extLst>
          </p:cNvPr>
          <p:cNvSpPr txBox="1"/>
          <p:nvPr/>
        </p:nvSpPr>
        <p:spPr>
          <a:xfrm>
            <a:off x="6944877" y="2550580"/>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18</a:t>
            </a:r>
          </a:p>
        </p:txBody>
      </p:sp>
      <p:sp>
        <p:nvSpPr>
          <p:cNvPr id="244" name="TextBox 243">
            <a:extLst>
              <a:ext uri="{FF2B5EF4-FFF2-40B4-BE49-F238E27FC236}">
                <a16:creationId xmlns:a16="http://schemas.microsoft.com/office/drawing/2014/main" id="{781C8F8D-CBBE-5F85-F2E4-FAD1056DF54D}"/>
              </a:ext>
            </a:extLst>
          </p:cNvPr>
          <p:cNvSpPr txBox="1"/>
          <p:nvPr/>
        </p:nvSpPr>
        <p:spPr>
          <a:xfrm>
            <a:off x="8543420" y="2550580"/>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19</a:t>
            </a:r>
          </a:p>
        </p:txBody>
      </p:sp>
      <p:sp>
        <p:nvSpPr>
          <p:cNvPr id="245" name="TextBox 244">
            <a:extLst>
              <a:ext uri="{FF2B5EF4-FFF2-40B4-BE49-F238E27FC236}">
                <a16:creationId xmlns:a16="http://schemas.microsoft.com/office/drawing/2014/main" id="{469A1BE0-FA91-272F-F8AC-DE5467AA62F3}"/>
              </a:ext>
            </a:extLst>
          </p:cNvPr>
          <p:cNvSpPr txBox="1"/>
          <p:nvPr/>
        </p:nvSpPr>
        <p:spPr>
          <a:xfrm>
            <a:off x="10117115" y="2550580"/>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20</a:t>
            </a:r>
          </a:p>
        </p:txBody>
      </p:sp>
      <p:sp>
        <p:nvSpPr>
          <p:cNvPr id="246" name="TextBox 245">
            <a:extLst>
              <a:ext uri="{FF2B5EF4-FFF2-40B4-BE49-F238E27FC236}">
                <a16:creationId xmlns:a16="http://schemas.microsoft.com/office/drawing/2014/main" id="{6D6D214B-8B13-788D-9295-ED670984C104}"/>
              </a:ext>
            </a:extLst>
          </p:cNvPr>
          <p:cNvSpPr txBox="1"/>
          <p:nvPr/>
        </p:nvSpPr>
        <p:spPr>
          <a:xfrm>
            <a:off x="2922843" y="2609111"/>
            <a:ext cx="697396"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TUESDAY</a:t>
            </a:r>
            <a:endParaRPr lang="en-US" sz="1200">
              <a:cs typeface="Segoe UI"/>
            </a:endParaRPr>
          </a:p>
        </p:txBody>
      </p:sp>
      <p:sp>
        <p:nvSpPr>
          <p:cNvPr id="247" name="TextBox 246">
            <a:extLst>
              <a:ext uri="{FF2B5EF4-FFF2-40B4-BE49-F238E27FC236}">
                <a16:creationId xmlns:a16="http://schemas.microsoft.com/office/drawing/2014/main" id="{D20E03E9-23BD-EE52-E619-B59A125F9749}"/>
              </a:ext>
            </a:extLst>
          </p:cNvPr>
          <p:cNvSpPr txBox="1"/>
          <p:nvPr/>
        </p:nvSpPr>
        <p:spPr>
          <a:xfrm>
            <a:off x="4198365" y="2609111"/>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WEDNESDAY</a:t>
            </a:r>
            <a:endParaRPr lang="en-US" sz="1200">
              <a:cs typeface="Segoe UI"/>
            </a:endParaRPr>
          </a:p>
        </p:txBody>
      </p:sp>
      <p:sp>
        <p:nvSpPr>
          <p:cNvPr id="248" name="TextBox 247">
            <a:extLst>
              <a:ext uri="{FF2B5EF4-FFF2-40B4-BE49-F238E27FC236}">
                <a16:creationId xmlns:a16="http://schemas.microsoft.com/office/drawing/2014/main" id="{4FE04714-8A65-875A-5345-BF40423D8EDE}"/>
              </a:ext>
            </a:extLst>
          </p:cNvPr>
          <p:cNvSpPr txBox="1"/>
          <p:nvPr/>
        </p:nvSpPr>
        <p:spPr>
          <a:xfrm>
            <a:off x="5805191" y="2609111"/>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THURSDAY</a:t>
            </a:r>
            <a:endParaRPr lang="en-US" sz="1200">
              <a:cs typeface="Segoe UI"/>
            </a:endParaRPr>
          </a:p>
        </p:txBody>
      </p:sp>
      <p:sp>
        <p:nvSpPr>
          <p:cNvPr id="249" name="TextBox 248">
            <a:extLst>
              <a:ext uri="{FF2B5EF4-FFF2-40B4-BE49-F238E27FC236}">
                <a16:creationId xmlns:a16="http://schemas.microsoft.com/office/drawing/2014/main" id="{F84E0E95-F561-EF46-C4BD-BC35E0BCAB9F}"/>
              </a:ext>
            </a:extLst>
          </p:cNvPr>
          <p:cNvSpPr txBox="1"/>
          <p:nvPr/>
        </p:nvSpPr>
        <p:spPr>
          <a:xfrm>
            <a:off x="7354039" y="2609111"/>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FRIDAY</a:t>
            </a:r>
            <a:endParaRPr lang="en-US" sz="1200">
              <a:cs typeface="Segoe UI"/>
            </a:endParaRPr>
          </a:p>
        </p:txBody>
      </p:sp>
      <p:sp>
        <p:nvSpPr>
          <p:cNvPr id="250" name="TextBox 249">
            <a:extLst>
              <a:ext uri="{FF2B5EF4-FFF2-40B4-BE49-F238E27FC236}">
                <a16:creationId xmlns:a16="http://schemas.microsoft.com/office/drawing/2014/main" id="{AF0C034A-8C74-9A2B-A50C-E78B1F327829}"/>
              </a:ext>
            </a:extLst>
          </p:cNvPr>
          <p:cNvSpPr txBox="1"/>
          <p:nvPr/>
        </p:nvSpPr>
        <p:spPr>
          <a:xfrm>
            <a:off x="8952582" y="2609111"/>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SATURDAY</a:t>
            </a:r>
            <a:endParaRPr lang="en-US"/>
          </a:p>
        </p:txBody>
      </p:sp>
      <p:sp>
        <p:nvSpPr>
          <p:cNvPr id="251" name="TextBox 250">
            <a:extLst>
              <a:ext uri="{FF2B5EF4-FFF2-40B4-BE49-F238E27FC236}">
                <a16:creationId xmlns:a16="http://schemas.microsoft.com/office/drawing/2014/main" id="{E6782BBA-732B-63E1-E77D-EA1B8387AAB8}"/>
              </a:ext>
            </a:extLst>
          </p:cNvPr>
          <p:cNvSpPr txBox="1"/>
          <p:nvPr/>
        </p:nvSpPr>
        <p:spPr>
          <a:xfrm>
            <a:off x="10526278" y="2609111"/>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SUNDAY</a:t>
            </a:r>
            <a:endParaRPr lang="en-US"/>
          </a:p>
        </p:txBody>
      </p:sp>
      <p:sp>
        <p:nvSpPr>
          <p:cNvPr id="252" name="TextBox 251">
            <a:extLst>
              <a:ext uri="{FF2B5EF4-FFF2-40B4-BE49-F238E27FC236}">
                <a16:creationId xmlns:a16="http://schemas.microsoft.com/office/drawing/2014/main" id="{D9F752AA-8C7C-41DD-4C29-176DBE277035}"/>
              </a:ext>
            </a:extLst>
          </p:cNvPr>
          <p:cNvSpPr txBox="1"/>
          <p:nvPr/>
        </p:nvSpPr>
        <p:spPr>
          <a:xfrm>
            <a:off x="2223791" y="2904734"/>
            <a:ext cx="1421849" cy="92935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400" b="1">
                <a:cs typeface="Segoe UI"/>
              </a:rPr>
              <a:t>JS Agents</a:t>
            </a:r>
          </a:p>
          <a:p>
            <a:pPr>
              <a:lnSpc>
                <a:spcPct val="150000"/>
              </a:lnSpc>
            </a:pPr>
            <a:r>
              <a:rPr lang="en-US" sz="1400" b="1">
                <a:cs typeface="Segoe UI"/>
              </a:rPr>
              <a:t>AutoGen</a:t>
            </a:r>
          </a:p>
          <a:p>
            <a:pPr>
              <a:lnSpc>
                <a:spcPct val="150000"/>
              </a:lnSpc>
            </a:pPr>
            <a:r>
              <a:rPr lang="en-US" sz="1400" b="1">
                <a:cs typeface="Segoe UI"/>
              </a:rPr>
              <a:t>.NET Agents</a:t>
            </a:r>
          </a:p>
        </p:txBody>
      </p:sp>
      <p:sp>
        <p:nvSpPr>
          <p:cNvPr id="253" name="TextBox 252">
            <a:extLst>
              <a:ext uri="{FF2B5EF4-FFF2-40B4-BE49-F238E27FC236}">
                <a16:creationId xmlns:a16="http://schemas.microsoft.com/office/drawing/2014/main" id="{A66CC80E-90D4-F9B1-796C-476D422001E8}"/>
              </a:ext>
            </a:extLst>
          </p:cNvPr>
          <p:cNvSpPr txBox="1"/>
          <p:nvPr/>
        </p:nvSpPr>
        <p:spPr>
          <a:xfrm>
            <a:off x="3797486" y="2913017"/>
            <a:ext cx="1421849" cy="92935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400" b="1">
                <a:cs typeface="Segoe UI"/>
              </a:rPr>
              <a:t>Cosmos DB</a:t>
            </a:r>
          </a:p>
          <a:p>
            <a:pPr>
              <a:lnSpc>
                <a:spcPct val="150000"/>
              </a:lnSpc>
            </a:pPr>
            <a:r>
              <a:rPr lang="en-US" sz="1400" b="1">
                <a:cs typeface="Segoe UI"/>
              </a:rPr>
              <a:t>Copilot Studio</a:t>
            </a:r>
          </a:p>
          <a:p>
            <a:pPr>
              <a:lnSpc>
                <a:spcPct val="150000"/>
              </a:lnSpc>
            </a:pPr>
            <a:r>
              <a:rPr lang="en-US" sz="1400" b="1" err="1">
                <a:cs typeface="Segoe UI"/>
              </a:rPr>
              <a:t>Azure AI Models</a:t>
            </a:r>
          </a:p>
        </p:txBody>
      </p:sp>
      <p:sp>
        <p:nvSpPr>
          <p:cNvPr id="254" name="TextBox 253">
            <a:extLst>
              <a:ext uri="{FF2B5EF4-FFF2-40B4-BE49-F238E27FC236}">
                <a16:creationId xmlns:a16="http://schemas.microsoft.com/office/drawing/2014/main" id="{85CF89A3-665E-B07D-CB97-F7E9785438B5}"/>
              </a:ext>
            </a:extLst>
          </p:cNvPr>
          <p:cNvSpPr txBox="1"/>
          <p:nvPr/>
        </p:nvSpPr>
        <p:spPr>
          <a:xfrm>
            <a:off x="5389081" y="2913017"/>
            <a:ext cx="1627790" cy="92935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400" b="1" err="1">
                <a:cs typeface="Segoe UI"/>
              </a:rPr>
              <a:t>Code Interpreters</a:t>
            </a:r>
          </a:p>
          <a:p>
            <a:pPr>
              <a:lnSpc>
                <a:spcPct val="150000"/>
              </a:lnSpc>
            </a:pPr>
            <a:r>
              <a:rPr lang="en-US" sz="1400" b="1" err="1">
                <a:cs typeface="Segoe UI"/>
              </a:rPr>
              <a:t>Langchain4J</a:t>
            </a:r>
          </a:p>
          <a:p>
            <a:pPr>
              <a:lnSpc>
                <a:spcPct val="150000"/>
              </a:lnSpc>
            </a:pPr>
            <a:r>
              <a:rPr lang="en-US" sz="1400" b="1" err="1">
                <a:cs typeface="Segoe UI"/>
              </a:rPr>
              <a:t>Agentic Voice</a:t>
            </a:r>
          </a:p>
        </p:txBody>
      </p:sp>
      <p:sp>
        <p:nvSpPr>
          <p:cNvPr id="255" name="TextBox 254">
            <a:extLst>
              <a:ext uri="{FF2B5EF4-FFF2-40B4-BE49-F238E27FC236}">
                <a16:creationId xmlns:a16="http://schemas.microsoft.com/office/drawing/2014/main" id="{32AA13E1-C167-926F-44F0-E224F8F8B555}"/>
              </a:ext>
            </a:extLst>
          </p:cNvPr>
          <p:cNvSpPr txBox="1"/>
          <p:nvPr/>
        </p:nvSpPr>
        <p:spPr>
          <a:xfrm>
            <a:off x="6990066" y="2920918"/>
            <a:ext cx="1421849" cy="3234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600" b="1">
                <a:cs typeface="Segoe UI"/>
              </a:rPr>
              <a:t>Hack!</a:t>
            </a:r>
            <a:endParaRPr lang="en-US" sz="1600">
              <a:cs typeface="Segoe UI"/>
            </a:endParaRPr>
          </a:p>
        </p:txBody>
      </p:sp>
      <p:sp>
        <p:nvSpPr>
          <p:cNvPr id="256" name="Rectangle 255">
            <a:extLst>
              <a:ext uri="{FF2B5EF4-FFF2-40B4-BE49-F238E27FC236}">
                <a16:creationId xmlns:a16="http://schemas.microsoft.com/office/drawing/2014/main" id="{3C71C595-0C14-0649-D17B-319D6242A035}"/>
              </a:ext>
            </a:extLst>
          </p:cNvPr>
          <p:cNvSpPr/>
          <p:nvPr/>
        </p:nvSpPr>
        <p:spPr bwMode="auto">
          <a:xfrm>
            <a:off x="553051" y="2553660"/>
            <a:ext cx="161122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57" name="TextBox 256">
            <a:extLst>
              <a:ext uri="{FF2B5EF4-FFF2-40B4-BE49-F238E27FC236}">
                <a16:creationId xmlns:a16="http://schemas.microsoft.com/office/drawing/2014/main" id="{574810E1-54FD-1A4E-766C-19BB5FCBC8BB}"/>
              </a:ext>
            </a:extLst>
          </p:cNvPr>
          <p:cNvSpPr txBox="1"/>
          <p:nvPr/>
        </p:nvSpPr>
        <p:spPr>
          <a:xfrm>
            <a:off x="600399" y="2550578"/>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chemeClr val="tx1">
                    <a:lumMod val="65000"/>
                  </a:schemeClr>
                </a:solidFill>
                <a:cs typeface="Segoe UI"/>
              </a:rPr>
              <a:t>14 </a:t>
            </a:r>
            <a:endParaRPr lang="en-US" sz="1200">
              <a:solidFill>
                <a:schemeClr val="tx1">
                  <a:lumMod val="65000"/>
                </a:schemeClr>
              </a:solidFill>
              <a:cs typeface="Segoe UI"/>
            </a:endParaRPr>
          </a:p>
        </p:txBody>
      </p:sp>
      <p:sp>
        <p:nvSpPr>
          <p:cNvPr id="258" name="TextBox 257">
            <a:extLst>
              <a:ext uri="{FF2B5EF4-FFF2-40B4-BE49-F238E27FC236}">
                <a16:creationId xmlns:a16="http://schemas.microsoft.com/office/drawing/2014/main" id="{6F693437-76B9-F59B-172B-CEC9E751440E}"/>
              </a:ext>
            </a:extLst>
          </p:cNvPr>
          <p:cNvSpPr txBox="1"/>
          <p:nvPr/>
        </p:nvSpPr>
        <p:spPr>
          <a:xfrm>
            <a:off x="1365712" y="2609109"/>
            <a:ext cx="697396"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chemeClr val="tx1">
                    <a:lumMod val="65000"/>
                  </a:schemeClr>
                </a:solidFill>
              </a:rPr>
              <a:t>MONDAY</a:t>
            </a:r>
            <a:endParaRPr lang="en-US" sz="1200">
              <a:solidFill>
                <a:schemeClr val="tx1">
                  <a:lumMod val="65000"/>
                </a:schemeClr>
              </a:solidFill>
              <a:cs typeface="Segoe UI"/>
            </a:endParaRPr>
          </a:p>
        </p:txBody>
      </p:sp>
      <p:sp>
        <p:nvSpPr>
          <p:cNvPr id="259" name="TextBox 258">
            <a:extLst>
              <a:ext uri="{FF2B5EF4-FFF2-40B4-BE49-F238E27FC236}">
                <a16:creationId xmlns:a16="http://schemas.microsoft.com/office/drawing/2014/main" id="{A3F40C04-CCAD-61CA-28CB-04D699BD4642}"/>
              </a:ext>
            </a:extLst>
          </p:cNvPr>
          <p:cNvSpPr txBox="1"/>
          <p:nvPr/>
        </p:nvSpPr>
        <p:spPr>
          <a:xfrm>
            <a:off x="8587094" y="2920918"/>
            <a:ext cx="1421849" cy="3234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600" b="1">
                <a:cs typeface="Segoe UI"/>
              </a:rPr>
              <a:t>Hack!</a:t>
            </a:r>
            <a:endParaRPr lang="en-US" sz="1600">
              <a:cs typeface="Segoe UI"/>
            </a:endParaRPr>
          </a:p>
        </p:txBody>
      </p:sp>
      <p:sp>
        <p:nvSpPr>
          <p:cNvPr id="260" name="TextBox 259">
            <a:extLst>
              <a:ext uri="{FF2B5EF4-FFF2-40B4-BE49-F238E27FC236}">
                <a16:creationId xmlns:a16="http://schemas.microsoft.com/office/drawing/2014/main" id="{B866844A-09A3-3854-D0A5-52B85F865FB0}"/>
              </a:ext>
            </a:extLst>
          </p:cNvPr>
          <p:cNvSpPr txBox="1"/>
          <p:nvPr/>
        </p:nvSpPr>
        <p:spPr>
          <a:xfrm>
            <a:off x="10192074" y="2920918"/>
            <a:ext cx="1421849" cy="3234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600" b="1">
                <a:cs typeface="Segoe UI"/>
              </a:rPr>
              <a:t>Hack!</a:t>
            </a:r>
            <a:endParaRPr lang="en-US" sz="1600">
              <a:cs typeface="Segoe UI"/>
            </a:endParaRPr>
          </a:p>
        </p:txBody>
      </p:sp>
      <p:sp>
        <p:nvSpPr>
          <p:cNvPr id="261" name="TextBox 260">
            <a:extLst>
              <a:ext uri="{FF2B5EF4-FFF2-40B4-BE49-F238E27FC236}">
                <a16:creationId xmlns:a16="http://schemas.microsoft.com/office/drawing/2014/main" id="{0BBB4C6B-48D2-3104-B76A-9AF3BF669B05}"/>
              </a:ext>
            </a:extLst>
          </p:cNvPr>
          <p:cNvSpPr txBox="1"/>
          <p:nvPr/>
        </p:nvSpPr>
        <p:spPr>
          <a:xfrm rot="16200000">
            <a:off x="-176126" y="4356364"/>
            <a:ext cx="1070295"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cs typeface="Segoe UI"/>
              </a:rPr>
              <a:t>Week 3</a:t>
            </a:r>
            <a:endParaRPr lang="en-US" sz="2000" err="1"/>
          </a:p>
        </p:txBody>
      </p:sp>
      <p:sp>
        <p:nvSpPr>
          <p:cNvPr id="262" name="Rectangle 261">
            <a:extLst>
              <a:ext uri="{FF2B5EF4-FFF2-40B4-BE49-F238E27FC236}">
                <a16:creationId xmlns:a16="http://schemas.microsoft.com/office/drawing/2014/main" id="{305162BB-E2D3-5DB7-B232-214F764D6EF7}"/>
              </a:ext>
            </a:extLst>
          </p:cNvPr>
          <p:cNvSpPr/>
          <p:nvPr/>
        </p:nvSpPr>
        <p:spPr bwMode="auto">
          <a:xfrm>
            <a:off x="2161082" y="3919658"/>
            <a:ext cx="161122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63" name="Rectangle 262">
            <a:extLst>
              <a:ext uri="{FF2B5EF4-FFF2-40B4-BE49-F238E27FC236}">
                <a16:creationId xmlns:a16="http://schemas.microsoft.com/office/drawing/2014/main" id="{E752A213-D67E-A90F-7EAC-662772B8127C}"/>
              </a:ext>
            </a:extLst>
          </p:cNvPr>
          <p:cNvSpPr/>
          <p:nvPr/>
        </p:nvSpPr>
        <p:spPr bwMode="auto">
          <a:xfrm>
            <a:off x="3696647" y="3919658"/>
            <a:ext cx="1627790"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64" name="Rectangle 263">
            <a:extLst>
              <a:ext uri="{FF2B5EF4-FFF2-40B4-BE49-F238E27FC236}">
                <a16:creationId xmlns:a16="http://schemas.microsoft.com/office/drawing/2014/main" id="{72AD84D0-BF00-70F2-97F3-BFD85AFF31D2}"/>
              </a:ext>
            </a:extLst>
          </p:cNvPr>
          <p:cNvSpPr/>
          <p:nvPr/>
        </p:nvSpPr>
        <p:spPr bwMode="auto">
          <a:xfrm>
            <a:off x="5323320" y="3919658"/>
            <a:ext cx="157809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65" name="Rectangle 264">
            <a:extLst>
              <a:ext uri="{FF2B5EF4-FFF2-40B4-BE49-F238E27FC236}">
                <a16:creationId xmlns:a16="http://schemas.microsoft.com/office/drawing/2014/main" id="{CC3C5893-EF57-E328-0BE4-AA82DD970AFA}"/>
              </a:ext>
            </a:extLst>
          </p:cNvPr>
          <p:cNvSpPr/>
          <p:nvPr/>
        </p:nvSpPr>
        <p:spPr bwMode="auto">
          <a:xfrm>
            <a:off x="6908580" y="3919658"/>
            <a:ext cx="157809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66" name="Rectangle 265">
            <a:extLst>
              <a:ext uri="{FF2B5EF4-FFF2-40B4-BE49-F238E27FC236}">
                <a16:creationId xmlns:a16="http://schemas.microsoft.com/office/drawing/2014/main" id="{97E99D2C-35B5-B0F6-887B-1969118112AC}"/>
              </a:ext>
            </a:extLst>
          </p:cNvPr>
          <p:cNvSpPr/>
          <p:nvPr/>
        </p:nvSpPr>
        <p:spPr bwMode="auto">
          <a:xfrm>
            <a:off x="8493841" y="3919658"/>
            <a:ext cx="157809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67" name="Rectangle 266">
            <a:extLst>
              <a:ext uri="{FF2B5EF4-FFF2-40B4-BE49-F238E27FC236}">
                <a16:creationId xmlns:a16="http://schemas.microsoft.com/office/drawing/2014/main" id="{00D728DC-0EB6-9070-344D-8167D4D7BE41}"/>
              </a:ext>
            </a:extLst>
          </p:cNvPr>
          <p:cNvSpPr/>
          <p:nvPr/>
        </p:nvSpPr>
        <p:spPr bwMode="auto">
          <a:xfrm>
            <a:off x="10070818" y="3919658"/>
            <a:ext cx="151183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68" name="TextBox 267">
            <a:extLst>
              <a:ext uri="{FF2B5EF4-FFF2-40B4-BE49-F238E27FC236}">
                <a16:creationId xmlns:a16="http://schemas.microsoft.com/office/drawing/2014/main" id="{0FA81920-C6F2-EE14-A225-0BF4EFF970A0}"/>
              </a:ext>
            </a:extLst>
          </p:cNvPr>
          <p:cNvSpPr txBox="1"/>
          <p:nvPr/>
        </p:nvSpPr>
        <p:spPr>
          <a:xfrm>
            <a:off x="2208430" y="3916576"/>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22 </a:t>
            </a:r>
            <a:endParaRPr lang="en-US" sz="1200">
              <a:solidFill>
                <a:srgbClr val="091F2C"/>
              </a:solidFill>
              <a:cs typeface="Segoe UI"/>
            </a:endParaRPr>
          </a:p>
        </p:txBody>
      </p:sp>
      <p:sp>
        <p:nvSpPr>
          <p:cNvPr id="269" name="TextBox 268">
            <a:extLst>
              <a:ext uri="{FF2B5EF4-FFF2-40B4-BE49-F238E27FC236}">
                <a16:creationId xmlns:a16="http://schemas.microsoft.com/office/drawing/2014/main" id="{5E38869F-34F1-4911-EA9A-11F600768AD3}"/>
              </a:ext>
            </a:extLst>
          </p:cNvPr>
          <p:cNvSpPr txBox="1"/>
          <p:nvPr/>
        </p:nvSpPr>
        <p:spPr>
          <a:xfrm>
            <a:off x="3790408" y="3916576"/>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23</a:t>
            </a:r>
          </a:p>
        </p:txBody>
      </p:sp>
      <p:sp>
        <p:nvSpPr>
          <p:cNvPr id="270" name="TextBox 269">
            <a:extLst>
              <a:ext uri="{FF2B5EF4-FFF2-40B4-BE49-F238E27FC236}">
                <a16:creationId xmlns:a16="http://schemas.microsoft.com/office/drawing/2014/main" id="{8E8FDD0D-5353-8180-04DB-3EAD11CCE7C0}"/>
              </a:ext>
            </a:extLst>
          </p:cNvPr>
          <p:cNvSpPr txBox="1"/>
          <p:nvPr/>
        </p:nvSpPr>
        <p:spPr>
          <a:xfrm>
            <a:off x="5364103" y="3916576"/>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24</a:t>
            </a:r>
          </a:p>
        </p:txBody>
      </p:sp>
      <p:sp>
        <p:nvSpPr>
          <p:cNvPr id="271" name="TextBox 270">
            <a:extLst>
              <a:ext uri="{FF2B5EF4-FFF2-40B4-BE49-F238E27FC236}">
                <a16:creationId xmlns:a16="http://schemas.microsoft.com/office/drawing/2014/main" id="{FB36537F-92F8-1411-50CC-A588BBD949EC}"/>
              </a:ext>
            </a:extLst>
          </p:cNvPr>
          <p:cNvSpPr txBox="1"/>
          <p:nvPr/>
        </p:nvSpPr>
        <p:spPr>
          <a:xfrm>
            <a:off x="6946081" y="3916576"/>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25</a:t>
            </a:r>
          </a:p>
        </p:txBody>
      </p:sp>
      <p:sp>
        <p:nvSpPr>
          <p:cNvPr id="272" name="TextBox 271">
            <a:extLst>
              <a:ext uri="{FF2B5EF4-FFF2-40B4-BE49-F238E27FC236}">
                <a16:creationId xmlns:a16="http://schemas.microsoft.com/office/drawing/2014/main" id="{B4D23BCB-865E-F0F5-11D3-E205885DCEC2}"/>
              </a:ext>
            </a:extLst>
          </p:cNvPr>
          <p:cNvSpPr txBox="1"/>
          <p:nvPr/>
        </p:nvSpPr>
        <p:spPr>
          <a:xfrm>
            <a:off x="8544624" y="3916576"/>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26</a:t>
            </a:r>
          </a:p>
        </p:txBody>
      </p:sp>
      <p:sp>
        <p:nvSpPr>
          <p:cNvPr id="273" name="TextBox 272">
            <a:extLst>
              <a:ext uri="{FF2B5EF4-FFF2-40B4-BE49-F238E27FC236}">
                <a16:creationId xmlns:a16="http://schemas.microsoft.com/office/drawing/2014/main" id="{874F6C50-DD66-D7B3-7DB4-66073A0DFC4C}"/>
              </a:ext>
            </a:extLst>
          </p:cNvPr>
          <p:cNvSpPr txBox="1"/>
          <p:nvPr/>
        </p:nvSpPr>
        <p:spPr>
          <a:xfrm>
            <a:off x="10118319" y="3916576"/>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27</a:t>
            </a:r>
          </a:p>
        </p:txBody>
      </p:sp>
      <p:sp>
        <p:nvSpPr>
          <p:cNvPr id="274" name="TextBox 273">
            <a:extLst>
              <a:ext uri="{FF2B5EF4-FFF2-40B4-BE49-F238E27FC236}">
                <a16:creationId xmlns:a16="http://schemas.microsoft.com/office/drawing/2014/main" id="{FF65B659-8FA5-78B1-3462-C4270C4B6561}"/>
              </a:ext>
            </a:extLst>
          </p:cNvPr>
          <p:cNvSpPr txBox="1"/>
          <p:nvPr/>
        </p:nvSpPr>
        <p:spPr>
          <a:xfrm>
            <a:off x="2924047" y="3975107"/>
            <a:ext cx="697396"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TUESDAY</a:t>
            </a:r>
            <a:endParaRPr lang="en-US" sz="1200">
              <a:cs typeface="Segoe UI"/>
            </a:endParaRPr>
          </a:p>
        </p:txBody>
      </p:sp>
      <p:sp>
        <p:nvSpPr>
          <p:cNvPr id="275" name="TextBox 274">
            <a:extLst>
              <a:ext uri="{FF2B5EF4-FFF2-40B4-BE49-F238E27FC236}">
                <a16:creationId xmlns:a16="http://schemas.microsoft.com/office/drawing/2014/main" id="{2FAABDFD-0B23-ADA1-4C12-C0A968EBA6DD}"/>
              </a:ext>
            </a:extLst>
          </p:cNvPr>
          <p:cNvSpPr txBox="1"/>
          <p:nvPr/>
        </p:nvSpPr>
        <p:spPr>
          <a:xfrm>
            <a:off x="4199569" y="3975107"/>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WEDNESDAY</a:t>
            </a:r>
            <a:endParaRPr lang="en-US" sz="1200">
              <a:cs typeface="Segoe UI"/>
            </a:endParaRPr>
          </a:p>
        </p:txBody>
      </p:sp>
      <p:sp>
        <p:nvSpPr>
          <p:cNvPr id="276" name="TextBox 275">
            <a:extLst>
              <a:ext uri="{FF2B5EF4-FFF2-40B4-BE49-F238E27FC236}">
                <a16:creationId xmlns:a16="http://schemas.microsoft.com/office/drawing/2014/main" id="{183FF364-8AC5-F6E0-5688-963F83418921}"/>
              </a:ext>
            </a:extLst>
          </p:cNvPr>
          <p:cNvSpPr txBox="1"/>
          <p:nvPr/>
        </p:nvSpPr>
        <p:spPr>
          <a:xfrm>
            <a:off x="5806395" y="3975107"/>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THURSDAY</a:t>
            </a:r>
            <a:endParaRPr lang="en-US" sz="1200">
              <a:cs typeface="Segoe UI"/>
            </a:endParaRPr>
          </a:p>
        </p:txBody>
      </p:sp>
      <p:sp>
        <p:nvSpPr>
          <p:cNvPr id="277" name="TextBox 276">
            <a:extLst>
              <a:ext uri="{FF2B5EF4-FFF2-40B4-BE49-F238E27FC236}">
                <a16:creationId xmlns:a16="http://schemas.microsoft.com/office/drawing/2014/main" id="{5CC4C1B1-0840-AE56-B429-CE45EDAD76D8}"/>
              </a:ext>
            </a:extLst>
          </p:cNvPr>
          <p:cNvSpPr txBox="1"/>
          <p:nvPr/>
        </p:nvSpPr>
        <p:spPr>
          <a:xfrm>
            <a:off x="7355243" y="3975107"/>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FRIDAY</a:t>
            </a:r>
            <a:endParaRPr lang="en-US" sz="1200">
              <a:cs typeface="Segoe UI"/>
            </a:endParaRPr>
          </a:p>
        </p:txBody>
      </p:sp>
      <p:sp>
        <p:nvSpPr>
          <p:cNvPr id="278" name="TextBox 277">
            <a:extLst>
              <a:ext uri="{FF2B5EF4-FFF2-40B4-BE49-F238E27FC236}">
                <a16:creationId xmlns:a16="http://schemas.microsoft.com/office/drawing/2014/main" id="{86526514-6B4B-772B-5497-DD62C024BA42}"/>
              </a:ext>
            </a:extLst>
          </p:cNvPr>
          <p:cNvSpPr txBox="1"/>
          <p:nvPr/>
        </p:nvSpPr>
        <p:spPr>
          <a:xfrm>
            <a:off x="8953786" y="3975107"/>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SATURDAY</a:t>
            </a:r>
            <a:endParaRPr lang="en-US"/>
          </a:p>
        </p:txBody>
      </p:sp>
      <p:sp>
        <p:nvSpPr>
          <p:cNvPr id="279" name="TextBox 278">
            <a:extLst>
              <a:ext uri="{FF2B5EF4-FFF2-40B4-BE49-F238E27FC236}">
                <a16:creationId xmlns:a16="http://schemas.microsoft.com/office/drawing/2014/main" id="{3A6AFFE4-9034-0FD9-8EC7-3187B9EDE82E}"/>
              </a:ext>
            </a:extLst>
          </p:cNvPr>
          <p:cNvSpPr txBox="1"/>
          <p:nvPr/>
        </p:nvSpPr>
        <p:spPr>
          <a:xfrm>
            <a:off x="10527482" y="3975107"/>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SUNDAY</a:t>
            </a:r>
            <a:endParaRPr lang="en-US"/>
          </a:p>
        </p:txBody>
      </p:sp>
      <p:sp>
        <p:nvSpPr>
          <p:cNvPr id="280" name="TextBox 279">
            <a:extLst>
              <a:ext uri="{FF2B5EF4-FFF2-40B4-BE49-F238E27FC236}">
                <a16:creationId xmlns:a16="http://schemas.microsoft.com/office/drawing/2014/main" id="{254F1A7C-D839-549A-C2D0-44095DE68E64}"/>
              </a:ext>
            </a:extLst>
          </p:cNvPr>
          <p:cNvSpPr txBox="1"/>
          <p:nvPr/>
        </p:nvSpPr>
        <p:spPr>
          <a:xfrm>
            <a:off x="2224995" y="4270730"/>
            <a:ext cx="1421849" cy="92935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400" b="1">
                <a:cs typeface="Segoe UI"/>
              </a:rPr>
              <a:t>Prompty</a:t>
            </a:r>
          </a:p>
          <a:p>
            <a:pPr>
              <a:lnSpc>
                <a:spcPct val="150000"/>
              </a:lnSpc>
            </a:pPr>
            <a:r>
              <a:rPr lang="en-US" sz="1400" b="1">
                <a:cs typeface="Segoe UI"/>
              </a:rPr>
              <a:t>Azure SQL</a:t>
            </a:r>
          </a:p>
          <a:p>
            <a:pPr>
              <a:lnSpc>
                <a:spcPct val="150000"/>
              </a:lnSpc>
            </a:pPr>
            <a:r>
              <a:rPr lang="en-US" sz="1400" b="1">
                <a:cs typeface="Segoe UI"/>
              </a:rPr>
              <a:t>SignalR + SK</a:t>
            </a:r>
          </a:p>
        </p:txBody>
      </p:sp>
      <p:sp>
        <p:nvSpPr>
          <p:cNvPr id="281" name="TextBox 280">
            <a:extLst>
              <a:ext uri="{FF2B5EF4-FFF2-40B4-BE49-F238E27FC236}">
                <a16:creationId xmlns:a16="http://schemas.microsoft.com/office/drawing/2014/main" id="{29D9BEC2-7D7F-DBED-9E66-57EDBE2DAA93}"/>
              </a:ext>
            </a:extLst>
          </p:cNvPr>
          <p:cNvSpPr txBox="1"/>
          <p:nvPr/>
        </p:nvSpPr>
        <p:spPr>
          <a:xfrm>
            <a:off x="3798690" y="4279013"/>
            <a:ext cx="1421849" cy="92935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400" b="1">
                <a:cs typeface="Segoe UI"/>
              </a:rPr>
              <a:t>PostgreSQL</a:t>
            </a:r>
          </a:p>
          <a:p>
            <a:pPr>
              <a:lnSpc>
                <a:spcPct val="150000"/>
              </a:lnSpc>
            </a:pPr>
            <a:r>
              <a:rPr lang="en-US" sz="1400" b="1">
                <a:cs typeface="Segoe UI"/>
              </a:rPr>
              <a:t>Agentic RAG</a:t>
            </a:r>
          </a:p>
          <a:p>
            <a:pPr>
              <a:lnSpc>
                <a:spcPct val="150000"/>
              </a:lnSpc>
            </a:pPr>
            <a:r>
              <a:rPr lang="en-US" sz="1400" b="1" err="1">
                <a:cs typeface="Segoe UI"/>
              </a:rPr>
              <a:t>Multi-DB Agents</a:t>
            </a:r>
          </a:p>
        </p:txBody>
      </p:sp>
      <p:sp>
        <p:nvSpPr>
          <p:cNvPr id="282" name="TextBox 281">
            <a:extLst>
              <a:ext uri="{FF2B5EF4-FFF2-40B4-BE49-F238E27FC236}">
                <a16:creationId xmlns:a16="http://schemas.microsoft.com/office/drawing/2014/main" id="{A460836D-CC61-B16A-07E7-CD3AD9975C8C}"/>
              </a:ext>
            </a:extLst>
          </p:cNvPr>
          <p:cNvSpPr txBox="1"/>
          <p:nvPr/>
        </p:nvSpPr>
        <p:spPr>
          <a:xfrm>
            <a:off x="5446929" y="4279013"/>
            <a:ext cx="1421849" cy="92935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400" b="1" err="1">
                <a:cs typeface="Segoe UI"/>
              </a:rPr>
              <a:t>Azure Functions</a:t>
            </a:r>
          </a:p>
          <a:p>
            <a:pPr>
              <a:lnSpc>
                <a:spcPct val="150000"/>
              </a:lnSpc>
            </a:pPr>
            <a:r>
              <a:rPr lang="en-US" sz="1400" b="1" err="1">
                <a:cs typeface="Segoe UI"/>
              </a:rPr>
              <a:t>Real-time ACS</a:t>
            </a:r>
          </a:p>
          <a:p>
            <a:pPr>
              <a:lnSpc>
                <a:spcPct val="150000"/>
              </a:lnSpc>
            </a:pPr>
            <a:r>
              <a:rPr lang="en-US" sz="1400" b="1" err="1">
                <a:cs typeface="Segoe UI"/>
              </a:rPr>
              <a:t>Robotic agents</a:t>
            </a:r>
          </a:p>
        </p:txBody>
      </p:sp>
      <p:sp>
        <p:nvSpPr>
          <p:cNvPr id="283" name="TextBox 282">
            <a:extLst>
              <a:ext uri="{FF2B5EF4-FFF2-40B4-BE49-F238E27FC236}">
                <a16:creationId xmlns:a16="http://schemas.microsoft.com/office/drawing/2014/main" id="{B4BDC22C-FE46-322F-FB40-21C6C2BEED09}"/>
              </a:ext>
            </a:extLst>
          </p:cNvPr>
          <p:cNvSpPr txBox="1"/>
          <p:nvPr/>
        </p:nvSpPr>
        <p:spPr>
          <a:xfrm>
            <a:off x="6991270" y="4286914"/>
            <a:ext cx="1421849" cy="3234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600" b="1">
                <a:cs typeface="Segoe UI"/>
              </a:rPr>
              <a:t>Hack!</a:t>
            </a:r>
            <a:endParaRPr lang="en-US" sz="1600">
              <a:cs typeface="Segoe UI"/>
            </a:endParaRPr>
          </a:p>
        </p:txBody>
      </p:sp>
      <p:sp>
        <p:nvSpPr>
          <p:cNvPr id="284" name="Rectangle 283">
            <a:extLst>
              <a:ext uri="{FF2B5EF4-FFF2-40B4-BE49-F238E27FC236}">
                <a16:creationId xmlns:a16="http://schemas.microsoft.com/office/drawing/2014/main" id="{BB7F91F2-214C-C25D-5B93-FD62DCC3B81C}"/>
              </a:ext>
            </a:extLst>
          </p:cNvPr>
          <p:cNvSpPr/>
          <p:nvPr/>
        </p:nvSpPr>
        <p:spPr bwMode="auto">
          <a:xfrm>
            <a:off x="554255" y="3919656"/>
            <a:ext cx="161122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85" name="TextBox 284">
            <a:extLst>
              <a:ext uri="{FF2B5EF4-FFF2-40B4-BE49-F238E27FC236}">
                <a16:creationId xmlns:a16="http://schemas.microsoft.com/office/drawing/2014/main" id="{48CCC2F2-1D5C-5401-0FBA-B01F437DD601}"/>
              </a:ext>
            </a:extLst>
          </p:cNvPr>
          <p:cNvSpPr txBox="1"/>
          <p:nvPr/>
        </p:nvSpPr>
        <p:spPr>
          <a:xfrm>
            <a:off x="601603" y="3916574"/>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chemeClr val="tx1">
                    <a:lumMod val="65000"/>
                  </a:schemeClr>
                </a:solidFill>
                <a:cs typeface="Segoe UI"/>
              </a:rPr>
              <a:t>21 </a:t>
            </a:r>
            <a:endParaRPr lang="en-US" sz="1200">
              <a:solidFill>
                <a:schemeClr val="tx1">
                  <a:lumMod val="65000"/>
                </a:schemeClr>
              </a:solidFill>
              <a:cs typeface="Segoe UI"/>
            </a:endParaRPr>
          </a:p>
        </p:txBody>
      </p:sp>
      <p:sp>
        <p:nvSpPr>
          <p:cNvPr id="286" name="TextBox 285">
            <a:extLst>
              <a:ext uri="{FF2B5EF4-FFF2-40B4-BE49-F238E27FC236}">
                <a16:creationId xmlns:a16="http://schemas.microsoft.com/office/drawing/2014/main" id="{26887219-2499-431C-DF83-FD4D0C29B1BC}"/>
              </a:ext>
            </a:extLst>
          </p:cNvPr>
          <p:cNvSpPr txBox="1"/>
          <p:nvPr/>
        </p:nvSpPr>
        <p:spPr>
          <a:xfrm>
            <a:off x="1366916" y="3975105"/>
            <a:ext cx="697396"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chemeClr val="tx1">
                    <a:lumMod val="65000"/>
                  </a:schemeClr>
                </a:solidFill>
              </a:rPr>
              <a:t>MONDAY</a:t>
            </a:r>
            <a:endParaRPr lang="en-US" sz="1200">
              <a:solidFill>
                <a:schemeClr val="tx1">
                  <a:lumMod val="65000"/>
                </a:schemeClr>
              </a:solidFill>
              <a:cs typeface="Segoe UI"/>
            </a:endParaRPr>
          </a:p>
        </p:txBody>
      </p:sp>
      <p:sp>
        <p:nvSpPr>
          <p:cNvPr id="287" name="TextBox 286">
            <a:extLst>
              <a:ext uri="{FF2B5EF4-FFF2-40B4-BE49-F238E27FC236}">
                <a16:creationId xmlns:a16="http://schemas.microsoft.com/office/drawing/2014/main" id="{B3B15CC8-667E-6DD9-F918-ACB970CB3817}"/>
              </a:ext>
            </a:extLst>
          </p:cNvPr>
          <p:cNvSpPr txBox="1"/>
          <p:nvPr/>
        </p:nvSpPr>
        <p:spPr>
          <a:xfrm>
            <a:off x="8588298" y="4286914"/>
            <a:ext cx="1421849" cy="3234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600" b="1">
                <a:cs typeface="Segoe UI"/>
              </a:rPr>
              <a:t>Hack!</a:t>
            </a:r>
            <a:endParaRPr lang="en-US" sz="1600">
              <a:cs typeface="Segoe UI"/>
            </a:endParaRPr>
          </a:p>
        </p:txBody>
      </p:sp>
      <p:sp>
        <p:nvSpPr>
          <p:cNvPr id="288" name="TextBox 287">
            <a:extLst>
              <a:ext uri="{FF2B5EF4-FFF2-40B4-BE49-F238E27FC236}">
                <a16:creationId xmlns:a16="http://schemas.microsoft.com/office/drawing/2014/main" id="{3FAACF51-B344-C2C9-5E74-9E59DFD537D4}"/>
              </a:ext>
            </a:extLst>
          </p:cNvPr>
          <p:cNvSpPr txBox="1"/>
          <p:nvPr/>
        </p:nvSpPr>
        <p:spPr>
          <a:xfrm>
            <a:off x="10193278" y="4286914"/>
            <a:ext cx="1421849" cy="3234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600" b="1">
                <a:cs typeface="Segoe UI"/>
              </a:rPr>
              <a:t>Hack!</a:t>
            </a:r>
            <a:endParaRPr lang="en-US" sz="1600">
              <a:cs typeface="Segoe UI"/>
            </a:endParaRPr>
          </a:p>
        </p:txBody>
      </p:sp>
      <p:sp>
        <p:nvSpPr>
          <p:cNvPr id="289" name="TextBox 288">
            <a:extLst>
              <a:ext uri="{FF2B5EF4-FFF2-40B4-BE49-F238E27FC236}">
                <a16:creationId xmlns:a16="http://schemas.microsoft.com/office/drawing/2014/main" id="{1440EBB7-936C-1CE4-1B00-35361E21A0C0}"/>
              </a:ext>
            </a:extLst>
          </p:cNvPr>
          <p:cNvSpPr txBox="1"/>
          <p:nvPr/>
        </p:nvSpPr>
        <p:spPr>
          <a:xfrm rot="16200000">
            <a:off x="-179820" y="5709425"/>
            <a:ext cx="1070295"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cs typeface="Segoe UI"/>
              </a:rPr>
              <a:t>Week 4</a:t>
            </a:r>
            <a:endParaRPr lang="en-US" sz="2000" err="1"/>
          </a:p>
        </p:txBody>
      </p:sp>
      <p:sp>
        <p:nvSpPr>
          <p:cNvPr id="290" name="Rectangle 289">
            <a:extLst>
              <a:ext uri="{FF2B5EF4-FFF2-40B4-BE49-F238E27FC236}">
                <a16:creationId xmlns:a16="http://schemas.microsoft.com/office/drawing/2014/main" id="{0FEFB89B-1A8A-07C0-04C6-5B5DFBF0DF85}"/>
              </a:ext>
            </a:extLst>
          </p:cNvPr>
          <p:cNvSpPr/>
          <p:nvPr/>
        </p:nvSpPr>
        <p:spPr bwMode="auto">
          <a:xfrm>
            <a:off x="2157388" y="5272719"/>
            <a:ext cx="161122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91" name="Rectangle 290">
            <a:extLst>
              <a:ext uri="{FF2B5EF4-FFF2-40B4-BE49-F238E27FC236}">
                <a16:creationId xmlns:a16="http://schemas.microsoft.com/office/drawing/2014/main" id="{AAF54708-3E50-B1DE-AA99-59DA077A513D}"/>
              </a:ext>
            </a:extLst>
          </p:cNvPr>
          <p:cNvSpPr/>
          <p:nvPr/>
        </p:nvSpPr>
        <p:spPr bwMode="auto">
          <a:xfrm>
            <a:off x="3692953" y="5272719"/>
            <a:ext cx="1627790"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96" name="TextBox 295">
            <a:extLst>
              <a:ext uri="{FF2B5EF4-FFF2-40B4-BE49-F238E27FC236}">
                <a16:creationId xmlns:a16="http://schemas.microsoft.com/office/drawing/2014/main" id="{CE9B4063-388B-D00C-CE22-7685F6D2CD66}"/>
              </a:ext>
            </a:extLst>
          </p:cNvPr>
          <p:cNvSpPr txBox="1"/>
          <p:nvPr/>
        </p:nvSpPr>
        <p:spPr>
          <a:xfrm>
            <a:off x="2204736" y="5269637"/>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29 </a:t>
            </a:r>
            <a:endParaRPr lang="en-US" sz="1200">
              <a:solidFill>
                <a:srgbClr val="091F2C"/>
              </a:solidFill>
              <a:cs typeface="Segoe UI"/>
            </a:endParaRPr>
          </a:p>
        </p:txBody>
      </p:sp>
      <p:sp>
        <p:nvSpPr>
          <p:cNvPr id="297" name="TextBox 296">
            <a:extLst>
              <a:ext uri="{FF2B5EF4-FFF2-40B4-BE49-F238E27FC236}">
                <a16:creationId xmlns:a16="http://schemas.microsoft.com/office/drawing/2014/main" id="{412C6823-F35F-02F7-278C-8FE6818EA2CD}"/>
              </a:ext>
            </a:extLst>
          </p:cNvPr>
          <p:cNvSpPr txBox="1"/>
          <p:nvPr/>
        </p:nvSpPr>
        <p:spPr>
          <a:xfrm>
            <a:off x="3786714" y="5269637"/>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91F2C"/>
                </a:solidFill>
                <a:cs typeface="Segoe UI"/>
              </a:rPr>
              <a:t>30</a:t>
            </a:r>
          </a:p>
        </p:txBody>
      </p:sp>
      <p:sp>
        <p:nvSpPr>
          <p:cNvPr id="302" name="TextBox 301">
            <a:extLst>
              <a:ext uri="{FF2B5EF4-FFF2-40B4-BE49-F238E27FC236}">
                <a16:creationId xmlns:a16="http://schemas.microsoft.com/office/drawing/2014/main" id="{839ED85F-14A6-B694-FEAD-1CD89DA4CF7E}"/>
              </a:ext>
            </a:extLst>
          </p:cNvPr>
          <p:cNvSpPr txBox="1"/>
          <p:nvPr/>
        </p:nvSpPr>
        <p:spPr>
          <a:xfrm>
            <a:off x="2920353" y="5328168"/>
            <a:ext cx="697396"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TUESDAY</a:t>
            </a:r>
            <a:endParaRPr lang="en-US" sz="1200">
              <a:cs typeface="Segoe UI"/>
            </a:endParaRPr>
          </a:p>
        </p:txBody>
      </p:sp>
      <p:sp>
        <p:nvSpPr>
          <p:cNvPr id="303" name="TextBox 302">
            <a:extLst>
              <a:ext uri="{FF2B5EF4-FFF2-40B4-BE49-F238E27FC236}">
                <a16:creationId xmlns:a16="http://schemas.microsoft.com/office/drawing/2014/main" id="{CB645DAB-AD6B-4F97-75B4-079AAFB558C4}"/>
              </a:ext>
            </a:extLst>
          </p:cNvPr>
          <p:cNvSpPr txBox="1"/>
          <p:nvPr/>
        </p:nvSpPr>
        <p:spPr>
          <a:xfrm>
            <a:off x="4195875" y="5328168"/>
            <a:ext cx="1003852"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rgbClr val="091F2C"/>
                </a:solidFill>
              </a:rPr>
              <a:t>WEDNESDAY</a:t>
            </a:r>
            <a:endParaRPr lang="en-US" sz="1200">
              <a:cs typeface="Segoe UI"/>
            </a:endParaRPr>
          </a:p>
        </p:txBody>
      </p:sp>
      <p:sp>
        <p:nvSpPr>
          <p:cNvPr id="308" name="TextBox 307">
            <a:extLst>
              <a:ext uri="{FF2B5EF4-FFF2-40B4-BE49-F238E27FC236}">
                <a16:creationId xmlns:a16="http://schemas.microsoft.com/office/drawing/2014/main" id="{6AA9D7F2-DE09-380A-424D-A6FE5DCB2855}"/>
              </a:ext>
            </a:extLst>
          </p:cNvPr>
          <p:cNvSpPr txBox="1"/>
          <p:nvPr/>
        </p:nvSpPr>
        <p:spPr>
          <a:xfrm>
            <a:off x="2221301" y="5623791"/>
            <a:ext cx="1421849" cy="92935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400" b="1">
                <a:cs typeface="Segoe UI"/>
              </a:rPr>
              <a:t>Responsible AI</a:t>
            </a:r>
          </a:p>
          <a:p>
            <a:pPr>
              <a:lnSpc>
                <a:spcPct val="150000"/>
              </a:lnSpc>
            </a:pPr>
            <a:r>
              <a:rPr lang="en-US" sz="1400" b="1">
                <a:cs typeface="Segoe UI"/>
              </a:rPr>
              <a:t>Securing Agents</a:t>
            </a:r>
          </a:p>
          <a:p>
            <a:pPr>
              <a:lnSpc>
                <a:spcPct val="150000"/>
              </a:lnSpc>
            </a:pPr>
            <a:r>
              <a:rPr lang="en-US" sz="1400" b="1">
                <a:cs typeface="Segoe UI"/>
              </a:rPr>
              <a:t>Evaluation</a:t>
            </a:r>
          </a:p>
        </p:txBody>
      </p:sp>
      <p:sp>
        <p:nvSpPr>
          <p:cNvPr id="309" name="TextBox 308">
            <a:extLst>
              <a:ext uri="{FF2B5EF4-FFF2-40B4-BE49-F238E27FC236}">
                <a16:creationId xmlns:a16="http://schemas.microsoft.com/office/drawing/2014/main" id="{BEAEF668-E82E-5D72-9878-0B2198C13D89}"/>
              </a:ext>
            </a:extLst>
          </p:cNvPr>
          <p:cNvSpPr txBox="1"/>
          <p:nvPr/>
        </p:nvSpPr>
        <p:spPr>
          <a:xfrm>
            <a:off x="3794996" y="5632074"/>
            <a:ext cx="1421849" cy="60619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400" b="1">
                <a:cs typeface="Segoe UI"/>
              </a:rPr>
              <a:t>HACKS DUE!</a:t>
            </a:r>
          </a:p>
          <a:p>
            <a:pPr>
              <a:lnSpc>
                <a:spcPct val="150000"/>
              </a:lnSpc>
            </a:pPr>
            <a:r>
              <a:rPr lang="en-US" sz="1400" b="1">
                <a:cs typeface="Segoe UI"/>
              </a:rPr>
              <a:t>11:59 PM PT</a:t>
            </a:r>
            <a:endParaRPr lang="en-US" sz="1400" b="1" err="1">
              <a:cs typeface="Segoe UI"/>
            </a:endParaRPr>
          </a:p>
        </p:txBody>
      </p:sp>
      <p:sp>
        <p:nvSpPr>
          <p:cNvPr id="312" name="Rectangle 311">
            <a:extLst>
              <a:ext uri="{FF2B5EF4-FFF2-40B4-BE49-F238E27FC236}">
                <a16:creationId xmlns:a16="http://schemas.microsoft.com/office/drawing/2014/main" id="{083AA9FF-9231-B0D4-42F7-6E1E39CB212E}"/>
              </a:ext>
            </a:extLst>
          </p:cNvPr>
          <p:cNvSpPr/>
          <p:nvPr/>
        </p:nvSpPr>
        <p:spPr bwMode="auto">
          <a:xfrm>
            <a:off x="550561" y="5272717"/>
            <a:ext cx="1611225" cy="1362914"/>
          </a:xfrm>
          <a:prstGeom prst="rect">
            <a:avLst/>
          </a:prstGeom>
          <a:solidFill>
            <a:srgbClr val="FFE399"/>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313" name="TextBox 312">
            <a:extLst>
              <a:ext uri="{FF2B5EF4-FFF2-40B4-BE49-F238E27FC236}">
                <a16:creationId xmlns:a16="http://schemas.microsoft.com/office/drawing/2014/main" id="{45BFDB87-F908-B6E9-E889-4DE4D50A9071}"/>
              </a:ext>
            </a:extLst>
          </p:cNvPr>
          <p:cNvSpPr txBox="1"/>
          <p:nvPr/>
        </p:nvSpPr>
        <p:spPr>
          <a:xfrm>
            <a:off x="597909" y="5269635"/>
            <a:ext cx="405848"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chemeClr val="tx1">
                    <a:lumMod val="65000"/>
                  </a:schemeClr>
                </a:solidFill>
                <a:cs typeface="Segoe UI"/>
              </a:rPr>
              <a:t>28 </a:t>
            </a:r>
            <a:endParaRPr lang="en-US" sz="1200">
              <a:solidFill>
                <a:schemeClr val="tx1">
                  <a:lumMod val="65000"/>
                </a:schemeClr>
              </a:solidFill>
              <a:cs typeface="Segoe UI"/>
            </a:endParaRPr>
          </a:p>
        </p:txBody>
      </p:sp>
      <p:sp>
        <p:nvSpPr>
          <p:cNvPr id="314" name="TextBox 313">
            <a:extLst>
              <a:ext uri="{FF2B5EF4-FFF2-40B4-BE49-F238E27FC236}">
                <a16:creationId xmlns:a16="http://schemas.microsoft.com/office/drawing/2014/main" id="{8862DD33-7895-C61E-921D-38B26D8E3507}"/>
              </a:ext>
            </a:extLst>
          </p:cNvPr>
          <p:cNvSpPr txBox="1"/>
          <p:nvPr/>
        </p:nvSpPr>
        <p:spPr>
          <a:xfrm>
            <a:off x="1363222" y="5328166"/>
            <a:ext cx="697396"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200">
                <a:solidFill>
                  <a:schemeClr val="tx1">
                    <a:lumMod val="65000"/>
                  </a:schemeClr>
                </a:solidFill>
              </a:rPr>
              <a:t>MONDAY</a:t>
            </a:r>
            <a:endParaRPr lang="en-US" sz="1200">
              <a:solidFill>
                <a:schemeClr val="tx1">
                  <a:lumMod val="65000"/>
                </a:schemeClr>
              </a:solidFill>
              <a:cs typeface="Segoe UI"/>
            </a:endParaRPr>
          </a:p>
        </p:txBody>
      </p:sp>
      <p:sp>
        <p:nvSpPr>
          <p:cNvPr id="317" name="TextBox 316">
            <a:extLst>
              <a:ext uri="{FF2B5EF4-FFF2-40B4-BE49-F238E27FC236}">
                <a16:creationId xmlns:a16="http://schemas.microsoft.com/office/drawing/2014/main" id="{0E8A7B2D-9103-1C26-6879-49BEA1343888}"/>
              </a:ext>
            </a:extLst>
          </p:cNvPr>
          <p:cNvSpPr txBox="1"/>
          <p:nvPr/>
        </p:nvSpPr>
        <p:spPr>
          <a:xfrm>
            <a:off x="644205" y="4265651"/>
            <a:ext cx="1421849" cy="28302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400" b="1">
                <a:cs typeface="Segoe UI"/>
              </a:rPr>
              <a:t>Llamaindex.TS</a:t>
            </a:r>
          </a:p>
        </p:txBody>
      </p:sp>
      <p:sp>
        <p:nvSpPr>
          <p:cNvPr id="318" name="TextBox 317">
            <a:extLst>
              <a:ext uri="{FF2B5EF4-FFF2-40B4-BE49-F238E27FC236}">
                <a16:creationId xmlns:a16="http://schemas.microsoft.com/office/drawing/2014/main" id="{502C62AA-AAAA-D08F-9F7C-BBF04BAA2461}"/>
              </a:ext>
            </a:extLst>
          </p:cNvPr>
          <p:cNvSpPr txBox="1"/>
          <p:nvPr/>
        </p:nvSpPr>
        <p:spPr>
          <a:xfrm>
            <a:off x="638769" y="5608383"/>
            <a:ext cx="1421849" cy="3234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600" b="1">
                <a:cs typeface="Segoe UI"/>
              </a:rPr>
              <a:t>Hack!</a:t>
            </a:r>
            <a:endParaRPr lang="en-US" sz="1600">
              <a:cs typeface="Segoe UI"/>
            </a:endParaRPr>
          </a:p>
        </p:txBody>
      </p:sp>
      <p:sp>
        <p:nvSpPr>
          <p:cNvPr id="319" name="TextBox 318">
            <a:extLst>
              <a:ext uri="{FF2B5EF4-FFF2-40B4-BE49-F238E27FC236}">
                <a16:creationId xmlns:a16="http://schemas.microsoft.com/office/drawing/2014/main" id="{D3E273DB-DC3A-4BBD-635C-97758FBF2190}"/>
              </a:ext>
            </a:extLst>
          </p:cNvPr>
          <p:cNvSpPr txBox="1"/>
          <p:nvPr/>
        </p:nvSpPr>
        <p:spPr>
          <a:xfrm>
            <a:off x="637094" y="2845802"/>
            <a:ext cx="1421849" cy="3234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600" b="1">
                <a:cs typeface="Segoe UI"/>
              </a:rPr>
              <a:t>Hack!</a:t>
            </a:r>
            <a:endParaRPr lang="en-US" sz="1600">
              <a:cs typeface="Segoe UI"/>
            </a:endParaRPr>
          </a:p>
        </p:txBody>
      </p:sp>
      <p:sp>
        <p:nvSpPr>
          <p:cNvPr id="320" name="TextBox 319">
            <a:extLst>
              <a:ext uri="{FF2B5EF4-FFF2-40B4-BE49-F238E27FC236}">
                <a16:creationId xmlns:a16="http://schemas.microsoft.com/office/drawing/2014/main" id="{86E9ECBF-2543-30EA-3228-B30B8786CA95}"/>
              </a:ext>
            </a:extLst>
          </p:cNvPr>
          <p:cNvSpPr txBox="1"/>
          <p:nvPr/>
        </p:nvSpPr>
        <p:spPr>
          <a:xfrm>
            <a:off x="5545016" y="5392559"/>
            <a:ext cx="6242324" cy="161614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1600">
                <a:cs typeface="Segoe UI"/>
              </a:rPr>
              <a:t>We will also hold Discord office hours throughout the week.</a:t>
            </a:r>
          </a:p>
          <a:p>
            <a:pPr>
              <a:lnSpc>
                <a:spcPct val="150000"/>
              </a:lnSpc>
            </a:pPr>
            <a:r>
              <a:rPr lang="en-US" sz="2000">
                <a:cs typeface="Segoe UI"/>
              </a:rPr>
              <a:t>Join the Azure AI Community on Discord here:</a:t>
            </a:r>
          </a:p>
          <a:p>
            <a:pPr>
              <a:lnSpc>
                <a:spcPct val="150000"/>
              </a:lnSpc>
            </a:pPr>
            <a:r>
              <a:rPr lang="en-US" sz="2000">
                <a:cs typeface="Segoe UI"/>
                <a:hlinkClick r:id="rId4"/>
              </a:rPr>
              <a:t>aka.ms/agentshack/discord</a:t>
            </a:r>
            <a:endParaRPr lang="en-US" sz="2000">
              <a:cs typeface="Segoe UI"/>
            </a:endParaRPr>
          </a:p>
          <a:p>
            <a:pPr>
              <a:lnSpc>
                <a:spcPct val="150000"/>
              </a:lnSpc>
            </a:pPr>
            <a:endParaRPr lang="en-US" sz="1600">
              <a:cs typeface="Segoe UI"/>
            </a:endParaRPr>
          </a:p>
        </p:txBody>
      </p:sp>
    </p:spTree>
    <p:extLst>
      <p:ext uri="{BB962C8B-B14F-4D97-AF65-F5344CB8AC3E}">
        <p14:creationId xmlns:p14="http://schemas.microsoft.com/office/powerpoint/2010/main" val="22950355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3F9397E-9E86-56A8-E6D2-6D32168C2E3B}"/>
              </a:ext>
            </a:extLst>
          </p:cNvPr>
          <p:cNvSpPr/>
          <p:nvPr/>
        </p:nvSpPr>
        <p:spPr bwMode="auto">
          <a:xfrm>
            <a:off x="0" y="4441463"/>
            <a:ext cx="12261273" cy="1959337"/>
          </a:xfrm>
          <a:prstGeom prst="rect">
            <a:avLst/>
          </a:prstGeom>
          <a:solidFill>
            <a:srgbClr val="F4364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10" name="Rectangle 9">
            <a:extLst>
              <a:ext uri="{FF2B5EF4-FFF2-40B4-BE49-F238E27FC236}">
                <a16:creationId xmlns:a16="http://schemas.microsoft.com/office/drawing/2014/main" id="{4A27BEE4-562C-F4BD-76D7-A29CD901188B}"/>
              </a:ext>
            </a:extLst>
          </p:cNvPr>
          <p:cNvSpPr/>
          <p:nvPr/>
        </p:nvSpPr>
        <p:spPr bwMode="auto">
          <a:xfrm>
            <a:off x="0" y="2756662"/>
            <a:ext cx="12261273" cy="1684802"/>
          </a:xfrm>
          <a:prstGeom prst="rect">
            <a:avLst/>
          </a:prstGeom>
          <a:solidFill>
            <a:srgbClr val="07641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8" name="Rectangle 7">
            <a:extLst>
              <a:ext uri="{FF2B5EF4-FFF2-40B4-BE49-F238E27FC236}">
                <a16:creationId xmlns:a16="http://schemas.microsoft.com/office/drawing/2014/main" id="{1CED2D89-2E36-827F-F9DD-8C12283DEB88}"/>
              </a:ext>
            </a:extLst>
          </p:cNvPr>
          <p:cNvSpPr/>
          <p:nvPr/>
        </p:nvSpPr>
        <p:spPr bwMode="auto">
          <a:xfrm>
            <a:off x="0" y="1255222"/>
            <a:ext cx="12192000" cy="1538883"/>
          </a:xfrm>
          <a:prstGeom prst="rect">
            <a:avLst/>
          </a:prstGeom>
          <a:solidFill>
            <a:srgbClr val="FF5C3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E7788DD-653E-C4C8-12EA-D7EB0F6BF824}"/>
              </a:ext>
            </a:extLst>
          </p:cNvPr>
          <p:cNvSpPr>
            <a:spLocks noGrp="1"/>
          </p:cNvSpPr>
          <p:nvPr>
            <p:ph type="title"/>
          </p:nvPr>
        </p:nvSpPr>
        <p:spPr/>
        <p:txBody>
          <a:bodyPr/>
          <a:lstStyle/>
          <a:p>
            <a:r>
              <a:rPr lang="en-US"/>
              <a:t>Live streams in more languages </a:t>
            </a:r>
          </a:p>
        </p:txBody>
      </p:sp>
      <p:sp>
        <p:nvSpPr>
          <p:cNvPr id="3" name="Content Placeholder 2">
            <a:extLst>
              <a:ext uri="{FF2B5EF4-FFF2-40B4-BE49-F238E27FC236}">
                <a16:creationId xmlns:a16="http://schemas.microsoft.com/office/drawing/2014/main" id="{C2FBCE78-DE41-D33D-A655-B194767BB94D}"/>
              </a:ext>
            </a:extLst>
          </p:cNvPr>
          <p:cNvSpPr>
            <a:spLocks noGrp="1"/>
          </p:cNvSpPr>
          <p:nvPr>
            <p:ph sz="quarter" idx="10"/>
          </p:nvPr>
        </p:nvSpPr>
        <p:spPr>
          <a:xfrm>
            <a:off x="584200" y="1435100"/>
            <a:ext cx="4805233" cy="4567404"/>
          </a:xfrm>
        </p:spPr>
        <p:txBody>
          <a:bodyPr/>
          <a:lstStyle/>
          <a:p>
            <a:pPr marL="0" indent="0" algn="just">
              <a:buNone/>
            </a:pPr>
            <a:r>
              <a:rPr lang="en-US">
                <a:solidFill>
                  <a:srgbClr val="FFFFFF"/>
                </a:solidFill>
              </a:rPr>
              <a:t>Spanish: </a:t>
            </a:r>
          </a:p>
          <a:p>
            <a:pPr marL="0" indent="0" algn="just">
              <a:buNone/>
            </a:pPr>
            <a:r>
              <a:rPr lang="en-US">
                <a:solidFill>
                  <a:schemeClr val="bg1"/>
                </a:solidFill>
                <a:hlinkClick r:id="rId2">
                  <a:extLst>
                    <a:ext uri="{A12FA001-AC4F-418D-AE19-62706E023703}">
                      <ahyp:hlinkClr xmlns:ahyp="http://schemas.microsoft.com/office/drawing/2018/hyperlinkcolor" val="tx"/>
                    </a:ext>
                  </a:extLst>
                </a:hlinkClick>
              </a:rPr>
              <a:t>aka.ms/agentshack-es</a:t>
            </a:r>
            <a:endParaRPr lang="en-US">
              <a:solidFill>
                <a:schemeClr val="bg1"/>
              </a:solidFill>
            </a:endParaRPr>
          </a:p>
          <a:p>
            <a:pPr marL="0" indent="0">
              <a:buNone/>
            </a:pPr>
            <a:endParaRPr lang="en-US">
              <a:solidFill>
                <a:srgbClr val="FFFFFF"/>
              </a:solidFill>
            </a:endParaRPr>
          </a:p>
          <a:p>
            <a:pPr marL="0" indent="0">
              <a:buNone/>
            </a:pPr>
            <a:r>
              <a:rPr lang="en-US">
                <a:solidFill>
                  <a:srgbClr val="FFFFFF"/>
                </a:solidFill>
              </a:rPr>
              <a:t>Portuguese:</a:t>
            </a:r>
          </a:p>
          <a:p>
            <a:pPr marL="0" indent="0">
              <a:buNone/>
            </a:pPr>
            <a:r>
              <a:rPr lang="en-US">
                <a:solidFill>
                  <a:schemeClr val="bg1"/>
                </a:solidFill>
                <a:hlinkClick r:id="rId3">
                  <a:extLst>
                    <a:ext uri="{A12FA001-AC4F-418D-AE19-62706E023703}">
                      <ahyp:hlinkClr xmlns:ahyp="http://schemas.microsoft.com/office/drawing/2018/hyperlinkcolor" val="tx"/>
                    </a:ext>
                  </a:extLst>
                </a:hlinkClick>
              </a:rPr>
              <a:t>aka.ms/agentshack-pt</a:t>
            </a:r>
            <a:endParaRPr lang="en-US">
              <a:solidFill>
                <a:schemeClr val="bg1"/>
              </a:solidFill>
            </a:endParaRPr>
          </a:p>
          <a:p>
            <a:pPr marL="0" indent="0">
              <a:buNone/>
            </a:pPr>
            <a:endParaRPr lang="en-US">
              <a:solidFill>
                <a:srgbClr val="FFFFFF"/>
              </a:solidFill>
            </a:endParaRPr>
          </a:p>
          <a:p>
            <a:pPr marL="0" indent="0">
              <a:buNone/>
            </a:pPr>
            <a:endParaRPr lang="en-US">
              <a:solidFill>
                <a:srgbClr val="FFFFFF"/>
              </a:solidFill>
            </a:endParaRPr>
          </a:p>
          <a:p>
            <a:pPr marL="0" indent="0">
              <a:buNone/>
            </a:pPr>
            <a:r>
              <a:rPr lang="en-US">
                <a:solidFill>
                  <a:srgbClr val="FFFFFF"/>
                </a:solidFill>
              </a:rPr>
              <a:t>Chinese: </a:t>
            </a:r>
          </a:p>
          <a:p>
            <a:pPr marL="0" indent="0">
              <a:buNone/>
            </a:pPr>
            <a:r>
              <a:rPr lang="en-US">
                <a:solidFill>
                  <a:schemeClr val="bg1"/>
                </a:solidFill>
                <a:hlinkClick r:id="rId4">
                  <a:extLst>
                    <a:ext uri="{A12FA001-AC4F-418D-AE19-62706E023703}">
                      <ahyp:hlinkClr xmlns:ahyp="http://schemas.microsoft.com/office/drawing/2018/hyperlinkcolor" val="tx"/>
                    </a:ext>
                  </a:extLst>
                </a:hlinkClick>
              </a:rPr>
              <a:t>aka.ms/agentshack-zh</a:t>
            </a:r>
            <a:endParaRPr lang="en-US">
              <a:solidFill>
                <a:schemeClr val="bg1"/>
              </a:solidFill>
            </a:endParaRPr>
          </a:p>
        </p:txBody>
      </p:sp>
      <p:sp>
        <p:nvSpPr>
          <p:cNvPr id="4" name="TextBox 3">
            <a:extLst>
              <a:ext uri="{FF2B5EF4-FFF2-40B4-BE49-F238E27FC236}">
                <a16:creationId xmlns:a16="http://schemas.microsoft.com/office/drawing/2014/main" id="{380E8C7B-C66D-D798-2E97-EDBE29E094F3}"/>
              </a:ext>
            </a:extLst>
          </p:cNvPr>
          <p:cNvSpPr txBox="1"/>
          <p:nvPr/>
        </p:nvSpPr>
        <p:spPr>
          <a:xfrm>
            <a:off x="5682189" y="1580591"/>
            <a:ext cx="3379542" cy="923330"/>
          </a:xfrm>
          <a:prstGeom prst="rect">
            <a:avLst/>
          </a:prstGeom>
          <a:noFill/>
        </p:spPr>
        <p:txBody>
          <a:bodyPr wrap="square" lIns="0" tIns="0" rIns="0" bIns="0" rtlCol="0">
            <a:spAutoFit/>
          </a:bodyPr>
          <a:lstStyle/>
          <a:p>
            <a:r>
              <a:rPr lang="en-US" sz="2000" err="1">
                <a:solidFill>
                  <a:srgbClr val="FFFFFF"/>
                </a:solidFill>
              </a:rPr>
              <a:t>Azure AI Agents</a:t>
            </a:r>
          </a:p>
          <a:p>
            <a:r>
              <a:rPr lang="en-US" sz="2000" err="1">
                <a:solidFill>
                  <a:srgbClr val="FFFFFF"/>
                </a:solidFill>
              </a:rPr>
              <a:t>.NET + Aspire</a:t>
            </a:r>
          </a:p>
          <a:p>
            <a:r>
              <a:rPr lang="en-US" sz="2000" err="1">
                <a:solidFill>
                  <a:srgbClr val="FFFFFF"/>
                </a:solidFill>
              </a:rPr>
              <a:t>Azure AI Foundry Modelos</a:t>
            </a:r>
          </a:p>
        </p:txBody>
      </p:sp>
      <p:sp>
        <p:nvSpPr>
          <p:cNvPr id="6" name="TextBox 5">
            <a:extLst>
              <a:ext uri="{FF2B5EF4-FFF2-40B4-BE49-F238E27FC236}">
                <a16:creationId xmlns:a16="http://schemas.microsoft.com/office/drawing/2014/main" id="{60702225-D588-2D97-9AF3-0B46212CEA7C}"/>
              </a:ext>
            </a:extLst>
          </p:cNvPr>
          <p:cNvSpPr txBox="1"/>
          <p:nvPr/>
        </p:nvSpPr>
        <p:spPr>
          <a:xfrm>
            <a:off x="9135909" y="1580397"/>
            <a:ext cx="3379542" cy="923330"/>
          </a:xfrm>
          <a:prstGeom prst="rect">
            <a:avLst/>
          </a:prstGeom>
          <a:noFill/>
        </p:spPr>
        <p:txBody>
          <a:bodyPr wrap="square" lIns="0" tIns="0" rIns="0" bIns="0" rtlCol="0">
            <a:spAutoFit/>
          </a:bodyPr>
          <a:lstStyle/>
          <a:p>
            <a:r>
              <a:rPr lang="en-US" sz="2000" err="1">
                <a:solidFill>
                  <a:srgbClr val="FFFFFF"/>
                </a:solidFill>
              </a:rPr>
              <a:t>Semantic Kernel</a:t>
            </a:r>
          </a:p>
          <a:p>
            <a:r>
              <a:rPr lang="en-US" sz="2000" err="1">
                <a:solidFill>
                  <a:srgbClr val="FFFFFF"/>
                </a:solidFill>
              </a:rPr>
              <a:t>GitHub Modelos</a:t>
            </a:r>
          </a:p>
          <a:p>
            <a:r>
              <a:rPr lang="en-US" sz="2000" err="1">
                <a:solidFill>
                  <a:srgbClr val="FFFFFF"/>
                </a:solidFill>
              </a:rPr>
              <a:t>VoiceRAG</a:t>
            </a:r>
          </a:p>
        </p:txBody>
      </p:sp>
      <p:sp>
        <p:nvSpPr>
          <p:cNvPr id="11" name="TextBox 10">
            <a:extLst>
              <a:ext uri="{FF2B5EF4-FFF2-40B4-BE49-F238E27FC236}">
                <a16:creationId xmlns:a16="http://schemas.microsoft.com/office/drawing/2014/main" id="{8B09121A-D824-1DBF-1FB2-1EB897AD7B21}"/>
              </a:ext>
            </a:extLst>
          </p:cNvPr>
          <p:cNvSpPr txBox="1"/>
          <p:nvPr/>
        </p:nvSpPr>
        <p:spPr>
          <a:xfrm>
            <a:off x="5682189" y="3229078"/>
            <a:ext cx="5924593" cy="615553"/>
          </a:xfrm>
          <a:prstGeom prst="rect">
            <a:avLst/>
          </a:prstGeom>
          <a:noFill/>
        </p:spPr>
        <p:txBody>
          <a:bodyPr wrap="square" lIns="0" tIns="0" rIns="0" bIns="0" rtlCol="0">
            <a:spAutoFit/>
          </a:bodyPr>
          <a:lstStyle/>
          <a:p>
            <a:r>
              <a:rPr lang="en-US" sz="2000" err="1">
                <a:solidFill>
                  <a:srgbClr val="FFFFFF"/>
                </a:solidFill>
              </a:rPr>
              <a:t>Azure AI Agents - Python</a:t>
            </a:r>
          </a:p>
          <a:p>
            <a:r>
              <a:rPr lang="en-US" sz="2000" err="1">
                <a:solidFill>
                  <a:srgbClr val="FFFFFF"/>
                </a:solidFill>
              </a:rPr>
              <a:t>Azure AI Agents - JavaScript</a:t>
            </a:r>
          </a:p>
        </p:txBody>
      </p:sp>
      <p:sp>
        <p:nvSpPr>
          <p:cNvPr id="12" name="TextBox 11">
            <a:extLst>
              <a:ext uri="{FF2B5EF4-FFF2-40B4-BE49-F238E27FC236}">
                <a16:creationId xmlns:a16="http://schemas.microsoft.com/office/drawing/2014/main" id="{E06BF7C9-DD63-E45B-5770-4B8AE58B4C7A}"/>
              </a:ext>
            </a:extLst>
          </p:cNvPr>
          <p:cNvSpPr txBox="1"/>
          <p:nvPr/>
        </p:nvSpPr>
        <p:spPr>
          <a:xfrm>
            <a:off x="5682189" y="5091152"/>
            <a:ext cx="6318298" cy="615553"/>
          </a:xfrm>
          <a:prstGeom prst="rect">
            <a:avLst/>
          </a:prstGeom>
          <a:noFill/>
        </p:spPr>
        <p:txBody>
          <a:bodyPr wrap="square" lIns="0" tIns="0" rIns="0" bIns="0" rtlCol="0">
            <a:spAutoFit/>
          </a:bodyPr>
          <a:lstStyle/>
          <a:p>
            <a:r>
              <a:rPr lang="ja-JP" altLang="en-US" sz="2000" b="0" i="0">
                <a:solidFill>
                  <a:schemeClr val="bg1"/>
                </a:solidFill>
                <a:effectLst/>
                <a:latin typeface="Roboto" panose="02000000000000000000" pitchFamily="2" charset="0"/>
              </a:rPr>
              <a:t>欢迎参加</a:t>
            </a:r>
            <a:r>
              <a:rPr lang="en-US" sz="2000" b="0" i="0">
                <a:solidFill>
                  <a:schemeClr val="bg1"/>
                </a:solidFill>
                <a:effectLst/>
                <a:latin typeface="Roboto" panose="02000000000000000000" pitchFamily="2" charset="0"/>
              </a:rPr>
              <a:t>AI</a:t>
            </a:r>
            <a:r>
              <a:rPr lang="ja-JP" altLang="en-US" sz="2000" b="0" i="0">
                <a:solidFill>
                  <a:schemeClr val="bg1"/>
                </a:solidFill>
                <a:effectLst/>
                <a:latin typeface="Roboto" panose="02000000000000000000" pitchFamily="2" charset="0"/>
              </a:rPr>
              <a:t>代理黑客松</a:t>
            </a:r>
            <a:endParaRPr lang="en-US" altLang="ja-JP" sz="2000" b="0" i="0">
              <a:solidFill>
                <a:schemeClr val="bg1"/>
              </a:solidFill>
              <a:effectLst/>
              <a:latin typeface="Roboto" panose="02000000000000000000" pitchFamily="2" charset="0"/>
            </a:endParaRPr>
          </a:p>
          <a:p>
            <a:r>
              <a:rPr lang="ja-JP" altLang="en-US" sz="2000" b="0" i="0">
                <a:solidFill>
                  <a:schemeClr val="bg1"/>
                </a:solidFill>
                <a:effectLst/>
                <a:latin typeface="Roboto" panose="02000000000000000000" pitchFamily="2" charset="0"/>
              </a:rPr>
              <a:t>使用</a:t>
            </a:r>
            <a:r>
              <a:rPr lang="en-US" sz="2000" b="0" i="0">
                <a:solidFill>
                  <a:schemeClr val="bg1"/>
                </a:solidFill>
                <a:effectLst/>
                <a:latin typeface="Roboto" panose="02000000000000000000" pitchFamily="2" charset="0"/>
              </a:rPr>
              <a:t>Azure AI Agent Service</a:t>
            </a:r>
            <a:r>
              <a:rPr lang="ja-JP" altLang="en-US" sz="2000" b="0" i="0">
                <a:solidFill>
                  <a:schemeClr val="bg1"/>
                </a:solidFill>
                <a:effectLst/>
                <a:latin typeface="Roboto" panose="02000000000000000000" pitchFamily="2" charset="0"/>
              </a:rPr>
              <a:t>作为您的软件开发流程</a:t>
            </a:r>
            <a:endParaRPr lang="en-US" sz="2000" err="1">
              <a:solidFill>
                <a:schemeClr val="bg1"/>
              </a:solidFill>
            </a:endParaRPr>
          </a:p>
        </p:txBody>
      </p:sp>
    </p:spTree>
    <p:extLst>
      <p:ext uri="{BB962C8B-B14F-4D97-AF65-F5344CB8AC3E}">
        <p14:creationId xmlns:p14="http://schemas.microsoft.com/office/powerpoint/2010/main" val="138754524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A12F2-90EE-8B8A-2FFC-FBAB12DAD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096784-F321-332E-7C71-ABE3B33D99F1}"/>
              </a:ext>
            </a:extLst>
          </p:cNvPr>
          <p:cNvSpPr>
            <a:spLocks noGrp="1"/>
          </p:cNvSpPr>
          <p:nvPr>
            <p:ph type="title"/>
          </p:nvPr>
        </p:nvSpPr>
        <p:spPr/>
        <p:txBody>
          <a:bodyPr/>
          <a:lstStyle/>
          <a:p>
            <a:r>
              <a:rPr lang="en-US"/>
              <a:t>Prizes 🏆</a:t>
            </a:r>
          </a:p>
        </p:txBody>
      </p:sp>
      <p:graphicFrame>
        <p:nvGraphicFramePr>
          <p:cNvPr id="7" name="Table 6">
            <a:extLst>
              <a:ext uri="{FF2B5EF4-FFF2-40B4-BE49-F238E27FC236}">
                <a16:creationId xmlns:a16="http://schemas.microsoft.com/office/drawing/2014/main" id="{49402D12-8BDA-B1A0-1A52-E18C026B6F35}"/>
              </a:ext>
            </a:extLst>
          </p:cNvPr>
          <p:cNvGraphicFramePr>
            <a:graphicFrameLocks noGrp="1"/>
          </p:cNvGraphicFramePr>
          <p:nvPr>
            <p:extLst>
              <p:ext uri="{D42A27DB-BD31-4B8C-83A1-F6EECF244321}">
                <p14:modId xmlns:p14="http://schemas.microsoft.com/office/powerpoint/2010/main" val="2944739594"/>
              </p:ext>
            </p:extLst>
          </p:nvPr>
        </p:nvGraphicFramePr>
        <p:xfrm>
          <a:off x="492914" y="1213029"/>
          <a:ext cx="11206172" cy="5644971"/>
        </p:xfrm>
        <a:graphic>
          <a:graphicData uri="http://schemas.openxmlformats.org/drawingml/2006/table">
            <a:tbl>
              <a:tblPr firstRow="1" bandRow="1">
                <a:tableStyleId>{F5AB1C69-6EDB-4FF4-983F-18BD219EF322}</a:tableStyleId>
              </a:tblPr>
              <a:tblGrid>
                <a:gridCol w="8810112">
                  <a:extLst>
                    <a:ext uri="{9D8B030D-6E8A-4147-A177-3AD203B41FA5}">
                      <a16:colId xmlns:a16="http://schemas.microsoft.com/office/drawing/2014/main" val="3844801597"/>
                    </a:ext>
                  </a:extLst>
                </a:gridCol>
                <a:gridCol w="2396060">
                  <a:extLst>
                    <a:ext uri="{9D8B030D-6E8A-4147-A177-3AD203B41FA5}">
                      <a16:colId xmlns:a16="http://schemas.microsoft.com/office/drawing/2014/main" val="3167985847"/>
                    </a:ext>
                  </a:extLst>
                </a:gridCol>
              </a:tblGrid>
              <a:tr h="404385">
                <a:tc>
                  <a:txBody>
                    <a:bodyPr/>
                    <a:lstStyle/>
                    <a:p>
                      <a:r>
                        <a:rPr lang="en-US" sz="2200" b="1" kern="1200">
                          <a:solidFill>
                            <a:schemeClr val="lt1"/>
                          </a:solidFill>
                          <a:effectLst/>
                        </a:rPr>
                        <a:t>Category</a:t>
                      </a:r>
                      <a:endParaRPr lang="en-US" sz="2200" b="1">
                        <a:latin typeface="Aptos" panose="020B0004020202020204" pitchFamily="34" charset="0"/>
                      </a:endParaRPr>
                    </a:p>
                  </a:txBody>
                  <a:tcPr/>
                </a:tc>
                <a:tc>
                  <a:txBody>
                    <a:bodyPr/>
                    <a:lstStyle/>
                    <a:p>
                      <a:r>
                        <a:rPr lang="en-US" sz="2200"/>
                        <a:t>Prize amount</a:t>
                      </a:r>
                      <a:endParaRPr lang="en-US" sz="2200">
                        <a:latin typeface="Aptos" panose="020B0004020202020204" pitchFamily="34" charset="0"/>
                      </a:endParaRPr>
                    </a:p>
                  </a:txBody>
                  <a:tcPr/>
                </a:tc>
                <a:extLst>
                  <a:ext uri="{0D108BD9-81ED-4DB2-BD59-A6C34878D82A}">
                    <a16:rowId xmlns:a16="http://schemas.microsoft.com/office/drawing/2014/main" val="791251203"/>
                  </a:ext>
                </a:extLst>
              </a:tr>
              <a:tr h="722116">
                <a:tc>
                  <a:txBody>
                    <a:bodyPr/>
                    <a:lstStyle/>
                    <a:p>
                      <a:r>
                        <a:rPr lang="en-US" sz="2200" b="0" kern="1200">
                          <a:solidFill>
                            <a:schemeClr val="tx1"/>
                          </a:solidFill>
                          <a:effectLst/>
                        </a:rPr>
                        <a:t>Best Overall Agent </a:t>
                      </a:r>
                      <a:endParaRPr lang="en-US" sz="2200">
                        <a:solidFill>
                          <a:schemeClr val="tx1"/>
                        </a:solidFill>
                        <a:latin typeface="Aptos" panose="020B0004020202020204" pitchFamily="34" charset="0"/>
                      </a:endParaRP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2200" b="0" kern="1200">
                          <a:solidFill>
                            <a:schemeClr val="tx1"/>
                          </a:solidFill>
                          <a:effectLst/>
                        </a:rPr>
                        <a:t>$20,000</a:t>
                      </a:r>
                    </a:p>
                    <a:p>
                      <a:endParaRPr lang="en-US" sz="2200">
                        <a:solidFill>
                          <a:schemeClr val="tx1"/>
                        </a:solidFill>
                        <a:latin typeface="Aptos" panose="020B0004020202020204" pitchFamily="34" charset="0"/>
                      </a:endParaRPr>
                    </a:p>
                  </a:txBody>
                  <a:tcPr/>
                </a:tc>
                <a:extLst>
                  <a:ext uri="{0D108BD9-81ED-4DB2-BD59-A6C34878D82A}">
                    <a16:rowId xmlns:a16="http://schemas.microsoft.com/office/drawing/2014/main" val="2646114247"/>
                  </a:ext>
                </a:extLst>
              </a:tr>
              <a:tr h="722116">
                <a:tc>
                  <a:txBody>
                    <a:bodyPr/>
                    <a:lstStyle/>
                    <a:p>
                      <a:r>
                        <a:rPr lang="en-US" sz="2200" b="0" kern="1200">
                          <a:solidFill>
                            <a:schemeClr val="tx1"/>
                          </a:solidFill>
                          <a:effectLst/>
                        </a:rPr>
                        <a:t>Best Agent in Python </a:t>
                      </a:r>
                      <a:endParaRPr lang="en-US" sz="2200">
                        <a:solidFill>
                          <a:schemeClr val="tx1"/>
                        </a:solidFill>
                        <a:latin typeface="Aptos" panose="020B0004020202020204" pitchFamily="34" charset="0"/>
                      </a:endParaRP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2200" b="0" kern="1200">
                          <a:solidFill>
                            <a:schemeClr val="tx1"/>
                          </a:solidFill>
                          <a:effectLst/>
                        </a:rPr>
                        <a:t>$5,000</a:t>
                      </a:r>
                    </a:p>
                    <a:p>
                      <a:endParaRPr lang="en-US" sz="2200">
                        <a:solidFill>
                          <a:schemeClr val="tx1"/>
                        </a:solidFill>
                        <a:latin typeface="Aptos" panose="020B0004020202020204" pitchFamily="34" charset="0"/>
                      </a:endParaRPr>
                    </a:p>
                  </a:txBody>
                  <a:tcPr/>
                </a:tc>
                <a:extLst>
                  <a:ext uri="{0D108BD9-81ED-4DB2-BD59-A6C34878D82A}">
                    <a16:rowId xmlns:a16="http://schemas.microsoft.com/office/drawing/2014/main" val="998105245"/>
                  </a:ext>
                </a:extLst>
              </a:tr>
              <a:tr h="722116">
                <a:tc>
                  <a:txBody>
                    <a:bodyPr/>
                    <a:lstStyle/>
                    <a:p>
                      <a:r>
                        <a:rPr lang="en-US" sz="2200" b="0" kern="1200">
                          <a:solidFill>
                            <a:schemeClr val="tx1"/>
                          </a:solidFill>
                          <a:effectLst/>
                        </a:rPr>
                        <a:t>Best Agent in C# </a:t>
                      </a:r>
                      <a:endParaRPr lang="en-US" sz="2200">
                        <a:solidFill>
                          <a:schemeClr val="tx1"/>
                        </a:solidFill>
                        <a:latin typeface="Aptos" panose="020B0004020202020204" pitchFamily="34" charset="0"/>
                      </a:endParaRP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2200" b="0" kern="1200">
                          <a:solidFill>
                            <a:schemeClr val="tx1"/>
                          </a:solidFill>
                          <a:effectLst/>
                        </a:rPr>
                        <a:t>$5,000</a:t>
                      </a:r>
                    </a:p>
                    <a:p>
                      <a:endParaRPr lang="en-US" sz="2200">
                        <a:solidFill>
                          <a:schemeClr val="tx1"/>
                        </a:solidFill>
                        <a:latin typeface="Aptos" panose="020B0004020202020204" pitchFamily="34" charset="0"/>
                      </a:endParaRPr>
                    </a:p>
                  </a:txBody>
                  <a:tcPr/>
                </a:tc>
                <a:extLst>
                  <a:ext uri="{0D108BD9-81ED-4DB2-BD59-A6C34878D82A}">
                    <a16:rowId xmlns:a16="http://schemas.microsoft.com/office/drawing/2014/main" val="1960521213"/>
                  </a:ext>
                </a:extLst>
              </a:tr>
              <a:tr h="722116">
                <a:tc>
                  <a:txBody>
                    <a:bodyPr/>
                    <a:lstStyle/>
                    <a:p>
                      <a:r>
                        <a:rPr lang="en-US" sz="2200" b="0" kern="1200">
                          <a:solidFill>
                            <a:schemeClr val="tx1"/>
                          </a:solidFill>
                          <a:effectLst/>
                        </a:rPr>
                        <a:t>Best Agent in Java </a:t>
                      </a:r>
                      <a:endParaRPr lang="en-US" sz="2200">
                        <a:solidFill>
                          <a:schemeClr val="tx1"/>
                        </a:solidFill>
                        <a:latin typeface="Aptos" panose="020B0004020202020204" pitchFamily="34" charset="0"/>
                      </a:endParaRP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2200" b="0" kern="1200">
                          <a:solidFill>
                            <a:schemeClr val="tx1"/>
                          </a:solidFill>
                          <a:effectLst/>
                        </a:rPr>
                        <a:t>$5,000</a:t>
                      </a:r>
                    </a:p>
                    <a:p>
                      <a:endParaRPr lang="en-US" sz="2200">
                        <a:solidFill>
                          <a:schemeClr val="tx1"/>
                        </a:solidFill>
                        <a:latin typeface="Aptos" panose="020B0004020202020204" pitchFamily="34" charset="0"/>
                      </a:endParaRPr>
                    </a:p>
                  </a:txBody>
                  <a:tcPr/>
                </a:tc>
                <a:extLst>
                  <a:ext uri="{0D108BD9-81ED-4DB2-BD59-A6C34878D82A}">
                    <a16:rowId xmlns:a16="http://schemas.microsoft.com/office/drawing/2014/main" val="1205271122"/>
                  </a:ext>
                </a:extLst>
              </a:tr>
              <a:tr h="722116">
                <a:tc>
                  <a:txBody>
                    <a:bodyPr/>
                    <a:lstStyle/>
                    <a:p>
                      <a:r>
                        <a:rPr lang="en-US" sz="2200" b="0" kern="1200">
                          <a:solidFill>
                            <a:schemeClr val="tx1"/>
                          </a:solidFill>
                          <a:effectLst/>
                        </a:rPr>
                        <a:t>Best Agent in JavaScript/TypeScript </a:t>
                      </a:r>
                      <a:endParaRPr lang="en-US" sz="2200">
                        <a:solidFill>
                          <a:schemeClr val="tx1"/>
                        </a:solidFill>
                        <a:latin typeface="Aptos" panose="020B0004020202020204" pitchFamily="34" charset="0"/>
                      </a:endParaRP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2200" b="0" kern="1200">
                          <a:solidFill>
                            <a:schemeClr val="tx1"/>
                          </a:solidFill>
                          <a:effectLst/>
                        </a:rPr>
                        <a:t>$5,000</a:t>
                      </a:r>
                    </a:p>
                    <a:p>
                      <a:endParaRPr lang="en-US" sz="2200">
                        <a:solidFill>
                          <a:schemeClr val="tx1"/>
                        </a:solidFill>
                        <a:latin typeface="Aptos" panose="020B0004020202020204" pitchFamily="34" charset="0"/>
                      </a:endParaRPr>
                    </a:p>
                  </a:txBody>
                  <a:tcPr/>
                </a:tc>
                <a:extLst>
                  <a:ext uri="{0D108BD9-81ED-4DB2-BD59-A6C34878D82A}">
                    <a16:rowId xmlns:a16="http://schemas.microsoft.com/office/drawing/2014/main" val="416779422"/>
                  </a:ext>
                </a:extLst>
              </a:tr>
              <a:tr h="646251">
                <a:tc>
                  <a:txBody>
                    <a:bodyPr/>
                    <a:lstStyle/>
                    <a:p>
                      <a:r>
                        <a:rPr lang="en-US" sz="2200" b="0" kern="1200">
                          <a:solidFill>
                            <a:schemeClr val="tx1"/>
                          </a:solidFill>
                          <a:effectLst/>
                        </a:rPr>
                        <a:t>Best Copilot Agent (with Microsoft Copilot Studio or 365 Agents SDK) </a:t>
                      </a:r>
                      <a:endParaRPr lang="en-US" sz="2200">
                        <a:solidFill>
                          <a:schemeClr val="tx1"/>
                        </a:solidFill>
                        <a:latin typeface="Aptos" panose="020B0004020202020204" pitchFamily="34" charset="0"/>
                      </a:endParaRPr>
                    </a:p>
                  </a:txBody>
                  <a:tcPr/>
                </a:tc>
                <a:tc>
                  <a:txBody>
                    <a:bodyPr/>
                    <a:lstStyle/>
                    <a:p>
                      <a:r>
                        <a:rPr lang="en-US" sz="2200" b="0" kern="1200">
                          <a:solidFill>
                            <a:schemeClr val="tx1"/>
                          </a:solidFill>
                          <a:effectLst/>
                        </a:rPr>
                        <a:t>$5,000</a:t>
                      </a:r>
                      <a:endParaRPr lang="en-US" sz="2200">
                        <a:solidFill>
                          <a:schemeClr val="tx1"/>
                        </a:solidFill>
                        <a:latin typeface="Aptos" panose="020B0004020202020204" pitchFamily="34" charset="0"/>
                      </a:endParaRPr>
                    </a:p>
                  </a:txBody>
                  <a:tcPr/>
                </a:tc>
                <a:extLst>
                  <a:ext uri="{0D108BD9-81ED-4DB2-BD59-A6C34878D82A}">
                    <a16:rowId xmlns:a16="http://schemas.microsoft.com/office/drawing/2014/main" val="732963978"/>
                  </a:ext>
                </a:extLst>
              </a:tr>
              <a:tr h="722116">
                <a:tc>
                  <a:txBody>
                    <a:bodyPr/>
                    <a:lstStyle/>
                    <a:p>
                      <a:r>
                        <a:rPr lang="en-US" sz="2200" b="0" kern="1200">
                          <a:solidFill>
                            <a:schemeClr val="tx1"/>
                          </a:solidFill>
                          <a:effectLst/>
                        </a:rPr>
                        <a:t>Best Azure AI Agent Service Usage </a:t>
                      </a:r>
                      <a:endParaRPr lang="en-US" sz="2200">
                        <a:solidFill>
                          <a:schemeClr val="tx1"/>
                        </a:solidFill>
                        <a:latin typeface="Aptos" panose="020B0004020202020204" pitchFamily="34" charset="0"/>
                      </a:endParaRP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2200" b="0" kern="1200">
                          <a:solidFill>
                            <a:schemeClr val="tx1"/>
                          </a:solidFill>
                          <a:effectLst/>
                        </a:rPr>
                        <a:t>$5,000</a:t>
                      </a:r>
                    </a:p>
                    <a:p>
                      <a:endParaRPr lang="en-US" sz="2200">
                        <a:solidFill>
                          <a:schemeClr val="tx1"/>
                        </a:solidFill>
                        <a:latin typeface="Aptos" panose="020B0004020202020204" pitchFamily="34" charset="0"/>
                      </a:endParaRPr>
                    </a:p>
                  </a:txBody>
                  <a:tcPr/>
                </a:tc>
                <a:extLst>
                  <a:ext uri="{0D108BD9-81ED-4DB2-BD59-A6C34878D82A}">
                    <a16:rowId xmlns:a16="http://schemas.microsoft.com/office/drawing/2014/main" val="1775448910"/>
                  </a:ext>
                </a:extLst>
              </a:tr>
            </a:tbl>
          </a:graphicData>
        </a:graphic>
      </p:graphicFrame>
      <p:sp>
        <p:nvSpPr>
          <p:cNvPr id="8" name="TextBox 7">
            <a:extLst>
              <a:ext uri="{FF2B5EF4-FFF2-40B4-BE49-F238E27FC236}">
                <a16:creationId xmlns:a16="http://schemas.microsoft.com/office/drawing/2014/main" id="{30183566-5F9C-0193-1801-5C486B8EF919}"/>
              </a:ext>
            </a:extLst>
          </p:cNvPr>
          <p:cNvSpPr txBox="1"/>
          <p:nvPr/>
        </p:nvSpPr>
        <p:spPr>
          <a:xfrm>
            <a:off x="9356035" y="463826"/>
            <a:ext cx="2928730" cy="553998"/>
          </a:xfrm>
          <a:prstGeom prst="rect">
            <a:avLst/>
          </a:prstGeom>
          <a:noFill/>
        </p:spPr>
        <p:txBody>
          <a:bodyPr wrap="square" lIns="0" tIns="0" rIns="0" bIns="0" rtlCol="0">
            <a:spAutoFit/>
          </a:bodyPr>
          <a:lstStyle/>
          <a:p>
            <a:pPr algn="l"/>
            <a:r>
              <a:rPr lang="en-US" i="1" err="1">
                <a:latin typeface="Aptos" panose="020B0004020202020204" pitchFamily="34" charset="0"/>
              </a:rPr>
              <a:t>Prize amount is per team,</a:t>
            </a:r>
          </a:p>
          <a:p>
            <a:pPr algn="l"/>
            <a:r>
              <a:rPr lang="en-US" i="1" err="1">
                <a:latin typeface="Aptos" panose="020B0004020202020204" pitchFamily="34" charset="0"/>
              </a:rPr>
              <a:t>not per team member!</a:t>
            </a:r>
          </a:p>
        </p:txBody>
      </p:sp>
    </p:spTree>
    <p:extLst>
      <p:ext uri="{BB962C8B-B14F-4D97-AF65-F5344CB8AC3E}">
        <p14:creationId xmlns:p14="http://schemas.microsoft.com/office/powerpoint/2010/main" val="284639448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82BBA-6023-4D43-B5AB-830B5E3462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4957D-5DF3-1A01-129A-34844315CCFA}"/>
              </a:ext>
            </a:extLst>
          </p:cNvPr>
          <p:cNvSpPr>
            <a:spLocks noGrp="1"/>
          </p:cNvSpPr>
          <p:nvPr>
            <p:ph type="title"/>
          </p:nvPr>
        </p:nvSpPr>
        <p:spPr/>
        <p:txBody>
          <a:bodyPr/>
          <a:lstStyle/>
          <a:p>
            <a:r>
              <a:rPr lang="en-US"/>
              <a:t>Register now</a:t>
            </a:r>
          </a:p>
        </p:txBody>
      </p:sp>
      <p:pic>
        <p:nvPicPr>
          <p:cNvPr id="4" name="Picture 3" descr="A screenshot of a computer&#10;&#10;AI-generated content may be incorrect.">
            <a:extLst>
              <a:ext uri="{FF2B5EF4-FFF2-40B4-BE49-F238E27FC236}">
                <a16:creationId xmlns:a16="http://schemas.microsoft.com/office/drawing/2014/main" id="{63C466D0-B871-603C-6044-5C62342B00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263" y="2255743"/>
            <a:ext cx="10278520" cy="4396416"/>
          </a:xfrm>
          <a:prstGeom prst="rect">
            <a:avLst/>
          </a:prstGeom>
          <a:ln>
            <a:solidFill>
              <a:schemeClr val="tx1"/>
            </a:solidFill>
          </a:ln>
        </p:spPr>
      </p:pic>
      <p:sp>
        <p:nvSpPr>
          <p:cNvPr id="6" name="TextBox 5">
            <a:extLst>
              <a:ext uri="{FF2B5EF4-FFF2-40B4-BE49-F238E27FC236}">
                <a16:creationId xmlns:a16="http://schemas.microsoft.com/office/drawing/2014/main" id="{96347925-D5D8-4D25-D840-FB55F04C5947}"/>
              </a:ext>
            </a:extLst>
          </p:cNvPr>
          <p:cNvSpPr txBox="1"/>
          <p:nvPr/>
        </p:nvSpPr>
        <p:spPr>
          <a:xfrm>
            <a:off x="588263" y="1641177"/>
            <a:ext cx="6811616" cy="461665"/>
          </a:xfrm>
          <a:prstGeom prst="rect">
            <a:avLst/>
          </a:prstGeom>
          <a:noFill/>
        </p:spPr>
        <p:txBody>
          <a:bodyPr wrap="square">
            <a:spAutoFit/>
          </a:bodyPr>
          <a:lstStyle/>
          <a:p>
            <a:r>
              <a:rPr lang="en-US" sz="2400">
                <a:hlinkClick r:id="rId4"/>
              </a:rPr>
              <a:t>https://aka.ms/agentshack/register</a:t>
            </a:r>
            <a:endParaRPr lang="en-US" sz="2400"/>
          </a:p>
        </p:txBody>
      </p:sp>
      <p:sp>
        <p:nvSpPr>
          <p:cNvPr id="9" name="TextBox 8">
            <a:extLst>
              <a:ext uri="{FF2B5EF4-FFF2-40B4-BE49-F238E27FC236}">
                <a16:creationId xmlns:a16="http://schemas.microsoft.com/office/drawing/2014/main" id="{FE77BD47-7F70-FBFB-FA40-A9B8451A61D1}"/>
              </a:ext>
            </a:extLst>
          </p:cNvPr>
          <p:cNvSpPr txBox="1"/>
          <p:nvPr/>
        </p:nvSpPr>
        <p:spPr>
          <a:xfrm>
            <a:off x="588263" y="1179512"/>
            <a:ext cx="6811616" cy="461665"/>
          </a:xfrm>
          <a:prstGeom prst="rect">
            <a:avLst/>
          </a:prstGeom>
          <a:noFill/>
        </p:spPr>
        <p:txBody>
          <a:bodyPr wrap="square">
            <a:spAutoFit/>
          </a:bodyPr>
          <a:lstStyle/>
          <a:p>
            <a:r>
              <a:rPr lang="en-US" sz="2400"/>
              <a:t>You must register to be eligible for prizes:</a:t>
            </a:r>
          </a:p>
        </p:txBody>
      </p:sp>
    </p:spTree>
    <p:extLst>
      <p:ext uri="{BB962C8B-B14F-4D97-AF65-F5344CB8AC3E}">
        <p14:creationId xmlns:p14="http://schemas.microsoft.com/office/powerpoint/2010/main" val="146422249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29125-BC13-9B25-3A96-CAE45CF75FAB}"/>
              </a:ext>
            </a:extLst>
          </p:cNvPr>
          <p:cNvSpPr>
            <a:spLocks noGrp="1"/>
          </p:cNvSpPr>
          <p:nvPr>
            <p:ph type="title"/>
          </p:nvPr>
        </p:nvSpPr>
        <p:spPr/>
        <p:txBody>
          <a:bodyPr/>
          <a:lstStyle/>
          <a:p>
            <a:r>
              <a:rPr lang="en-US"/>
              <a:t>Submission process</a:t>
            </a:r>
          </a:p>
        </p:txBody>
      </p:sp>
      <p:sp>
        <p:nvSpPr>
          <p:cNvPr id="3" name="Text Placeholder 2">
            <a:extLst>
              <a:ext uri="{FF2B5EF4-FFF2-40B4-BE49-F238E27FC236}">
                <a16:creationId xmlns:a16="http://schemas.microsoft.com/office/drawing/2014/main" id="{FF208B24-B134-CDDA-38C3-DBA021E2CBFE}"/>
              </a:ext>
            </a:extLst>
          </p:cNvPr>
          <p:cNvSpPr>
            <a:spLocks noGrp="1"/>
          </p:cNvSpPr>
          <p:nvPr>
            <p:ph type="body" sz="quarter" idx="10"/>
          </p:nvPr>
        </p:nvSpPr>
        <p:spPr>
          <a:xfrm>
            <a:off x="586390" y="1434370"/>
            <a:ext cx="7855245" cy="4136517"/>
          </a:xfrm>
        </p:spPr>
        <p:txBody>
          <a:bodyPr/>
          <a:lstStyle/>
          <a:p>
            <a:pPr marL="514350" indent="-514350">
              <a:buFont typeface="+mj-lt"/>
              <a:buAutoNum type="arabicPeriod"/>
            </a:pPr>
            <a:r>
              <a:rPr lang="en-US"/>
              <a:t>Make sure you and any team members (up to 4 total) are all registered for the hackathon.</a:t>
            </a:r>
          </a:p>
          <a:p>
            <a:pPr marL="514350" indent="-514350">
              <a:buFont typeface="+mj-lt"/>
              <a:buAutoNum type="arabicPeriod"/>
            </a:pPr>
            <a:r>
              <a:rPr lang="en-US"/>
              <a:t>Before April 30</a:t>
            </a:r>
            <a:r>
              <a:rPr lang="en-US" baseline="30000"/>
              <a:t>th</a:t>
            </a:r>
            <a:r>
              <a:rPr lang="en-US"/>
              <a:t> 11:59 PM PST, submit your hack using the process described @ </a:t>
            </a:r>
            <a:r>
              <a:rPr lang="en-US">
                <a:hlinkClick r:id="rId2"/>
              </a:rPr>
              <a:t>https://aka.ms/agentshack/submit</a:t>
            </a:r>
            <a:br>
              <a:rPr lang="en-US"/>
            </a:br>
            <a:r>
              <a:rPr lang="en-US"/>
              <a:t>A </a:t>
            </a:r>
            <a:r>
              <a:rPr lang="en-US" b="1"/>
              <a:t>project repository URL </a:t>
            </a:r>
            <a:r>
              <a:rPr lang="en-US"/>
              <a:t>and </a:t>
            </a:r>
            <a:r>
              <a:rPr lang="en-US" b="1"/>
              <a:t>short demo video </a:t>
            </a:r>
            <a:r>
              <a:rPr lang="en-US"/>
              <a:t>is required, while a deployed endpoint is optional.</a:t>
            </a:r>
          </a:p>
          <a:p>
            <a:pPr marL="514350" indent="-514350">
              <a:buFont typeface="+mj-lt"/>
              <a:buAutoNum type="arabicPeriod"/>
            </a:pPr>
            <a:r>
              <a:rPr lang="en-US"/>
              <a:t>Wait a few weeks for judges to finish their scoring. We'll notify all participants when winners have been announced.</a:t>
            </a:r>
          </a:p>
          <a:p>
            <a:pPr marL="514350" indent="-514350">
              <a:buFont typeface="+mj-lt"/>
              <a:buAutoNum type="arabicPeriod"/>
            </a:pPr>
            <a:endParaRPr lang="en-US"/>
          </a:p>
        </p:txBody>
      </p:sp>
      <p:pic>
        <p:nvPicPr>
          <p:cNvPr id="5" name="Picture 4" descr="A screenshot of a computer&#10;&#10;AI-generated content may be incorrect.">
            <a:extLst>
              <a:ext uri="{FF2B5EF4-FFF2-40B4-BE49-F238E27FC236}">
                <a16:creationId xmlns:a16="http://schemas.microsoft.com/office/drawing/2014/main" id="{E94A7A80-5E8F-E14F-F26B-772687BE91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254" y="0"/>
            <a:ext cx="3916746" cy="6858000"/>
          </a:xfrm>
          <a:prstGeom prst="rect">
            <a:avLst/>
          </a:prstGeom>
        </p:spPr>
      </p:pic>
    </p:spTree>
    <p:extLst>
      <p:ext uri="{BB962C8B-B14F-4D97-AF65-F5344CB8AC3E}">
        <p14:creationId xmlns:p14="http://schemas.microsoft.com/office/powerpoint/2010/main" val="164155709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A3031-A694-FE98-A30F-D88D4E612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A5058-2DF5-1E78-D504-B50692005670}"/>
              </a:ext>
            </a:extLst>
          </p:cNvPr>
          <p:cNvSpPr>
            <a:spLocks noGrp="1"/>
          </p:cNvSpPr>
          <p:nvPr>
            <p:ph type="title"/>
          </p:nvPr>
        </p:nvSpPr>
        <p:spPr>
          <a:xfrm>
            <a:off x="585215" y="2839324"/>
            <a:ext cx="11805567" cy="692497"/>
          </a:xfrm>
        </p:spPr>
        <p:txBody>
          <a:bodyPr/>
          <a:lstStyle/>
          <a:p>
            <a:r>
              <a:rPr lang="en-US" sz="5000"/>
              <a:t>Agents 101</a:t>
            </a:r>
          </a:p>
        </p:txBody>
      </p:sp>
    </p:spTree>
    <p:extLst>
      <p:ext uri="{BB962C8B-B14F-4D97-AF65-F5344CB8AC3E}">
        <p14:creationId xmlns:p14="http://schemas.microsoft.com/office/powerpoint/2010/main" val="1684456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0" y="1216022"/>
            <a:ext cx="6542843" cy="1865319"/>
          </a:xfrm>
          <a:prstGeom prst="rect">
            <a:avLst/>
          </a:prstGeom>
        </p:spPr>
        <p:txBody>
          <a:bodyPr wrap="square" lIns="0" tIns="0" rIns="0" bIns="0" rtlCol="0" anchor="t">
            <a:spAutoFit/>
          </a:bodyPr>
          <a:lstStyle/>
          <a:p>
            <a:pPr algn="ctr">
              <a:lnSpc>
                <a:spcPts val="15488"/>
              </a:lnSpc>
              <a:spcBef>
                <a:spcPct val="0"/>
              </a:spcBef>
            </a:pPr>
            <a:r>
              <a:rPr lang="en-US" sz="11063">
                <a:solidFill>
                  <a:srgbClr val="227CE8"/>
                </a:solidFill>
                <a:latin typeface="League Spartan"/>
                <a:ea typeface="League Spartan"/>
                <a:cs typeface="League Spartan"/>
                <a:sym typeface="League Spartan"/>
              </a:rPr>
              <a:t>AI Agents</a:t>
            </a:r>
          </a:p>
        </p:txBody>
      </p:sp>
      <p:sp>
        <p:nvSpPr>
          <p:cNvPr id="4" name="TextBox 4"/>
          <p:cNvSpPr txBox="1"/>
          <p:nvPr/>
        </p:nvSpPr>
        <p:spPr>
          <a:xfrm>
            <a:off x="596158" y="2970642"/>
            <a:ext cx="4145910" cy="666657"/>
          </a:xfrm>
          <a:prstGeom prst="rect">
            <a:avLst/>
          </a:prstGeom>
        </p:spPr>
        <p:txBody>
          <a:bodyPr wrap="square" lIns="0" tIns="0" rIns="0" bIns="0" rtlCol="0" anchor="t">
            <a:spAutoFit/>
          </a:bodyPr>
          <a:lstStyle/>
          <a:p>
            <a:pPr algn="ctr">
              <a:lnSpc>
                <a:spcPts val="5360"/>
              </a:lnSpc>
              <a:spcBef>
                <a:spcPct val="0"/>
              </a:spcBef>
            </a:pPr>
            <a:r>
              <a:rPr lang="en-US" sz="3828">
                <a:solidFill>
                  <a:srgbClr val="F152F9"/>
                </a:solidFill>
                <a:latin typeface="Poppins"/>
                <a:ea typeface="Poppins"/>
                <a:cs typeface="Poppins"/>
                <a:sym typeface="Poppins"/>
              </a:rPr>
              <a:t>For Beginners</a:t>
            </a:r>
          </a:p>
        </p:txBody>
      </p:sp>
      <p:grpSp>
        <p:nvGrpSpPr>
          <p:cNvPr id="5" name="Group 5"/>
          <p:cNvGrpSpPr/>
          <p:nvPr/>
        </p:nvGrpSpPr>
        <p:grpSpPr>
          <a:xfrm>
            <a:off x="4535123" y="213261"/>
            <a:ext cx="3312625" cy="1199160"/>
            <a:chOff x="0" y="0"/>
            <a:chExt cx="1820992" cy="406400"/>
          </a:xfrm>
        </p:grpSpPr>
        <p:sp>
          <p:nvSpPr>
            <p:cNvPr id="6" name="Freeform 6"/>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227CE9"/>
            </a:solidFill>
          </p:spPr>
          <p:txBody>
            <a:bodyPr/>
            <a:lstStyle/>
            <a:p>
              <a:endParaRPr lang="en-US" sz="1200"/>
            </a:p>
          </p:txBody>
        </p:sp>
        <p:sp>
          <p:nvSpPr>
            <p:cNvPr id="7" name="TextBox 7"/>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8" name="Group 8"/>
          <p:cNvGrpSpPr/>
          <p:nvPr/>
        </p:nvGrpSpPr>
        <p:grpSpPr>
          <a:xfrm>
            <a:off x="8572192" y="213261"/>
            <a:ext cx="3312625" cy="739295"/>
            <a:chOff x="0" y="0"/>
            <a:chExt cx="1820992" cy="406400"/>
          </a:xfrm>
        </p:grpSpPr>
        <p:sp>
          <p:nvSpPr>
            <p:cNvPr id="9" name="Freeform 9"/>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F152F9"/>
            </a:solidFill>
          </p:spPr>
          <p:txBody>
            <a:bodyPr/>
            <a:lstStyle/>
            <a:p>
              <a:endParaRPr lang="en-US" sz="1200"/>
            </a:p>
          </p:txBody>
        </p:sp>
        <p:sp>
          <p:nvSpPr>
            <p:cNvPr id="10" name="TextBox 10"/>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11" name="Group 11"/>
          <p:cNvGrpSpPr/>
          <p:nvPr/>
        </p:nvGrpSpPr>
        <p:grpSpPr>
          <a:xfrm>
            <a:off x="8572192" y="1412420"/>
            <a:ext cx="3312625" cy="1064178"/>
            <a:chOff x="0" y="-97756"/>
            <a:chExt cx="1820992" cy="584992"/>
          </a:xfrm>
        </p:grpSpPr>
        <p:sp>
          <p:nvSpPr>
            <p:cNvPr id="12" name="Freeform 12"/>
            <p:cNvSpPr/>
            <p:nvPr/>
          </p:nvSpPr>
          <p:spPr>
            <a:xfrm>
              <a:off x="0" y="-97756"/>
              <a:ext cx="1820992" cy="584992"/>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227CE9"/>
            </a:solidFill>
          </p:spPr>
          <p:txBody>
            <a:bodyPr/>
            <a:lstStyle/>
            <a:p>
              <a:endParaRPr lang="en-US" sz="1200"/>
            </a:p>
          </p:txBody>
        </p:sp>
        <p:sp>
          <p:nvSpPr>
            <p:cNvPr id="13" name="TextBox 13"/>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14" name="Group 14"/>
          <p:cNvGrpSpPr/>
          <p:nvPr/>
        </p:nvGrpSpPr>
        <p:grpSpPr>
          <a:xfrm>
            <a:off x="8572192" y="2851633"/>
            <a:ext cx="3312625" cy="739295"/>
            <a:chOff x="0" y="0"/>
            <a:chExt cx="1820992" cy="406400"/>
          </a:xfrm>
        </p:grpSpPr>
        <p:sp>
          <p:nvSpPr>
            <p:cNvPr id="15" name="Freeform 15"/>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F152F9"/>
            </a:solidFill>
          </p:spPr>
          <p:txBody>
            <a:bodyPr/>
            <a:lstStyle/>
            <a:p>
              <a:endParaRPr lang="en-US" sz="1200"/>
            </a:p>
          </p:txBody>
        </p:sp>
        <p:sp>
          <p:nvSpPr>
            <p:cNvPr id="16" name="TextBox 16"/>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17" name="Group 17"/>
          <p:cNvGrpSpPr/>
          <p:nvPr/>
        </p:nvGrpSpPr>
        <p:grpSpPr>
          <a:xfrm>
            <a:off x="6413875" y="3902555"/>
            <a:ext cx="3312625" cy="739295"/>
            <a:chOff x="0" y="0"/>
            <a:chExt cx="1820992" cy="406400"/>
          </a:xfrm>
        </p:grpSpPr>
        <p:sp>
          <p:nvSpPr>
            <p:cNvPr id="18" name="Freeform 18"/>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227CE9"/>
            </a:solidFill>
          </p:spPr>
          <p:txBody>
            <a:bodyPr/>
            <a:lstStyle/>
            <a:p>
              <a:endParaRPr lang="en-US" sz="1200"/>
            </a:p>
          </p:txBody>
        </p:sp>
        <p:sp>
          <p:nvSpPr>
            <p:cNvPr id="19" name="TextBox 19"/>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20" name="Group 20"/>
          <p:cNvGrpSpPr/>
          <p:nvPr/>
        </p:nvGrpSpPr>
        <p:grpSpPr>
          <a:xfrm>
            <a:off x="8572192" y="5063257"/>
            <a:ext cx="3312625" cy="739295"/>
            <a:chOff x="0" y="0"/>
            <a:chExt cx="1820992" cy="406400"/>
          </a:xfrm>
        </p:grpSpPr>
        <p:sp>
          <p:nvSpPr>
            <p:cNvPr id="21" name="Freeform 21"/>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227CE9"/>
            </a:solidFill>
          </p:spPr>
          <p:txBody>
            <a:bodyPr/>
            <a:lstStyle/>
            <a:p>
              <a:endParaRPr lang="en-US" sz="1200"/>
            </a:p>
          </p:txBody>
        </p:sp>
        <p:sp>
          <p:nvSpPr>
            <p:cNvPr id="22" name="TextBox 22"/>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23" name="Group 23"/>
          <p:cNvGrpSpPr/>
          <p:nvPr/>
        </p:nvGrpSpPr>
        <p:grpSpPr>
          <a:xfrm>
            <a:off x="2518391" y="3902555"/>
            <a:ext cx="3312625" cy="739295"/>
            <a:chOff x="0" y="0"/>
            <a:chExt cx="1820992" cy="406400"/>
          </a:xfrm>
        </p:grpSpPr>
        <p:sp>
          <p:nvSpPr>
            <p:cNvPr id="24" name="Freeform 24"/>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F152F9"/>
            </a:solidFill>
          </p:spPr>
          <p:txBody>
            <a:bodyPr/>
            <a:lstStyle/>
            <a:p>
              <a:endParaRPr lang="en-US" sz="1200"/>
            </a:p>
          </p:txBody>
        </p:sp>
        <p:sp>
          <p:nvSpPr>
            <p:cNvPr id="25" name="TextBox 25"/>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26" name="Group 26"/>
          <p:cNvGrpSpPr/>
          <p:nvPr/>
        </p:nvGrpSpPr>
        <p:grpSpPr>
          <a:xfrm>
            <a:off x="498054" y="213261"/>
            <a:ext cx="3312625" cy="1199160"/>
            <a:chOff x="0" y="0"/>
            <a:chExt cx="1820992" cy="406400"/>
          </a:xfrm>
        </p:grpSpPr>
        <p:sp>
          <p:nvSpPr>
            <p:cNvPr id="27" name="Freeform 27"/>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F152F9"/>
            </a:solidFill>
          </p:spPr>
          <p:txBody>
            <a:bodyPr/>
            <a:lstStyle/>
            <a:p>
              <a:endParaRPr lang="en-US" sz="1200"/>
            </a:p>
          </p:txBody>
        </p:sp>
        <p:sp>
          <p:nvSpPr>
            <p:cNvPr id="28" name="TextBox 28"/>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29" name="Group 29"/>
          <p:cNvGrpSpPr/>
          <p:nvPr/>
        </p:nvGrpSpPr>
        <p:grpSpPr>
          <a:xfrm>
            <a:off x="4831710" y="5063257"/>
            <a:ext cx="3312625" cy="739295"/>
            <a:chOff x="0" y="0"/>
            <a:chExt cx="1820992" cy="406400"/>
          </a:xfrm>
        </p:grpSpPr>
        <p:sp>
          <p:nvSpPr>
            <p:cNvPr id="30" name="Freeform 30"/>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F152F9"/>
            </a:solidFill>
          </p:spPr>
          <p:txBody>
            <a:bodyPr/>
            <a:lstStyle/>
            <a:p>
              <a:endParaRPr lang="en-US" sz="1200"/>
            </a:p>
          </p:txBody>
        </p:sp>
        <p:sp>
          <p:nvSpPr>
            <p:cNvPr id="31" name="TextBox 31"/>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32" name="Group 32"/>
          <p:cNvGrpSpPr/>
          <p:nvPr/>
        </p:nvGrpSpPr>
        <p:grpSpPr>
          <a:xfrm>
            <a:off x="862078" y="5063257"/>
            <a:ext cx="3312625" cy="739295"/>
            <a:chOff x="0" y="0"/>
            <a:chExt cx="1820992" cy="406400"/>
          </a:xfrm>
        </p:grpSpPr>
        <p:sp>
          <p:nvSpPr>
            <p:cNvPr id="33" name="Freeform 33"/>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227CE9"/>
            </a:solidFill>
          </p:spPr>
          <p:txBody>
            <a:bodyPr/>
            <a:lstStyle/>
            <a:p>
              <a:endParaRPr lang="en-US" sz="1200"/>
            </a:p>
          </p:txBody>
        </p:sp>
        <p:sp>
          <p:nvSpPr>
            <p:cNvPr id="34" name="TextBox 34"/>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sp>
        <p:nvSpPr>
          <p:cNvPr id="35" name="TextBox 35"/>
          <p:cNvSpPr txBox="1"/>
          <p:nvPr/>
        </p:nvSpPr>
        <p:spPr>
          <a:xfrm>
            <a:off x="498081" y="5963845"/>
            <a:ext cx="11486655" cy="683392"/>
          </a:xfrm>
          <a:prstGeom prst="rect">
            <a:avLst/>
          </a:prstGeom>
        </p:spPr>
        <p:txBody>
          <a:bodyPr wrap="square" lIns="0" tIns="0" rIns="0" bIns="0" rtlCol="0" anchor="t">
            <a:spAutoFit/>
          </a:bodyPr>
          <a:lstStyle/>
          <a:p>
            <a:pPr algn="ctr">
              <a:lnSpc>
                <a:spcPts val="6229"/>
              </a:lnSpc>
            </a:pPr>
            <a:r>
              <a:rPr lang="en-US" sz="3000">
                <a:solidFill>
                  <a:schemeClr val="accent1"/>
                </a:solidFill>
                <a:ea typeface="Canva Sans Bold"/>
                <a:cs typeface="Canva Sans Bold"/>
                <a:sym typeface="Canva Sans Bold"/>
                <a:hlinkClick r:id="rId3">
                  <a:extLst>
                    <a:ext uri="{A12FA001-AC4F-418D-AE19-62706E023703}">
                      <ahyp:hlinkClr xmlns:ahyp="http://schemas.microsoft.com/office/drawing/2018/hyperlinkcolor" val="tx"/>
                    </a:ext>
                  </a:extLst>
                </a:hlinkClick>
              </a:rPr>
              <a:t>aka.ms/ai-agents-beginners</a:t>
            </a:r>
            <a:endParaRPr lang="en-US" sz="3000">
              <a:solidFill>
                <a:schemeClr val="accent1"/>
              </a:solidFill>
              <a:ea typeface="Canva Sans Bold"/>
              <a:cs typeface="Canva Sans Bold"/>
              <a:sym typeface="Canva Sans Bold"/>
            </a:endParaRPr>
          </a:p>
        </p:txBody>
      </p:sp>
      <p:sp>
        <p:nvSpPr>
          <p:cNvPr id="36" name="TextBox 36"/>
          <p:cNvSpPr txBox="1"/>
          <p:nvPr/>
        </p:nvSpPr>
        <p:spPr>
          <a:xfrm>
            <a:off x="824288" y="288449"/>
            <a:ext cx="2637369" cy="1008096"/>
          </a:xfrm>
          <a:prstGeom prst="rect">
            <a:avLst/>
          </a:prstGeom>
        </p:spPr>
        <p:txBody>
          <a:bodyPr wrap="square" lIns="0" tIns="0" rIns="0" bIns="0" rtlCol="0" anchor="t">
            <a:spAutoFit/>
          </a:bodyPr>
          <a:lstStyle/>
          <a:p>
            <a:pPr algn="ctr">
              <a:lnSpc>
                <a:spcPts val="4019"/>
              </a:lnSpc>
              <a:spcBef>
                <a:spcPct val="0"/>
              </a:spcBef>
            </a:pPr>
            <a:r>
              <a:rPr lang="en-US" sz="2870">
                <a:solidFill>
                  <a:srgbClr val="FFFFFF"/>
                </a:solidFill>
                <a:latin typeface="Poppins"/>
                <a:ea typeface="Poppins"/>
                <a:cs typeface="Poppins"/>
                <a:sym typeface="Poppins"/>
              </a:rPr>
              <a:t>Intro to</a:t>
            </a:r>
          </a:p>
          <a:p>
            <a:pPr algn="ctr">
              <a:lnSpc>
                <a:spcPts val="4019"/>
              </a:lnSpc>
              <a:spcBef>
                <a:spcPct val="0"/>
              </a:spcBef>
            </a:pPr>
            <a:r>
              <a:rPr lang="en-US" sz="2870">
                <a:solidFill>
                  <a:srgbClr val="FFFFFF"/>
                </a:solidFill>
                <a:latin typeface="Poppins"/>
                <a:ea typeface="Poppins"/>
                <a:cs typeface="Poppins"/>
                <a:sym typeface="Poppins"/>
              </a:rPr>
              <a:t>Agents</a:t>
            </a:r>
          </a:p>
        </p:txBody>
      </p:sp>
      <p:sp>
        <p:nvSpPr>
          <p:cNvPr id="37" name="TextBox 37"/>
          <p:cNvSpPr txBox="1"/>
          <p:nvPr/>
        </p:nvSpPr>
        <p:spPr>
          <a:xfrm>
            <a:off x="4742068" y="360490"/>
            <a:ext cx="2898735" cy="765594"/>
          </a:xfrm>
          <a:prstGeom prst="rect">
            <a:avLst/>
          </a:prstGeom>
        </p:spPr>
        <p:txBody>
          <a:bodyPr lIns="0" tIns="0" rIns="0" bIns="0" rtlCol="0" anchor="t">
            <a:spAutoFit/>
          </a:bodyPr>
          <a:lstStyle/>
          <a:p>
            <a:pPr algn="ctr">
              <a:lnSpc>
                <a:spcPts val="3043"/>
              </a:lnSpc>
              <a:spcBef>
                <a:spcPct val="0"/>
              </a:spcBef>
            </a:pPr>
            <a:r>
              <a:rPr lang="en-US" sz="2400">
                <a:solidFill>
                  <a:srgbClr val="FFFFFF"/>
                </a:solidFill>
                <a:latin typeface="Poppins"/>
                <a:ea typeface="Poppins"/>
                <a:cs typeface="Poppins"/>
                <a:sym typeface="Poppins"/>
              </a:rPr>
              <a:t>AI agent</a:t>
            </a:r>
          </a:p>
          <a:p>
            <a:pPr algn="ctr">
              <a:lnSpc>
                <a:spcPts val="3043"/>
              </a:lnSpc>
              <a:spcBef>
                <a:spcPct val="0"/>
              </a:spcBef>
            </a:pPr>
            <a:r>
              <a:rPr lang="en-US" sz="2400">
                <a:solidFill>
                  <a:srgbClr val="FFFFFF"/>
                </a:solidFill>
                <a:latin typeface="Poppins"/>
                <a:ea typeface="Poppins"/>
                <a:cs typeface="Poppins"/>
                <a:sym typeface="Poppins"/>
              </a:rPr>
              <a:t>Frameworks</a:t>
            </a:r>
          </a:p>
        </p:txBody>
      </p:sp>
      <p:sp>
        <p:nvSpPr>
          <p:cNvPr id="38" name="TextBox 38"/>
          <p:cNvSpPr txBox="1"/>
          <p:nvPr/>
        </p:nvSpPr>
        <p:spPr>
          <a:xfrm>
            <a:off x="8669398" y="366774"/>
            <a:ext cx="3118212" cy="380873"/>
          </a:xfrm>
          <a:prstGeom prst="rect">
            <a:avLst/>
          </a:prstGeom>
        </p:spPr>
        <p:txBody>
          <a:bodyPr lIns="0" tIns="0" rIns="0" bIns="0" rtlCol="0" anchor="t">
            <a:spAutoFit/>
          </a:bodyPr>
          <a:lstStyle/>
          <a:p>
            <a:pPr algn="ctr">
              <a:lnSpc>
                <a:spcPts val="3043"/>
              </a:lnSpc>
              <a:spcBef>
                <a:spcPct val="0"/>
              </a:spcBef>
            </a:pPr>
            <a:r>
              <a:rPr lang="en-US" sz="2400">
                <a:solidFill>
                  <a:srgbClr val="FFFFFF"/>
                </a:solidFill>
                <a:latin typeface="Poppins"/>
                <a:ea typeface="Poppins"/>
                <a:cs typeface="Poppins"/>
                <a:sym typeface="Poppins"/>
              </a:rPr>
              <a:t>Design patterns</a:t>
            </a:r>
          </a:p>
        </p:txBody>
      </p:sp>
      <p:sp>
        <p:nvSpPr>
          <p:cNvPr id="39" name="TextBox 39"/>
          <p:cNvSpPr txBox="1"/>
          <p:nvPr/>
        </p:nvSpPr>
        <p:spPr>
          <a:xfrm>
            <a:off x="8311416" y="1699249"/>
            <a:ext cx="3834175" cy="490519"/>
          </a:xfrm>
          <a:prstGeom prst="rect">
            <a:avLst/>
          </a:prstGeom>
        </p:spPr>
        <p:txBody>
          <a:bodyPr lIns="0" tIns="0" rIns="0" bIns="0" rtlCol="0" anchor="t">
            <a:spAutoFit/>
          </a:bodyPr>
          <a:lstStyle/>
          <a:p>
            <a:pPr algn="ctr">
              <a:lnSpc>
                <a:spcPts val="3742"/>
              </a:lnSpc>
              <a:spcBef>
                <a:spcPct val="0"/>
              </a:spcBef>
            </a:pPr>
            <a:r>
              <a:rPr lang="en-US" sz="3500">
                <a:solidFill>
                  <a:srgbClr val="FFFFFF"/>
                </a:solidFill>
                <a:latin typeface="Poppins"/>
                <a:ea typeface="Poppins"/>
                <a:cs typeface="Poppins"/>
                <a:sym typeface="Poppins"/>
              </a:rPr>
              <a:t>Tool use</a:t>
            </a:r>
          </a:p>
        </p:txBody>
      </p:sp>
      <p:sp>
        <p:nvSpPr>
          <p:cNvPr id="40" name="TextBox 40"/>
          <p:cNvSpPr txBox="1"/>
          <p:nvPr/>
        </p:nvSpPr>
        <p:spPr>
          <a:xfrm>
            <a:off x="8311417" y="2941866"/>
            <a:ext cx="3834175" cy="458715"/>
          </a:xfrm>
          <a:prstGeom prst="rect">
            <a:avLst/>
          </a:prstGeom>
        </p:spPr>
        <p:txBody>
          <a:bodyPr lIns="0" tIns="0" rIns="0" bIns="0" rtlCol="0" anchor="t">
            <a:spAutoFit/>
          </a:bodyPr>
          <a:lstStyle/>
          <a:p>
            <a:pPr algn="ctr">
              <a:lnSpc>
                <a:spcPts val="3742"/>
              </a:lnSpc>
              <a:spcBef>
                <a:spcPct val="0"/>
              </a:spcBef>
            </a:pPr>
            <a:r>
              <a:rPr lang="en-US" sz="2673">
                <a:solidFill>
                  <a:srgbClr val="FFFFFF"/>
                </a:solidFill>
                <a:latin typeface="Poppins"/>
                <a:ea typeface="Poppins"/>
                <a:cs typeface="Poppins"/>
                <a:sym typeface="Poppins"/>
              </a:rPr>
              <a:t>Agentic RAG</a:t>
            </a:r>
          </a:p>
        </p:txBody>
      </p:sp>
      <p:sp>
        <p:nvSpPr>
          <p:cNvPr id="41" name="TextBox 41"/>
          <p:cNvSpPr txBox="1"/>
          <p:nvPr/>
        </p:nvSpPr>
        <p:spPr>
          <a:xfrm>
            <a:off x="2789448" y="4102205"/>
            <a:ext cx="2770509" cy="352019"/>
          </a:xfrm>
          <a:prstGeom prst="rect">
            <a:avLst/>
          </a:prstGeom>
        </p:spPr>
        <p:txBody>
          <a:bodyPr lIns="0" tIns="0" rIns="0" bIns="0" rtlCol="0" anchor="t">
            <a:spAutoFit/>
          </a:bodyPr>
          <a:lstStyle/>
          <a:p>
            <a:pPr algn="ctr">
              <a:lnSpc>
                <a:spcPts val="2703"/>
              </a:lnSpc>
            </a:pPr>
            <a:r>
              <a:rPr lang="en-US" sz="2400">
                <a:solidFill>
                  <a:srgbClr val="FFFFFF"/>
                </a:solidFill>
                <a:latin typeface="Poppins"/>
                <a:ea typeface="Poppins"/>
                <a:cs typeface="Poppins"/>
                <a:sym typeface="Poppins"/>
              </a:rPr>
              <a:t>Trustworthiness</a:t>
            </a:r>
          </a:p>
        </p:txBody>
      </p:sp>
      <p:sp>
        <p:nvSpPr>
          <p:cNvPr id="42" name="TextBox 42"/>
          <p:cNvSpPr txBox="1"/>
          <p:nvPr/>
        </p:nvSpPr>
        <p:spPr>
          <a:xfrm>
            <a:off x="6684932" y="4099277"/>
            <a:ext cx="2770509" cy="355867"/>
          </a:xfrm>
          <a:prstGeom prst="rect">
            <a:avLst/>
          </a:prstGeom>
        </p:spPr>
        <p:txBody>
          <a:bodyPr lIns="0" tIns="0" rIns="0" bIns="0" rtlCol="0" anchor="t">
            <a:spAutoFit/>
          </a:bodyPr>
          <a:lstStyle/>
          <a:p>
            <a:pPr algn="ctr">
              <a:lnSpc>
                <a:spcPts val="2703"/>
              </a:lnSpc>
            </a:pPr>
            <a:r>
              <a:rPr lang="en-US" sz="2500">
                <a:solidFill>
                  <a:srgbClr val="FFFFFF"/>
                </a:solidFill>
                <a:latin typeface="Poppins"/>
                <a:ea typeface="Poppins"/>
                <a:cs typeface="Poppins"/>
                <a:sym typeface="Poppins"/>
              </a:rPr>
              <a:t>Planning</a:t>
            </a:r>
          </a:p>
        </p:txBody>
      </p:sp>
      <p:sp>
        <p:nvSpPr>
          <p:cNvPr id="43" name="TextBox 43"/>
          <p:cNvSpPr txBox="1"/>
          <p:nvPr/>
        </p:nvSpPr>
        <p:spPr>
          <a:xfrm>
            <a:off x="1009437" y="5180784"/>
            <a:ext cx="2950582" cy="419217"/>
          </a:xfrm>
          <a:prstGeom prst="rect">
            <a:avLst/>
          </a:prstGeom>
        </p:spPr>
        <p:txBody>
          <a:bodyPr lIns="0" tIns="0" rIns="0" bIns="0" rtlCol="0" anchor="t">
            <a:spAutoFit/>
          </a:bodyPr>
          <a:lstStyle/>
          <a:p>
            <a:pPr algn="ctr">
              <a:lnSpc>
                <a:spcPts val="3357"/>
              </a:lnSpc>
              <a:spcBef>
                <a:spcPct val="0"/>
              </a:spcBef>
            </a:pPr>
            <a:r>
              <a:rPr lang="en-US" sz="2397">
                <a:solidFill>
                  <a:srgbClr val="FFFFFF"/>
                </a:solidFill>
                <a:latin typeface="Poppins"/>
                <a:ea typeface="Poppins"/>
                <a:cs typeface="Poppins"/>
                <a:sym typeface="Poppins"/>
              </a:rPr>
              <a:t>Multi-agents</a:t>
            </a:r>
          </a:p>
        </p:txBody>
      </p:sp>
      <p:sp>
        <p:nvSpPr>
          <p:cNvPr id="44" name="TextBox 44"/>
          <p:cNvSpPr txBox="1"/>
          <p:nvPr/>
        </p:nvSpPr>
        <p:spPr>
          <a:xfrm>
            <a:off x="5012732" y="5180784"/>
            <a:ext cx="2950582" cy="419217"/>
          </a:xfrm>
          <a:prstGeom prst="rect">
            <a:avLst/>
          </a:prstGeom>
        </p:spPr>
        <p:txBody>
          <a:bodyPr lIns="0" tIns="0" rIns="0" bIns="0" rtlCol="0" anchor="t">
            <a:spAutoFit/>
          </a:bodyPr>
          <a:lstStyle/>
          <a:p>
            <a:pPr algn="ctr">
              <a:lnSpc>
                <a:spcPts val="3357"/>
              </a:lnSpc>
              <a:spcBef>
                <a:spcPct val="0"/>
              </a:spcBef>
            </a:pPr>
            <a:r>
              <a:rPr lang="en-US" sz="2397">
                <a:solidFill>
                  <a:srgbClr val="FFFFFF"/>
                </a:solidFill>
                <a:latin typeface="Poppins"/>
                <a:ea typeface="Poppins"/>
                <a:cs typeface="Poppins"/>
                <a:sym typeface="Poppins"/>
              </a:rPr>
              <a:t>Metacognition</a:t>
            </a:r>
          </a:p>
        </p:txBody>
      </p:sp>
      <p:sp>
        <p:nvSpPr>
          <p:cNvPr id="45" name="TextBox 45"/>
          <p:cNvSpPr txBox="1"/>
          <p:nvPr/>
        </p:nvSpPr>
        <p:spPr>
          <a:xfrm>
            <a:off x="9022263" y="5092158"/>
            <a:ext cx="2412479" cy="681340"/>
          </a:xfrm>
          <a:prstGeom prst="rect">
            <a:avLst/>
          </a:prstGeom>
        </p:spPr>
        <p:txBody>
          <a:bodyPr lIns="0" tIns="0" rIns="0" bIns="0" rtlCol="0" anchor="t">
            <a:spAutoFit/>
          </a:bodyPr>
          <a:lstStyle/>
          <a:p>
            <a:pPr algn="ctr">
              <a:lnSpc>
                <a:spcPts val="2745"/>
              </a:lnSpc>
            </a:pPr>
            <a:r>
              <a:rPr lang="en-US" sz="1960">
                <a:solidFill>
                  <a:srgbClr val="FFFFFF"/>
                </a:solidFill>
                <a:latin typeface="Poppins"/>
                <a:ea typeface="Poppins"/>
                <a:cs typeface="Poppins"/>
                <a:sym typeface="Poppins"/>
              </a:rPr>
              <a:t>Agents in Production</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011E-BF8A-F754-D24C-9961CAA96B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C8942-DA45-49E3-ADE6-6766840A6EED}"/>
              </a:ext>
            </a:extLst>
          </p:cNvPr>
          <p:cNvSpPr>
            <a:spLocks noGrp="1"/>
          </p:cNvSpPr>
          <p:nvPr>
            <p:ph type="title"/>
          </p:nvPr>
        </p:nvSpPr>
        <p:spPr>
          <a:xfrm>
            <a:off x="1373886" y="2923669"/>
            <a:ext cx="9144000" cy="747897"/>
          </a:xfrm>
        </p:spPr>
        <p:txBody>
          <a:bodyPr/>
          <a:lstStyle/>
          <a:p>
            <a:pPr algn="ctr"/>
            <a:r>
              <a:rPr lang="en-US" sz="5400" dirty="0"/>
              <a:t>What can you build?</a:t>
            </a:r>
          </a:p>
        </p:txBody>
      </p:sp>
    </p:spTree>
    <p:extLst>
      <p:ext uri="{BB962C8B-B14F-4D97-AF65-F5344CB8AC3E}">
        <p14:creationId xmlns:p14="http://schemas.microsoft.com/office/powerpoint/2010/main" val="697083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7E832-2111-E8C5-F03C-D43089FC8E2C}"/>
              </a:ext>
            </a:extLst>
          </p:cNvPr>
          <p:cNvSpPr>
            <a:spLocks noGrp="1"/>
          </p:cNvSpPr>
          <p:nvPr>
            <p:ph type="title"/>
          </p:nvPr>
        </p:nvSpPr>
        <p:spPr/>
        <p:txBody>
          <a:bodyPr/>
          <a:lstStyle/>
          <a:p>
            <a:r>
              <a:rPr lang="en-US"/>
              <a:t>Demo: Contoso Creative Writer </a:t>
            </a:r>
          </a:p>
        </p:txBody>
      </p:sp>
      <p:grpSp>
        <p:nvGrpSpPr>
          <p:cNvPr id="3" name="Group 2" descr="User input to azure managed identity to azure application container (ACA). Azure monitor to azure application container (ACA). ACA to processing services. Azure AI Studio.&#10;&#10;Processing service 1. Researcher agent. Azure openAI service, bing search, azure AI search.&#10;&#10;Processing service 2. Writer agent. Azure OpenAI service.&#10;&#10;Processing service 3. Editor agent. Azure OpenAI service.&#10;&#10;Processing services to response.">
            <a:extLst>
              <a:ext uri="{FF2B5EF4-FFF2-40B4-BE49-F238E27FC236}">
                <a16:creationId xmlns:a16="http://schemas.microsoft.com/office/drawing/2014/main" id="{B3666A5C-9DFE-C487-3D9C-1CC794FE7312}"/>
              </a:ext>
            </a:extLst>
          </p:cNvPr>
          <p:cNvGrpSpPr/>
          <p:nvPr/>
        </p:nvGrpSpPr>
        <p:grpSpPr>
          <a:xfrm>
            <a:off x="655782" y="1368079"/>
            <a:ext cx="11053078" cy="4989548"/>
            <a:chOff x="655782" y="1368079"/>
            <a:chExt cx="11053078" cy="4989548"/>
          </a:xfrm>
        </p:grpSpPr>
        <p:sp>
          <p:nvSpPr>
            <p:cNvPr id="4" name="Rounded Rectangle 3">
              <a:extLst>
                <a:ext uri="{FF2B5EF4-FFF2-40B4-BE49-F238E27FC236}">
                  <a16:creationId xmlns:a16="http://schemas.microsoft.com/office/drawing/2014/main" id="{E1AAE987-F1EC-69B7-908D-21BFBE190E73}"/>
                </a:ext>
                <a:ext uri="{C183D7F6-B498-43B3-948B-1728B52AA6E4}">
                  <adec:decorative xmlns:adec="http://schemas.microsoft.com/office/drawing/2017/decorative" val="1"/>
                </a:ext>
              </a:extLst>
            </p:cNvPr>
            <p:cNvSpPr/>
            <p:nvPr/>
          </p:nvSpPr>
          <p:spPr bwMode="auto">
            <a:xfrm>
              <a:off x="5292669" y="1368079"/>
              <a:ext cx="3743114" cy="4989548"/>
            </a:xfrm>
            <a:prstGeom prst="roundRect">
              <a:avLst>
                <a:gd name="adj" fmla="val 2870"/>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108000" rIns="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400" dirty="0">
                  <a:latin typeface="+mj-lt"/>
                  <a:cs typeface="Segoe UI" pitchFamily="34" charset="0"/>
                </a:rPr>
                <a:t>Multiagent flow</a:t>
              </a:r>
              <a:endParaRPr lang="en-GB" sz="1400" dirty="0">
                <a:latin typeface="+mj-lt"/>
                <a:cs typeface="Segoe UI" pitchFamily="34" charset="0"/>
              </a:endParaRPr>
            </a:p>
          </p:txBody>
        </p:sp>
        <p:sp>
          <p:nvSpPr>
            <p:cNvPr id="6" name="Rounded Rectangle 5">
              <a:extLst>
                <a:ext uri="{FF2B5EF4-FFF2-40B4-BE49-F238E27FC236}">
                  <a16:creationId xmlns:a16="http://schemas.microsoft.com/office/drawing/2014/main" id="{5E5E8FC2-63CB-C533-58DC-5D0BF155C0BB}"/>
                </a:ext>
                <a:ext uri="{C183D7F6-B498-43B3-948B-1728B52AA6E4}">
                  <adec:decorative xmlns:adec="http://schemas.microsoft.com/office/drawing/2017/decorative" val="1"/>
                </a:ext>
              </a:extLst>
            </p:cNvPr>
            <p:cNvSpPr/>
            <p:nvPr/>
          </p:nvSpPr>
          <p:spPr bwMode="auto">
            <a:xfrm>
              <a:off x="655782" y="3265430"/>
              <a:ext cx="1845950" cy="1398109"/>
            </a:xfrm>
            <a:prstGeom prst="roundRect">
              <a:avLst>
                <a:gd name="adj" fmla="val 8136"/>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108000" rIns="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400">
                  <a:solidFill>
                    <a:schemeClr val="tx1"/>
                  </a:solidFill>
                  <a:latin typeface="+mj-lt"/>
                  <a:ea typeface="Segoe UI" pitchFamily="34" charset="0"/>
                  <a:cs typeface="Segoe UI" pitchFamily="34" charset="0"/>
                </a:rPr>
                <a:t>Entrada del usuario</a:t>
              </a:r>
              <a:endParaRPr lang="en-GB" sz="1400">
                <a:solidFill>
                  <a:schemeClr val="tx1"/>
                </a:solidFill>
                <a:latin typeface="+mj-lt"/>
                <a:ea typeface="Segoe UI" pitchFamily="34" charset="0"/>
                <a:cs typeface="Segoe UI" pitchFamily="34" charset="0"/>
              </a:endParaRPr>
            </a:p>
          </p:txBody>
        </p:sp>
        <p:sp>
          <p:nvSpPr>
            <p:cNvPr id="7" name="Rounded Rectangle 6">
              <a:extLst>
                <a:ext uri="{FF2B5EF4-FFF2-40B4-BE49-F238E27FC236}">
                  <a16:creationId xmlns:a16="http://schemas.microsoft.com/office/drawing/2014/main" id="{19C1B0A0-566A-C8B7-04B2-77D3CEDA9BA8}"/>
                </a:ext>
                <a:ext uri="{C183D7F6-B498-43B3-948B-1728B52AA6E4}">
                  <adec:decorative xmlns:adec="http://schemas.microsoft.com/office/drawing/2017/decorative" val="1"/>
                </a:ext>
              </a:extLst>
            </p:cNvPr>
            <p:cNvSpPr/>
            <p:nvPr/>
          </p:nvSpPr>
          <p:spPr bwMode="auto">
            <a:xfrm>
              <a:off x="2912363" y="1370752"/>
              <a:ext cx="1944710" cy="1398109"/>
            </a:xfrm>
            <a:prstGeom prst="roundRect">
              <a:avLst>
                <a:gd name="adj" fmla="val 7511"/>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108000" rIns="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400">
                  <a:solidFill>
                    <a:schemeClr val="tx1"/>
                  </a:solidFill>
                  <a:latin typeface="+mj-lt"/>
                  <a:cs typeface="Segoe UI" pitchFamily="34" charset="0"/>
                </a:rPr>
                <a:t>Azure Monitor</a:t>
              </a:r>
              <a:endParaRPr lang="en-GB" sz="1400" err="1">
                <a:solidFill>
                  <a:schemeClr val="tx1"/>
                </a:solidFill>
                <a:latin typeface="+mj-lt"/>
                <a:cs typeface="Segoe UI" pitchFamily="34" charset="0"/>
              </a:endParaRPr>
            </a:p>
          </p:txBody>
        </p:sp>
        <p:sp>
          <p:nvSpPr>
            <p:cNvPr id="8" name="Rounded Rectangle 7">
              <a:extLst>
                <a:ext uri="{FF2B5EF4-FFF2-40B4-BE49-F238E27FC236}">
                  <a16:creationId xmlns:a16="http://schemas.microsoft.com/office/drawing/2014/main" id="{84B66289-F677-A6D5-766E-FAFED1258B4C}"/>
                </a:ext>
                <a:ext uri="{C183D7F6-B498-43B3-948B-1728B52AA6E4}">
                  <adec:decorative xmlns:adec="http://schemas.microsoft.com/office/drawing/2017/decorative" val="1"/>
                </a:ext>
              </a:extLst>
            </p:cNvPr>
            <p:cNvSpPr/>
            <p:nvPr/>
          </p:nvSpPr>
          <p:spPr bwMode="auto">
            <a:xfrm>
              <a:off x="5636129" y="1863352"/>
              <a:ext cx="3017400" cy="1024755"/>
            </a:xfrm>
            <a:prstGeom prst="roundRect">
              <a:avLst>
                <a:gd name="adj" fmla="val 7325"/>
              </a:avLst>
            </a:prstGeom>
            <a:ln w="19050" cap="rnd">
              <a:gradFill flip="none" rotWithShape="1">
                <a:gsLst>
                  <a:gs pos="0">
                    <a:srgbClr val="FF5C39"/>
                  </a:gs>
                  <a:gs pos="32000">
                    <a:srgbClr val="C03BC4"/>
                  </a:gs>
                  <a:gs pos="68000">
                    <a:srgbClr val="0078D4"/>
                  </a:gs>
                  <a:gs pos="100000">
                    <a:srgbClr val="399A91"/>
                  </a:gs>
                </a:gsLst>
                <a:path path="circle">
                  <a:fillToRect l="100000" t="100000"/>
                </a:path>
                <a:tileRect r="-100000" b="-100000"/>
              </a:gradFill>
              <a:prstDash val="sysDot"/>
              <a:headEnd type="none" w="lg" len="sm"/>
              <a:tailEnd type="none" w="lg" len="sm"/>
            </a:ln>
            <a:effectLst>
              <a:outerShdw blurRad="63500" dist="63500" dir="2700000" algn="tl" rotWithShape="0">
                <a:srgbClr val="454142">
                  <a:alpha val="20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72000" rIns="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400" dirty="0">
                  <a:solidFill>
                    <a:schemeClr val="tx1"/>
                  </a:solidFill>
                  <a:latin typeface="+mj-lt"/>
                  <a:ea typeface="Segoe UI" pitchFamily="34" charset="0"/>
                  <a:cs typeface="Segoe UI" pitchFamily="34" charset="0"/>
                </a:rPr>
                <a:t>Researcher agent</a:t>
              </a:r>
              <a:endParaRPr lang="en-GB" sz="1400" dirty="0">
                <a:solidFill>
                  <a:schemeClr val="tx1"/>
                </a:solidFill>
                <a:latin typeface="+mj-lt"/>
                <a:ea typeface="Segoe UI" pitchFamily="34" charset="0"/>
                <a:cs typeface="Segoe UI" pitchFamily="34" charset="0"/>
              </a:endParaRPr>
            </a:p>
          </p:txBody>
        </p:sp>
        <p:sp>
          <p:nvSpPr>
            <p:cNvPr id="9" name="TextBox 8">
              <a:extLst>
                <a:ext uri="{FF2B5EF4-FFF2-40B4-BE49-F238E27FC236}">
                  <a16:creationId xmlns:a16="http://schemas.microsoft.com/office/drawing/2014/main" id="{71D94DAB-DA14-F85D-602F-FD05AE74D1F5}"/>
                </a:ext>
                <a:ext uri="{C183D7F6-B498-43B3-948B-1728B52AA6E4}">
                  <adec:decorative xmlns:adec="http://schemas.microsoft.com/office/drawing/2017/decorative" val="1"/>
                </a:ext>
              </a:extLst>
            </p:cNvPr>
            <p:cNvSpPr txBox="1"/>
            <p:nvPr/>
          </p:nvSpPr>
          <p:spPr>
            <a:xfrm>
              <a:off x="6112723" y="5844608"/>
              <a:ext cx="2002745" cy="338554"/>
            </a:xfrm>
            <a:prstGeom prst="rect">
              <a:avLst/>
            </a:prstGeom>
            <a:noFill/>
          </p:spPr>
          <p:txBody>
            <a:bodyPr wrap="square" lIns="0" tIns="0" rIns="0" bIns="0" rtlCol="0">
              <a:spAutoFit/>
            </a:bodyPr>
            <a:lstStyle/>
            <a:p>
              <a:pPr algn="ctr"/>
              <a:r>
                <a:rPr lang="en-US" sz="1100" dirty="0"/>
                <a:t>Azure OpenAI </a:t>
              </a:r>
              <a:br>
                <a:rPr lang="en-US" sz="1100" dirty="0"/>
              </a:br>
              <a:r>
                <a:rPr lang="en-US" sz="1100" dirty="0"/>
                <a:t>Service</a:t>
              </a:r>
              <a:endParaRPr lang="en-GB" sz="1100" dirty="0"/>
            </a:p>
          </p:txBody>
        </p:sp>
        <p:sp>
          <p:nvSpPr>
            <p:cNvPr id="10" name="TextBox 9">
              <a:extLst>
                <a:ext uri="{FF2B5EF4-FFF2-40B4-BE49-F238E27FC236}">
                  <a16:creationId xmlns:a16="http://schemas.microsoft.com/office/drawing/2014/main" id="{54F2EC39-5A47-3237-7C03-BCCFF218817E}"/>
                </a:ext>
                <a:ext uri="{C183D7F6-B498-43B3-948B-1728B52AA6E4}">
                  <adec:decorative xmlns:adec="http://schemas.microsoft.com/office/drawing/2017/decorative" val="1"/>
                </a:ext>
              </a:extLst>
            </p:cNvPr>
            <p:cNvSpPr txBox="1"/>
            <p:nvPr/>
          </p:nvSpPr>
          <p:spPr>
            <a:xfrm>
              <a:off x="6041611" y="3599734"/>
              <a:ext cx="913245" cy="338554"/>
            </a:xfrm>
            <a:prstGeom prst="rect">
              <a:avLst/>
            </a:prstGeom>
            <a:noFill/>
          </p:spPr>
          <p:txBody>
            <a:bodyPr wrap="square" lIns="0" tIns="0" rIns="0" bIns="0" rtlCol="0">
              <a:spAutoFit/>
            </a:bodyPr>
            <a:lstStyle/>
            <a:p>
              <a:pPr algn="ctr"/>
              <a:r>
                <a:rPr lang="en-US" sz="1100" dirty="0"/>
                <a:t>Azure OpenAI </a:t>
              </a:r>
              <a:br>
                <a:rPr lang="en-US" sz="1100" dirty="0"/>
              </a:br>
              <a:r>
                <a:rPr lang="en-US" sz="1100" dirty="0"/>
                <a:t>Service</a:t>
              </a:r>
              <a:endParaRPr lang="en-GB" sz="1100" dirty="0"/>
            </a:p>
          </p:txBody>
        </p:sp>
        <p:sp>
          <p:nvSpPr>
            <p:cNvPr id="11" name="TextBox 10">
              <a:extLst>
                <a:ext uri="{FF2B5EF4-FFF2-40B4-BE49-F238E27FC236}">
                  <a16:creationId xmlns:a16="http://schemas.microsoft.com/office/drawing/2014/main" id="{FF8E29A3-7708-2DB3-86D9-211FD3AA657C}"/>
                </a:ext>
                <a:ext uri="{C183D7F6-B498-43B3-948B-1728B52AA6E4}">
                  <adec:decorative xmlns:adec="http://schemas.microsoft.com/office/drawing/2017/decorative" val="1"/>
                </a:ext>
              </a:extLst>
            </p:cNvPr>
            <p:cNvSpPr txBox="1"/>
            <p:nvPr/>
          </p:nvSpPr>
          <p:spPr>
            <a:xfrm>
              <a:off x="5655316" y="2446491"/>
              <a:ext cx="1119657" cy="338554"/>
            </a:xfrm>
            <a:prstGeom prst="rect">
              <a:avLst/>
            </a:prstGeom>
            <a:noFill/>
          </p:spPr>
          <p:txBody>
            <a:bodyPr wrap="square" lIns="0" tIns="0" rIns="0" bIns="0" rtlCol="0">
              <a:spAutoFit/>
            </a:bodyPr>
            <a:lstStyle/>
            <a:p>
              <a:pPr algn="ctr"/>
              <a:r>
                <a:rPr lang="en-US" sz="1100" dirty="0"/>
                <a:t>Azure OpenAI </a:t>
              </a:r>
              <a:br>
                <a:rPr lang="en-US" sz="1100" dirty="0"/>
              </a:br>
              <a:r>
                <a:rPr lang="en-US" sz="1100" dirty="0"/>
                <a:t>Service</a:t>
              </a:r>
              <a:endParaRPr lang="en-GB" sz="1100" dirty="0"/>
            </a:p>
          </p:txBody>
        </p:sp>
        <p:sp>
          <p:nvSpPr>
            <p:cNvPr id="12" name="TextBox 11">
              <a:extLst>
                <a:ext uri="{FF2B5EF4-FFF2-40B4-BE49-F238E27FC236}">
                  <a16:creationId xmlns:a16="http://schemas.microsoft.com/office/drawing/2014/main" id="{48B07C71-89AC-B2D9-428E-12B15195B331}"/>
                </a:ext>
                <a:ext uri="{C183D7F6-B498-43B3-948B-1728B52AA6E4}">
                  <adec:decorative xmlns:adec="http://schemas.microsoft.com/office/drawing/2017/decorative" val="1"/>
                </a:ext>
              </a:extLst>
            </p:cNvPr>
            <p:cNvSpPr txBox="1"/>
            <p:nvPr/>
          </p:nvSpPr>
          <p:spPr>
            <a:xfrm>
              <a:off x="6615118" y="2446491"/>
              <a:ext cx="1119657" cy="338554"/>
            </a:xfrm>
            <a:prstGeom prst="rect">
              <a:avLst/>
            </a:prstGeom>
            <a:noFill/>
          </p:spPr>
          <p:txBody>
            <a:bodyPr wrap="square" lIns="0" tIns="0" rIns="0" bIns="0" rtlCol="0">
              <a:spAutoFit/>
            </a:bodyPr>
            <a:lstStyle/>
            <a:p>
              <a:pPr algn="ctr"/>
              <a:r>
                <a:rPr lang="en-US" sz="1100" dirty="0"/>
                <a:t>Grounding </a:t>
              </a:r>
              <a:br>
                <a:rPr lang="en-US" sz="1100" dirty="0"/>
              </a:br>
              <a:r>
                <a:rPr lang="en-US" sz="1100" dirty="0"/>
                <a:t>with Bing</a:t>
              </a:r>
              <a:endParaRPr lang="en-GB" sz="1100" dirty="0"/>
            </a:p>
          </p:txBody>
        </p:sp>
        <p:sp>
          <p:nvSpPr>
            <p:cNvPr id="13" name="TextBox 12">
              <a:extLst>
                <a:ext uri="{FF2B5EF4-FFF2-40B4-BE49-F238E27FC236}">
                  <a16:creationId xmlns:a16="http://schemas.microsoft.com/office/drawing/2014/main" id="{BB5F9AEE-A597-8B0B-E35E-2494AF058CDA}"/>
                </a:ext>
                <a:ext uri="{C183D7F6-B498-43B3-948B-1728B52AA6E4}">
                  <adec:decorative xmlns:adec="http://schemas.microsoft.com/office/drawing/2017/decorative" val="1"/>
                </a:ext>
              </a:extLst>
            </p:cNvPr>
            <p:cNvSpPr txBox="1"/>
            <p:nvPr/>
          </p:nvSpPr>
          <p:spPr>
            <a:xfrm>
              <a:off x="7546572" y="2446491"/>
              <a:ext cx="1119657" cy="338554"/>
            </a:xfrm>
            <a:prstGeom prst="rect">
              <a:avLst/>
            </a:prstGeom>
            <a:noFill/>
          </p:spPr>
          <p:txBody>
            <a:bodyPr wrap="square" lIns="0" tIns="0" rIns="0" bIns="0" rtlCol="0">
              <a:spAutoFit/>
            </a:bodyPr>
            <a:lstStyle/>
            <a:p>
              <a:pPr algn="ctr"/>
              <a:r>
                <a:rPr lang="en-US" sz="1100"/>
                <a:t>Azure AI</a:t>
              </a:r>
              <a:br>
                <a:rPr lang="en-US" sz="1100"/>
              </a:br>
              <a:r>
                <a:rPr lang="en-US" sz="1100"/>
                <a:t>Search</a:t>
              </a:r>
              <a:endParaRPr lang="en-GB" sz="1100"/>
            </a:p>
          </p:txBody>
        </p:sp>
        <p:pic>
          <p:nvPicPr>
            <p:cNvPr id="14" name="Graphic 13">
              <a:extLst>
                <a:ext uri="{FF2B5EF4-FFF2-40B4-BE49-F238E27FC236}">
                  <a16:creationId xmlns:a16="http://schemas.microsoft.com/office/drawing/2014/main" id="{952EA355-5E06-17B9-0CA4-2E93B004D0B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13435" y="2213057"/>
              <a:ext cx="216791" cy="216789"/>
            </a:xfrm>
            <a:prstGeom prst="rect">
              <a:avLst/>
            </a:prstGeom>
          </p:spPr>
        </p:pic>
        <p:pic>
          <p:nvPicPr>
            <p:cNvPr id="15" name="Graphic 14">
              <a:extLst>
                <a:ext uri="{FF2B5EF4-FFF2-40B4-BE49-F238E27FC236}">
                  <a16:creationId xmlns:a16="http://schemas.microsoft.com/office/drawing/2014/main" id="{0381F671-BEF9-DBCA-2F52-EDCDBBD883B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89842" y="3368184"/>
              <a:ext cx="216785" cy="216785"/>
            </a:xfrm>
            <a:prstGeom prst="rect">
              <a:avLst/>
            </a:prstGeom>
          </p:spPr>
        </p:pic>
        <p:pic>
          <p:nvPicPr>
            <p:cNvPr id="16" name="Graphic 15">
              <a:extLst>
                <a:ext uri="{FF2B5EF4-FFF2-40B4-BE49-F238E27FC236}">
                  <a16:creationId xmlns:a16="http://schemas.microsoft.com/office/drawing/2014/main" id="{5313C940-C205-582B-2F4E-73521AD7E7D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06415" y="5583332"/>
              <a:ext cx="216785" cy="216785"/>
            </a:xfrm>
            <a:prstGeom prst="rect">
              <a:avLst/>
            </a:prstGeom>
          </p:spPr>
        </p:pic>
        <p:pic>
          <p:nvPicPr>
            <p:cNvPr id="17" name="Graphic 16">
              <a:extLst>
                <a:ext uri="{FF2B5EF4-FFF2-40B4-BE49-F238E27FC236}">
                  <a16:creationId xmlns:a16="http://schemas.microsoft.com/office/drawing/2014/main" id="{3C451A46-3175-4215-8BCF-30B9FDE539B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3352" y="2178776"/>
              <a:ext cx="285353" cy="285353"/>
            </a:xfrm>
            <a:prstGeom prst="rect">
              <a:avLst/>
            </a:prstGeom>
          </p:spPr>
        </p:pic>
        <p:sp>
          <p:nvSpPr>
            <p:cNvPr id="20" name="Rounded Rectangle 19">
              <a:extLst>
                <a:ext uri="{FF2B5EF4-FFF2-40B4-BE49-F238E27FC236}">
                  <a16:creationId xmlns:a16="http://schemas.microsoft.com/office/drawing/2014/main" id="{32CAA408-8324-7A56-8F06-605312D030EC}"/>
                </a:ext>
                <a:ext uri="{C183D7F6-B498-43B3-948B-1728B52AA6E4}">
                  <adec:decorative xmlns:adec="http://schemas.microsoft.com/office/drawing/2017/decorative" val="1"/>
                </a:ext>
              </a:extLst>
            </p:cNvPr>
            <p:cNvSpPr/>
            <p:nvPr/>
          </p:nvSpPr>
          <p:spPr bwMode="auto">
            <a:xfrm>
              <a:off x="2912363" y="3265431"/>
              <a:ext cx="1944710" cy="1398109"/>
            </a:xfrm>
            <a:prstGeom prst="roundRect">
              <a:avLst>
                <a:gd name="adj" fmla="val 7511"/>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a:solidFill>
                    <a:schemeClr val="tx1"/>
                  </a:solidFill>
                  <a:latin typeface="+mj-lt"/>
                  <a:cs typeface="Segoe UI" pitchFamily="34" charset="0"/>
                </a:rPr>
                <a:t>Azure Container Apps (ACA)</a:t>
              </a:r>
            </a:p>
            <a:p>
              <a:pPr algn="ctr" defTabSz="932472" fontAlgn="base">
                <a:spcBef>
                  <a:spcPct val="0"/>
                </a:spcBef>
                <a:spcAft>
                  <a:spcPct val="0"/>
                </a:spcAft>
              </a:pPr>
              <a:endParaRPr lang="en-US" sz="1400">
                <a:latin typeface="+mj-lt"/>
                <a:cs typeface="Segoe UI" pitchFamily="34" charset="0"/>
              </a:endParaRPr>
            </a:p>
            <a:p>
              <a:pPr algn="ctr" defTabSz="932472" fontAlgn="base">
                <a:spcBef>
                  <a:spcPct val="0"/>
                </a:spcBef>
                <a:spcAft>
                  <a:spcPct val="0"/>
                </a:spcAft>
              </a:pPr>
              <a:endParaRPr lang="en-US" sz="1400">
                <a:solidFill>
                  <a:schemeClr val="tx1"/>
                </a:solidFill>
                <a:latin typeface="+mj-lt"/>
                <a:cs typeface="Segoe UI" pitchFamily="34" charset="0"/>
              </a:endParaRPr>
            </a:p>
            <a:p>
              <a:pPr algn="ctr" defTabSz="932472" fontAlgn="base">
                <a:spcBef>
                  <a:spcPct val="0"/>
                </a:spcBef>
                <a:spcAft>
                  <a:spcPct val="0"/>
                </a:spcAft>
              </a:pPr>
              <a:endParaRPr lang="en-GB" sz="1400">
                <a:solidFill>
                  <a:schemeClr val="tx1"/>
                </a:solidFill>
                <a:latin typeface="+mj-lt"/>
                <a:cs typeface="Segoe UI" pitchFamily="34" charset="0"/>
              </a:endParaRPr>
            </a:p>
          </p:txBody>
        </p:sp>
        <p:pic>
          <p:nvPicPr>
            <p:cNvPr id="21" name="Graphic 20">
              <a:extLst>
                <a:ext uri="{FF2B5EF4-FFF2-40B4-BE49-F238E27FC236}">
                  <a16:creationId xmlns:a16="http://schemas.microsoft.com/office/drawing/2014/main" id="{FA7E8C8E-F7A4-0ABD-F11B-471EA892EBBB}"/>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82649" y="1913834"/>
              <a:ext cx="604138" cy="604138"/>
            </a:xfrm>
            <a:prstGeom prst="rect">
              <a:avLst/>
            </a:prstGeom>
          </p:spPr>
        </p:pic>
        <p:pic>
          <p:nvPicPr>
            <p:cNvPr id="22" name="Picture 4">
              <a:extLst>
                <a:ext uri="{FF2B5EF4-FFF2-40B4-BE49-F238E27FC236}">
                  <a16:creationId xmlns:a16="http://schemas.microsoft.com/office/drawing/2014/main" id="{89877134-064C-28AB-96BD-9AB57930DDBE}"/>
                </a:ext>
                <a:ext uri="{C183D7F6-B498-43B3-948B-1728B52AA6E4}">
                  <adec:decorative xmlns:adec="http://schemas.microsoft.com/office/drawing/2017/decorative" val="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6477" y="3705959"/>
              <a:ext cx="685800" cy="685800"/>
            </a:xfrm>
            <a:prstGeom prst="rect">
              <a:avLst/>
            </a:prstGeom>
            <a:noFill/>
            <a:extLst>
              <a:ext uri="{909E8E84-426E-40DD-AFC4-6F175D3DCCD1}">
                <a14:hiddenFill xmlns:a14="http://schemas.microsoft.com/office/drawing/2010/main">
                  <a:solidFill>
                    <a:srgbClr val="FFFFFF"/>
                  </a:solidFill>
                </a14:hiddenFill>
              </a:ext>
            </a:extLst>
          </p:spPr>
        </p:pic>
        <p:sp>
          <p:nvSpPr>
            <p:cNvPr id="23" name="Rounded Rectangle 22">
              <a:extLst>
                <a:ext uri="{FF2B5EF4-FFF2-40B4-BE49-F238E27FC236}">
                  <a16:creationId xmlns:a16="http://schemas.microsoft.com/office/drawing/2014/main" id="{C927402D-98C8-C0D2-9093-BDDFB8C7748B}"/>
                </a:ext>
                <a:ext uri="{C183D7F6-B498-43B3-948B-1728B52AA6E4}">
                  <adec:decorative xmlns:adec="http://schemas.microsoft.com/office/drawing/2017/decorative" val="1"/>
                </a:ext>
              </a:extLst>
            </p:cNvPr>
            <p:cNvSpPr/>
            <p:nvPr/>
          </p:nvSpPr>
          <p:spPr bwMode="auto">
            <a:xfrm>
              <a:off x="9764150" y="3130540"/>
              <a:ext cx="1944710" cy="1398109"/>
            </a:xfrm>
            <a:prstGeom prst="roundRect">
              <a:avLst>
                <a:gd name="adj" fmla="val 10127"/>
              </a:avLst>
            </a:prstGeom>
            <a:ln w="19050" cap="rnd">
              <a:gradFill flip="none" rotWithShape="1">
                <a:gsLst>
                  <a:gs pos="0">
                    <a:srgbClr val="FF5C39"/>
                  </a:gs>
                  <a:gs pos="32000">
                    <a:srgbClr val="C03BC4"/>
                  </a:gs>
                  <a:gs pos="68000">
                    <a:srgbClr val="0078D4"/>
                  </a:gs>
                  <a:gs pos="100000">
                    <a:srgbClr val="399A91"/>
                  </a:gs>
                </a:gsLst>
                <a:path path="circle">
                  <a:fillToRect l="100000" t="100000"/>
                </a:path>
                <a:tileRect r="-100000" b="-100000"/>
              </a:gradFill>
              <a:prstDash val="solid"/>
              <a:headEnd type="none" w="lg" len="sm"/>
              <a:tailEnd type="none" w="lg" len="sm"/>
            </a:ln>
            <a:effectLst>
              <a:outerShdw blurRad="63500" dist="63500" dir="2700000" algn="tl" rotWithShape="0">
                <a:srgbClr val="454142">
                  <a:alpha val="20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400">
                  <a:solidFill>
                    <a:schemeClr val="tx1"/>
                  </a:solidFill>
                  <a:latin typeface="+mj-lt"/>
                  <a:cs typeface="Segoe UI" pitchFamily="34" charset="0"/>
                </a:rPr>
                <a:t>Response</a:t>
              </a:r>
              <a:endParaRPr lang="en-GB" sz="1400" err="1">
                <a:solidFill>
                  <a:schemeClr val="tx1"/>
                </a:solidFill>
                <a:latin typeface="+mj-lt"/>
                <a:cs typeface="Segoe UI" pitchFamily="34" charset="0"/>
              </a:endParaRPr>
            </a:p>
          </p:txBody>
        </p:sp>
        <p:pic>
          <p:nvPicPr>
            <p:cNvPr id="24" name="Picture 4">
              <a:extLst>
                <a:ext uri="{FF2B5EF4-FFF2-40B4-BE49-F238E27FC236}">
                  <a16:creationId xmlns:a16="http://schemas.microsoft.com/office/drawing/2014/main" id="{27E54859-D7B2-093B-C46B-2DD2856FFD60}"/>
                </a:ext>
                <a:ext uri="{C183D7F6-B498-43B3-948B-1728B52AA6E4}">
                  <adec:decorative xmlns:adec="http://schemas.microsoft.com/office/drawing/2017/decorative" val="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36318" y="3554931"/>
              <a:ext cx="685800" cy="685800"/>
            </a:xfrm>
            <a:prstGeom prst="rect">
              <a:avLst/>
            </a:prstGeom>
            <a:noFill/>
            <a:extLst>
              <a:ext uri="{909E8E84-426E-40DD-AFC4-6F175D3DCCD1}">
                <a14:hiddenFill xmlns:a14="http://schemas.microsoft.com/office/drawing/2010/main">
                  <a:solidFill>
                    <a:srgbClr val="FFFFFF"/>
                  </a:solidFill>
                </a14:hiddenFill>
              </a:ext>
            </a:extLst>
          </p:spPr>
        </p:pic>
        <p:pic>
          <p:nvPicPr>
            <p:cNvPr id="25" name="Graphic 24">
              <a:extLst>
                <a:ext uri="{FF2B5EF4-FFF2-40B4-BE49-F238E27FC236}">
                  <a16:creationId xmlns:a16="http://schemas.microsoft.com/office/drawing/2014/main" id="{60C99CC6-83A2-C304-4F2B-343632E8DC21}"/>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070114" y="2208993"/>
              <a:ext cx="148920" cy="224917"/>
            </a:xfrm>
            <a:prstGeom prst="rect">
              <a:avLst/>
            </a:prstGeom>
          </p:spPr>
        </p:pic>
        <p:cxnSp>
          <p:nvCxnSpPr>
            <p:cNvPr id="27" name="Straight Arrow Connector 26">
              <a:extLst>
                <a:ext uri="{FF2B5EF4-FFF2-40B4-BE49-F238E27FC236}">
                  <a16:creationId xmlns:a16="http://schemas.microsoft.com/office/drawing/2014/main" id="{3E2DC45A-833E-7260-7DCF-6AD76FEAD7FA}"/>
                </a:ext>
                <a:ext uri="{C183D7F6-B498-43B3-948B-1728B52AA6E4}">
                  <adec:decorative xmlns:adec="http://schemas.microsoft.com/office/drawing/2017/decorative" val="1"/>
                </a:ext>
              </a:extLst>
            </p:cNvPr>
            <p:cNvCxnSpPr/>
            <p:nvPr/>
          </p:nvCxnSpPr>
          <p:spPr>
            <a:xfrm>
              <a:off x="2532973" y="3964486"/>
              <a:ext cx="379390" cy="0"/>
            </a:xfrm>
            <a:prstGeom prst="straightConnector1">
              <a:avLst/>
            </a:prstGeom>
            <a:ln w="12700" cap="rnd">
              <a:solidFill>
                <a:srgbClr val="B1B3B3"/>
              </a:solidFill>
              <a:headEnd type="none" w="lg" len="sm"/>
              <a:tailEnd type="arrow"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1C0ED5B-AAE8-F9D9-B7F5-47F03616D244}"/>
                </a:ext>
                <a:ext uri="{C183D7F6-B498-43B3-948B-1728B52AA6E4}">
                  <adec:decorative xmlns:adec="http://schemas.microsoft.com/office/drawing/2017/decorative" val="1"/>
                </a:ext>
              </a:extLst>
            </p:cNvPr>
            <p:cNvCxnSpPr/>
            <p:nvPr/>
          </p:nvCxnSpPr>
          <p:spPr>
            <a:xfrm flipV="1">
              <a:off x="3884718" y="2768861"/>
              <a:ext cx="0" cy="496570"/>
            </a:xfrm>
            <a:prstGeom prst="straightConnector1">
              <a:avLst/>
            </a:prstGeom>
            <a:ln w="12700" cap="rnd">
              <a:solidFill>
                <a:srgbClr val="B1B3B3"/>
              </a:solidFill>
              <a:headEnd type="arrow" w="lg" len="sm"/>
              <a:tailEnd type="arrow"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29" name="Connector: Elbow 1024">
              <a:extLst>
                <a:ext uri="{FF2B5EF4-FFF2-40B4-BE49-F238E27FC236}">
                  <a16:creationId xmlns:a16="http://schemas.microsoft.com/office/drawing/2014/main" id="{EEA3FC18-6A40-366C-80A7-B54FF94781D7}"/>
                </a:ext>
                <a:ext uri="{C183D7F6-B498-43B3-948B-1728B52AA6E4}">
                  <adec:decorative xmlns:adec="http://schemas.microsoft.com/office/drawing/2017/decorative" val="1"/>
                </a:ext>
              </a:extLst>
            </p:cNvPr>
            <p:cNvCxnSpPr>
              <a:cxnSpLocks/>
            </p:cNvCxnSpPr>
            <p:nvPr/>
          </p:nvCxnSpPr>
          <p:spPr>
            <a:xfrm>
              <a:off x="8679066" y="2344275"/>
              <a:ext cx="12700" cy="1118923"/>
            </a:xfrm>
            <a:prstGeom prst="bentConnector3">
              <a:avLst>
                <a:gd name="adj1" fmla="val 1900000"/>
              </a:avLst>
            </a:prstGeom>
            <a:ln w="12700" cap="rnd">
              <a:solidFill>
                <a:srgbClr val="B1B3B3"/>
              </a:solidFill>
              <a:headEnd type="none" w="lg" len="sm"/>
              <a:tailEnd type="arrow"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0B263DE-0F66-5B00-DD57-34A23E4CADF3}"/>
                </a:ext>
                <a:ext uri="{C183D7F6-B498-43B3-948B-1728B52AA6E4}">
                  <adec:decorative xmlns:adec="http://schemas.microsoft.com/office/drawing/2017/decorative" val="1"/>
                </a:ext>
              </a:extLst>
            </p:cNvPr>
            <p:cNvCxnSpPr>
              <a:cxnSpLocks/>
              <a:stCxn id="4" idx="3"/>
              <a:endCxn id="23" idx="1"/>
            </p:cNvCxnSpPr>
            <p:nvPr/>
          </p:nvCxnSpPr>
          <p:spPr>
            <a:xfrm flipV="1">
              <a:off x="9035783" y="3829595"/>
              <a:ext cx="728367" cy="0"/>
            </a:xfrm>
            <a:prstGeom prst="straightConnector1">
              <a:avLst/>
            </a:prstGeom>
            <a:ln w="12700" cap="rnd">
              <a:solidFill>
                <a:srgbClr val="B1B3B3"/>
              </a:solidFill>
              <a:headEnd type="none" w="lg" len="sm"/>
              <a:tailEnd type="arrow"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31" name="Connector: Elbow 1032">
              <a:extLst>
                <a:ext uri="{FF2B5EF4-FFF2-40B4-BE49-F238E27FC236}">
                  <a16:creationId xmlns:a16="http://schemas.microsoft.com/office/drawing/2014/main" id="{9CBFA725-EB6D-C837-CAA4-19A0CD2E55F7}"/>
                </a:ext>
                <a:ext uri="{C183D7F6-B498-43B3-948B-1728B52AA6E4}">
                  <adec:decorative xmlns:adec="http://schemas.microsoft.com/office/drawing/2017/decorative" val="1"/>
                </a:ext>
              </a:extLst>
            </p:cNvPr>
            <p:cNvCxnSpPr>
              <a:cxnSpLocks/>
              <a:stCxn id="20" idx="2"/>
            </p:cNvCxnSpPr>
            <p:nvPr/>
          </p:nvCxnSpPr>
          <p:spPr>
            <a:xfrm rot="16200000" flipH="1">
              <a:off x="4234504" y="4313753"/>
              <a:ext cx="708378" cy="1407951"/>
            </a:xfrm>
            <a:prstGeom prst="bentConnector2">
              <a:avLst/>
            </a:prstGeom>
            <a:ln w="12700" cap="rnd">
              <a:solidFill>
                <a:srgbClr val="B1B3B3"/>
              </a:solidFill>
              <a:headEnd type="none" w="lg" len="sm"/>
              <a:tailEnd type="arrow"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33" name="Rounded Rectangle 10">
              <a:extLst>
                <a:ext uri="{FF2B5EF4-FFF2-40B4-BE49-F238E27FC236}">
                  <a16:creationId xmlns:a16="http://schemas.microsoft.com/office/drawing/2014/main" id="{0318AC8F-4E97-8C66-3CEF-C750F72D5008}"/>
                </a:ext>
                <a:ext uri="{C183D7F6-B498-43B3-948B-1728B52AA6E4}">
                  <adec:decorative xmlns:adec="http://schemas.microsoft.com/office/drawing/2017/decorative" val="1"/>
                </a:ext>
              </a:extLst>
            </p:cNvPr>
            <p:cNvSpPr/>
            <p:nvPr/>
          </p:nvSpPr>
          <p:spPr bwMode="auto">
            <a:xfrm>
              <a:off x="5648829" y="2982275"/>
              <a:ext cx="3017400" cy="1024755"/>
            </a:xfrm>
            <a:prstGeom prst="roundRect">
              <a:avLst>
                <a:gd name="adj" fmla="val 7325"/>
              </a:avLst>
            </a:prstGeom>
            <a:ln w="19050" cap="rnd">
              <a:gradFill flip="none" rotWithShape="1">
                <a:gsLst>
                  <a:gs pos="0">
                    <a:srgbClr val="FF5C39"/>
                  </a:gs>
                  <a:gs pos="32000">
                    <a:srgbClr val="C03BC4"/>
                  </a:gs>
                  <a:gs pos="68000">
                    <a:srgbClr val="0078D4"/>
                  </a:gs>
                  <a:gs pos="100000">
                    <a:srgbClr val="399A91"/>
                  </a:gs>
                </a:gsLst>
                <a:path path="circle">
                  <a:fillToRect l="100000" t="100000"/>
                </a:path>
                <a:tileRect r="-100000" b="-100000"/>
              </a:gradFill>
              <a:prstDash val="sysDot"/>
              <a:headEnd type="none" w="lg" len="sm"/>
              <a:tailEnd type="none" w="lg" len="sm"/>
            </a:ln>
            <a:effectLst>
              <a:outerShdw blurRad="63500" dist="63500" dir="2700000" algn="tl" rotWithShape="0">
                <a:srgbClr val="454142">
                  <a:alpha val="20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72000" rIns="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400" dirty="0">
                  <a:solidFill>
                    <a:schemeClr val="tx1"/>
                  </a:solidFill>
                  <a:latin typeface="+mj-lt"/>
                  <a:ea typeface="Segoe UI" pitchFamily="34" charset="0"/>
                  <a:cs typeface="Segoe UI" pitchFamily="34" charset="0"/>
                </a:rPr>
                <a:t>Products agent</a:t>
              </a:r>
              <a:endParaRPr lang="en-GB" sz="1400" dirty="0">
                <a:solidFill>
                  <a:schemeClr val="tx1"/>
                </a:solidFill>
                <a:latin typeface="+mj-lt"/>
                <a:ea typeface="Segoe UI" pitchFamily="34" charset="0"/>
                <a:cs typeface="Segoe UI" pitchFamily="34" charset="0"/>
              </a:endParaRPr>
            </a:p>
          </p:txBody>
        </p:sp>
        <p:sp>
          <p:nvSpPr>
            <p:cNvPr id="34" name="Rounded Rectangle 10">
              <a:extLst>
                <a:ext uri="{FF2B5EF4-FFF2-40B4-BE49-F238E27FC236}">
                  <a16:creationId xmlns:a16="http://schemas.microsoft.com/office/drawing/2014/main" id="{7ED9A47F-1732-2194-7484-E7E7027A2F65}"/>
                </a:ext>
                <a:ext uri="{C183D7F6-B498-43B3-948B-1728B52AA6E4}">
                  <adec:decorative xmlns:adec="http://schemas.microsoft.com/office/drawing/2017/decorative" val="1"/>
                </a:ext>
              </a:extLst>
            </p:cNvPr>
            <p:cNvSpPr/>
            <p:nvPr/>
          </p:nvSpPr>
          <p:spPr bwMode="auto">
            <a:xfrm>
              <a:off x="5639219" y="4103646"/>
              <a:ext cx="3017400" cy="1024755"/>
            </a:xfrm>
            <a:prstGeom prst="roundRect">
              <a:avLst>
                <a:gd name="adj" fmla="val 7325"/>
              </a:avLst>
            </a:prstGeom>
            <a:ln w="19050" cap="rnd">
              <a:gradFill flip="none" rotWithShape="1">
                <a:gsLst>
                  <a:gs pos="0">
                    <a:srgbClr val="FF5C39"/>
                  </a:gs>
                  <a:gs pos="32000">
                    <a:srgbClr val="C03BC4"/>
                  </a:gs>
                  <a:gs pos="68000">
                    <a:srgbClr val="0078D4"/>
                  </a:gs>
                  <a:gs pos="100000">
                    <a:srgbClr val="399A91"/>
                  </a:gs>
                </a:gsLst>
                <a:path path="circle">
                  <a:fillToRect l="100000" t="100000"/>
                </a:path>
                <a:tileRect r="-100000" b="-100000"/>
              </a:gradFill>
              <a:prstDash val="sysDot"/>
              <a:headEnd type="none" w="lg" len="sm"/>
              <a:tailEnd type="none" w="lg" len="sm"/>
            </a:ln>
            <a:effectLst>
              <a:outerShdw blurRad="63500" dist="63500" dir="2700000" algn="tl" rotWithShape="0">
                <a:srgbClr val="454142">
                  <a:alpha val="20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72000" rIns="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400" dirty="0">
                  <a:solidFill>
                    <a:schemeClr val="tx1"/>
                  </a:solidFill>
                  <a:latin typeface="+mj-lt"/>
                  <a:ea typeface="Segoe UI" pitchFamily="34" charset="0"/>
                  <a:cs typeface="Segoe UI" pitchFamily="34" charset="0"/>
                </a:rPr>
                <a:t>Writer agent</a:t>
              </a:r>
              <a:endParaRPr lang="en-GB" sz="1400" dirty="0">
                <a:solidFill>
                  <a:schemeClr val="tx1"/>
                </a:solidFill>
                <a:latin typeface="+mj-lt"/>
                <a:ea typeface="Segoe UI" pitchFamily="34" charset="0"/>
                <a:cs typeface="Segoe UI" pitchFamily="34" charset="0"/>
              </a:endParaRPr>
            </a:p>
          </p:txBody>
        </p:sp>
        <p:sp>
          <p:nvSpPr>
            <p:cNvPr id="35" name="Rounded Rectangle 10">
              <a:extLst>
                <a:ext uri="{FF2B5EF4-FFF2-40B4-BE49-F238E27FC236}">
                  <a16:creationId xmlns:a16="http://schemas.microsoft.com/office/drawing/2014/main" id="{77C55C80-4851-FC58-782E-584959F0AEDE}"/>
                </a:ext>
                <a:ext uri="{C183D7F6-B498-43B3-948B-1728B52AA6E4}">
                  <adec:decorative xmlns:adec="http://schemas.microsoft.com/office/drawing/2017/decorative" val="1"/>
                </a:ext>
              </a:extLst>
            </p:cNvPr>
            <p:cNvSpPr/>
            <p:nvPr/>
          </p:nvSpPr>
          <p:spPr bwMode="auto">
            <a:xfrm>
              <a:off x="5655526" y="5223184"/>
              <a:ext cx="3017400" cy="1024755"/>
            </a:xfrm>
            <a:prstGeom prst="roundRect">
              <a:avLst>
                <a:gd name="adj" fmla="val 7325"/>
              </a:avLst>
            </a:prstGeom>
            <a:ln w="19050" cap="rnd">
              <a:gradFill flip="none" rotWithShape="1">
                <a:gsLst>
                  <a:gs pos="0">
                    <a:srgbClr val="FF5C39"/>
                  </a:gs>
                  <a:gs pos="32000">
                    <a:srgbClr val="C03BC4"/>
                  </a:gs>
                  <a:gs pos="68000">
                    <a:srgbClr val="0078D4"/>
                  </a:gs>
                  <a:gs pos="100000">
                    <a:srgbClr val="399A91"/>
                  </a:gs>
                </a:gsLst>
                <a:path path="circle">
                  <a:fillToRect l="100000" t="100000"/>
                </a:path>
                <a:tileRect r="-100000" b="-100000"/>
              </a:gradFill>
              <a:prstDash val="sysDot"/>
              <a:headEnd type="none" w="lg" len="sm"/>
              <a:tailEnd type="none" w="lg" len="sm"/>
            </a:ln>
            <a:effectLst>
              <a:outerShdw blurRad="63500" dist="63500" dir="2700000" algn="tl" rotWithShape="0">
                <a:srgbClr val="454142">
                  <a:alpha val="20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72000" rIns="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400" dirty="0">
                  <a:solidFill>
                    <a:schemeClr val="tx1"/>
                  </a:solidFill>
                  <a:latin typeface="+mj-lt"/>
                  <a:ea typeface="Segoe UI" pitchFamily="34" charset="0"/>
                  <a:cs typeface="Segoe UI" pitchFamily="34" charset="0"/>
                </a:rPr>
                <a:t>Editor agent</a:t>
              </a:r>
              <a:endParaRPr lang="en-GB" sz="1400" dirty="0">
                <a:solidFill>
                  <a:schemeClr val="tx1"/>
                </a:solidFill>
                <a:latin typeface="+mj-lt"/>
                <a:ea typeface="Segoe UI" pitchFamily="34" charset="0"/>
                <a:cs typeface="Segoe UI" pitchFamily="34" charset="0"/>
              </a:endParaRPr>
            </a:p>
          </p:txBody>
        </p:sp>
        <p:sp>
          <p:nvSpPr>
            <p:cNvPr id="36" name="TextBox 35">
              <a:extLst>
                <a:ext uri="{FF2B5EF4-FFF2-40B4-BE49-F238E27FC236}">
                  <a16:creationId xmlns:a16="http://schemas.microsoft.com/office/drawing/2014/main" id="{239B59A3-888C-FD86-B959-0C05AB034CFB}"/>
                </a:ext>
                <a:ext uri="{C183D7F6-B498-43B3-948B-1728B52AA6E4}">
                  <adec:decorative xmlns:adec="http://schemas.microsoft.com/office/drawing/2017/decorative" val="1"/>
                </a:ext>
              </a:extLst>
            </p:cNvPr>
            <p:cNvSpPr txBox="1"/>
            <p:nvPr/>
          </p:nvSpPr>
          <p:spPr>
            <a:xfrm>
              <a:off x="7146529" y="3584072"/>
              <a:ext cx="1119657" cy="338554"/>
            </a:xfrm>
            <a:prstGeom prst="rect">
              <a:avLst/>
            </a:prstGeom>
            <a:noFill/>
          </p:spPr>
          <p:txBody>
            <a:bodyPr wrap="square" lIns="0" tIns="0" rIns="0" bIns="0" rtlCol="0">
              <a:spAutoFit/>
            </a:bodyPr>
            <a:lstStyle/>
            <a:p>
              <a:pPr algn="ctr"/>
              <a:r>
                <a:rPr lang="en-US" sz="1100"/>
                <a:t>Azure AI</a:t>
              </a:r>
              <a:br>
                <a:rPr lang="en-US" sz="1100"/>
              </a:br>
              <a:r>
                <a:rPr lang="en-US" sz="1100"/>
                <a:t>Search</a:t>
              </a:r>
              <a:endParaRPr lang="en-GB" sz="1100"/>
            </a:p>
          </p:txBody>
        </p:sp>
        <p:pic>
          <p:nvPicPr>
            <p:cNvPr id="37" name="Graphic 36">
              <a:extLst>
                <a:ext uri="{FF2B5EF4-FFF2-40B4-BE49-F238E27FC236}">
                  <a16:creationId xmlns:a16="http://schemas.microsoft.com/office/drawing/2014/main" id="{33E81519-A2A9-BA4F-0AC1-528D4A7015D0}"/>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33309" y="3316357"/>
              <a:ext cx="285353" cy="285353"/>
            </a:xfrm>
            <a:prstGeom prst="rect">
              <a:avLst/>
            </a:prstGeom>
          </p:spPr>
        </p:pic>
        <p:sp>
          <p:nvSpPr>
            <p:cNvPr id="38" name="TextBox 37">
              <a:extLst>
                <a:ext uri="{FF2B5EF4-FFF2-40B4-BE49-F238E27FC236}">
                  <a16:creationId xmlns:a16="http://schemas.microsoft.com/office/drawing/2014/main" id="{940C23EE-4FA3-054E-4CC9-D12D3EB3C198}"/>
                </a:ext>
                <a:ext uri="{C183D7F6-B498-43B3-948B-1728B52AA6E4}">
                  <adec:decorative xmlns:adec="http://schemas.microsoft.com/office/drawing/2017/decorative" val="1"/>
                </a:ext>
              </a:extLst>
            </p:cNvPr>
            <p:cNvSpPr txBox="1"/>
            <p:nvPr/>
          </p:nvSpPr>
          <p:spPr>
            <a:xfrm>
              <a:off x="6687332" y="4710807"/>
              <a:ext cx="913245" cy="338554"/>
            </a:xfrm>
            <a:prstGeom prst="rect">
              <a:avLst/>
            </a:prstGeom>
            <a:noFill/>
          </p:spPr>
          <p:txBody>
            <a:bodyPr wrap="square" lIns="0" tIns="0" rIns="0" bIns="0" rtlCol="0">
              <a:spAutoFit/>
            </a:bodyPr>
            <a:lstStyle/>
            <a:p>
              <a:pPr algn="ctr"/>
              <a:r>
                <a:rPr lang="en-US" sz="1100" dirty="0"/>
                <a:t>Azure OpenAI </a:t>
              </a:r>
              <a:br>
                <a:rPr lang="en-US" sz="1100" dirty="0"/>
              </a:br>
              <a:r>
                <a:rPr lang="en-US" sz="1100" dirty="0"/>
                <a:t>Service</a:t>
              </a:r>
              <a:endParaRPr lang="en-GB" sz="1100" dirty="0"/>
            </a:p>
          </p:txBody>
        </p:sp>
        <p:pic>
          <p:nvPicPr>
            <p:cNvPr id="39" name="Graphic 38">
              <a:extLst>
                <a:ext uri="{FF2B5EF4-FFF2-40B4-BE49-F238E27FC236}">
                  <a16:creationId xmlns:a16="http://schemas.microsoft.com/office/drawing/2014/main" id="{DBE2912E-F5B1-34D2-FE19-4DF2924BB749}"/>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5563" y="4479257"/>
              <a:ext cx="216785" cy="216785"/>
            </a:xfrm>
            <a:prstGeom prst="rect">
              <a:avLst/>
            </a:prstGeom>
          </p:spPr>
        </p:pic>
        <p:cxnSp>
          <p:nvCxnSpPr>
            <p:cNvPr id="40" name="Connector: Elbow 55">
              <a:extLst>
                <a:ext uri="{FF2B5EF4-FFF2-40B4-BE49-F238E27FC236}">
                  <a16:creationId xmlns:a16="http://schemas.microsoft.com/office/drawing/2014/main" id="{3BE38363-27EA-53F4-7B77-635C5A0967A0}"/>
                </a:ext>
                <a:ext uri="{C183D7F6-B498-43B3-948B-1728B52AA6E4}">
                  <adec:decorative xmlns:adec="http://schemas.microsoft.com/office/drawing/2017/decorative" val="1"/>
                </a:ext>
              </a:extLst>
            </p:cNvPr>
            <p:cNvCxnSpPr>
              <a:cxnSpLocks/>
            </p:cNvCxnSpPr>
            <p:nvPr/>
          </p:nvCxnSpPr>
          <p:spPr>
            <a:xfrm rot="16200000" flipH="1">
              <a:off x="8246291" y="4056820"/>
              <a:ext cx="910982" cy="27844"/>
            </a:xfrm>
            <a:prstGeom prst="bentConnector4">
              <a:avLst>
                <a:gd name="adj1" fmla="val 37"/>
                <a:gd name="adj2" fmla="val 753764"/>
              </a:avLst>
            </a:prstGeom>
            <a:ln w="12700" cap="rnd">
              <a:solidFill>
                <a:srgbClr val="B1B3B3"/>
              </a:solidFill>
              <a:headEnd type="none" w="lg" len="sm"/>
              <a:tailEnd type="arrow"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41" name="Connector: Elbow 1031">
              <a:extLst>
                <a:ext uri="{FF2B5EF4-FFF2-40B4-BE49-F238E27FC236}">
                  <a16:creationId xmlns:a16="http://schemas.microsoft.com/office/drawing/2014/main" id="{CEF8DDA2-99C5-7C49-4189-47BA28261958}"/>
                </a:ext>
                <a:ext uri="{C183D7F6-B498-43B3-948B-1728B52AA6E4}">
                  <adec:decorative xmlns:adec="http://schemas.microsoft.com/office/drawing/2017/decorative" val="1"/>
                </a:ext>
              </a:extLst>
            </p:cNvPr>
            <p:cNvCxnSpPr>
              <a:cxnSpLocks/>
            </p:cNvCxnSpPr>
            <p:nvPr/>
          </p:nvCxnSpPr>
          <p:spPr>
            <a:xfrm>
              <a:off x="8699926" y="4710791"/>
              <a:ext cx="12700" cy="1118923"/>
            </a:xfrm>
            <a:prstGeom prst="bentConnector3">
              <a:avLst>
                <a:gd name="adj1" fmla="val 1900000"/>
              </a:avLst>
            </a:prstGeom>
            <a:ln w="12700" cap="rnd">
              <a:solidFill>
                <a:srgbClr val="B1B3B3"/>
              </a:solidFill>
              <a:headEnd type="none" w="lg" len="sm"/>
              <a:tailEnd type="arrow"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grpSp>
      <p:pic>
        <p:nvPicPr>
          <p:cNvPr id="45" name="Graphic 44">
            <a:extLst>
              <a:ext uri="{FF2B5EF4-FFF2-40B4-BE49-F238E27FC236}">
                <a16:creationId xmlns:a16="http://schemas.microsoft.com/office/drawing/2014/main" id="{CB5C91A3-9C62-23A1-AAA5-C9446A8E333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567932" y="3980331"/>
            <a:ext cx="571613" cy="571613"/>
          </a:xfrm>
          <a:prstGeom prst="rect">
            <a:avLst/>
          </a:prstGeom>
        </p:spPr>
      </p:pic>
      <p:sp>
        <p:nvSpPr>
          <p:cNvPr id="47" name="TextBox 46">
            <a:extLst>
              <a:ext uri="{FF2B5EF4-FFF2-40B4-BE49-F238E27FC236}">
                <a16:creationId xmlns:a16="http://schemas.microsoft.com/office/drawing/2014/main" id="{AC705E52-CD78-0E4A-2E52-BA15D8BA4161}"/>
              </a:ext>
            </a:extLst>
          </p:cNvPr>
          <p:cNvSpPr txBox="1"/>
          <p:nvPr/>
        </p:nvSpPr>
        <p:spPr>
          <a:xfrm>
            <a:off x="611663" y="5948436"/>
            <a:ext cx="5886570" cy="369332"/>
          </a:xfrm>
          <a:prstGeom prst="rect">
            <a:avLst/>
          </a:prstGeom>
          <a:noFill/>
        </p:spPr>
        <p:txBody>
          <a:bodyPr wrap="square">
            <a:spAutoFit/>
          </a:bodyPr>
          <a:lstStyle/>
          <a:p>
            <a:r>
              <a:rPr lang="en-US">
                <a:hlinkClick r:id="rId14"/>
              </a:rPr>
              <a:t>https://aka.ms/creative-writer-agent</a:t>
            </a:r>
            <a:endParaRPr lang="en-US"/>
          </a:p>
        </p:txBody>
      </p:sp>
    </p:spTree>
    <p:extLst>
      <p:ext uri="{BB962C8B-B14F-4D97-AF65-F5344CB8AC3E}">
        <p14:creationId xmlns:p14="http://schemas.microsoft.com/office/powerpoint/2010/main" val="54389153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3087B-FD53-86BB-378E-6D2C7B840BB4}"/>
              </a:ext>
            </a:extLst>
          </p:cNvPr>
          <p:cNvSpPr>
            <a:spLocks noGrp="1"/>
          </p:cNvSpPr>
          <p:nvPr>
            <p:ph type="title"/>
          </p:nvPr>
        </p:nvSpPr>
        <p:spPr>
          <a:xfrm>
            <a:off x="201706" y="2843659"/>
            <a:ext cx="10316180" cy="747897"/>
          </a:xfrm>
        </p:spPr>
        <p:txBody>
          <a:bodyPr/>
          <a:lstStyle/>
          <a:p>
            <a:pPr algn="ctr"/>
            <a:r>
              <a:rPr lang="en-US" sz="5400" dirty="0"/>
              <a:t>What is an AI agent?</a:t>
            </a:r>
          </a:p>
        </p:txBody>
      </p:sp>
    </p:spTree>
    <p:extLst>
      <p:ext uri="{BB962C8B-B14F-4D97-AF65-F5344CB8AC3E}">
        <p14:creationId xmlns:p14="http://schemas.microsoft.com/office/powerpoint/2010/main" val="182110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4CDB86-5892-379F-6BB8-BCD0D4BD92C4}"/>
              </a:ext>
            </a:extLst>
          </p:cNvPr>
          <p:cNvSpPr>
            <a:spLocks noGrp="1"/>
          </p:cNvSpPr>
          <p:nvPr>
            <p:ph type="title"/>
          </p:nvPr>
        </p:nvSpPr>
        <p:spPr>
          <a:xfrm>
            <a:off x="944880" y="1652196"/>
            <a:ext cx="10594848" cy="3354765"/>
          </a:xfrm>
        </p:spPr>
        <p:txBody>
          <a:bodyPr/>
          <a:lstStyle/>
          <a:p>
            <a:pPr algn="ctr"/>
            <a:r>
              <a:rPr lang="en-US" sz="3600" dirty="0">
                <a:ln w="3175">
                  <a:noFill/>
                </a:ln>
                <a:solidFill>
                  <a:srgbClr val="000000"/>
                </a:solidFill>
                <a:latin typeface="Segoe UI" panose="020B0502040204020203" pitchFamily="34" charset="0"/>
                <a:sym typeface="Rubik Light"/>
              </a:rPr>
              <a:t>An agent in LLM-based applications</a:t>
            </a:r>
            <a:br>
              <a:rPr lang="en-US" sz="3600" dirty="0">
                <a:ln w="3175">
                  <a:noFill/>
                </a:ln>
                <a:solidFill>
                  <a:srgbClr val="000000"/>
                </a:solidFill>
                <a:latin typeface="Segoe UI" panose="020B0502040204020203" pitchFamily="34" charset="0"/>
                <a:sym typeface="Rubik Light"/>
              </a:rPr>
            </a:br>
            <a:r>
              <a:rPr lang="en-US" sz="3600" dirty="0">
                <a:ln w="3175">
                  <a:noFill/>
                </a:ln>
                <a:solidFill>
                  <a:srgbClr val="000000"/>
                </a:solidFill>
                <a:latin typeface="Segoe UI" panose="020B0502040204020203" pitchFamily="34" charset="0"/>
                <a:sym typeface="Rubik Light"/>
              </a:rPr>
              <a:t>is a </a:t>
            </a:r>
            <a:r>
              <a:rPr lang="en-US" sz="3600" b="1" dirty="0">
                <a:ln w="3175">
                  <a:noFill/>
                </a:ln>
                <a:solidFill>
                  <a:srgbClr val="000000"/>
                </a:solidFill>
                <a:latin typeface="Segoe UI" panose="020B0502040204020203" pitchFamily="34" charset="0"/>
                <a:sym typeface="Rubik Light"/>
              </a:rPr>
              <a:t>semi-autonomous</a:t>
            </a:r>
            <a:r>
              <a:rPr lang="en-US" sz="3600" dirty="0">
                <a:ln w="3175">
                  <a:noFill/>
                </a:ln>
                <a:solidFill>
                  <a:srgbClr val="000000"/>
                </a:solidFill>
                <a:latin typeface="Segoe UI" panose="020B0502040204020203" pitchFamily="34" charset="0"/>
                <a:sym typeface="Rubik Light"/>
              </a:rPr>
              <a:t> software entity</a:t>
            </a:r>
            <a:br>
              <a:rPr lang="en-US" sz="3600" dirty="0">
                <a:ln w="3175">
                  <a:noFill/>
                </a:ln>
                <a:solidFill>
                  <a:srgbClr val="000000"/>
                </a:solidFill>
                <a:latin typeface="Segoe UI" panose="020B0502040204020203" pitchFamily="34" charset="0"/>
                <a:sym typeface="Rubik Light"/>
              </a:rPr>
            </a:br>
            <a:r>
              <a:rPr lang="en-US" sz="3600" dirty="0">
                <a:ln w="3175">
                  <a:noFill/>
                </a:ln>
                <a:solidFill>
                  <a:srgbClr val="000000"/>
                </a:solidFill>
                <a:latin typeface="Segoe UI" panose="020B0502040204020203" pitchFamily="34" charset="0"/>
                <a:sym typeface="Rubik Light"/>
              </a:rPr>
              <a:t>leveraging </a:t>
            </a:r>
            <a:r>
              <a:rPr lang="en-US" sz="3600" b="1" dirty="0">
                <a:ln w="3175">
                  <a:noFill/>
                </a:ln>
                <a:solidFill>
                  <a:srgbClr val="000000"/>
                </a:solidFill>
                <a:latin typeface="Segoe UI" panose="020B0502040204020203" pitchFamily="34" charset="0"/>
                <a:sym typeface="Rubik Light"/>
              </a:rPr>
              <a:t>large language models</a:t>
            </a:r>
            <a:br>
              <a:rPr lang="en-US" sz="3600" dirty="0">
                <a:ln w="3175">
                  <a:noFill/>
                </a:ln>
                <a:solidFill>
                  <a:srgbClr val="000000"/>
                </a:solidFill>
                <a:latin typeface="Segoe UI" panose="020B0502040204020203" pitchFamily="34" charset="0"/>
                <a:sym typeface="Rubik Light"/>
              </a:rPr>
            </a:br>
            <a:r>
              <a:rPr lang="en-US" sz="3600" dirty="0">
                <a:ln w="3175">
                  <a:noFill/>
                </a:ln>
                <a:solidFill>
                  <a:srgbClr val="000000"/>
                </a:solidFill>
                <a:latin typeface="Segoe UI" panose="020B0502040204020203" pitchFamily="34" charset="0"/>
                <a:sym typeface="Rubik Light"/>
              </a:rPr>
              <a:t>to perform </a:t>
            </a:r>
            <a:r>
              <a:rPr lang="en-US" sz="3600" b="1" dirty="0">
                <a:ln w="3175">
                  <a:noFill/>
                </a:ln>
                <a:solidFill>
                  <a:srgbClr val="000000"/>
                </a:solidFill>
                <a:latin typeface="Segoe UI" panose="020B0502040204020203" pitchFamily="34" charset="0"/>
                <a:sym typeface="Rubik Light"/>
              </a:rPr>
              <a:t>specific tasks</a:t>
            </a:r>
            <a:br>
              <a:rPr lang="en-US" sz="3600" dirty="0">
                <a:ln w="3175">
                  <a:noFill/>
                </a:ln>
                <a:solidFill>
                  <a:srgbClr val="000000"/>
                </a:solidFill>
                <a:latin typeface="Segoe UI" panose="020B0502040204020203" pitchFamily="34" charset="0"/>
                <a:sym typeface="Rubik Light"/>
              </a:rPr>
            </a:br>
            <a:r>
              <a:rPr lang="en-US" sz="3600" dirty="0">
                <a:ln w="3175">
                  <a:noFill/>
                </a:ln>
                <a:solidFill>
                  <a:srgbClr val="000000"/>
                </a:solidFill>
                <a:latin typeface="Segoe UI" panose="020B0502040204020203" pitchFamily="34" charset="0"/>
                <a:sym typeface="Rubik Light"/>
              </a:rPr>
              <a:t>through </a:t>
            </a:r>
            <a:r>
              <a:rPr lang="en-US" sz="3600" b="1" dirty="0">
                <a:ln w="3175">
                  <a:noFill/>
                </a:ln>
                <a:solidFill>
                  <a:srgbClr val="000000"/>
                </a:solidFill>
                <a:latin typeface="Segoe UI" panose="020B0502040204020203" pitchFamily="34" charset="0"/>
                <a:sym typeface="Rubik Light"/>
              </a:rPr>
              <a:t>natural language interaction</a:t>
            </a:r>
            <a:r>
              <a:rPr lang="en-US" sz="3600" dirty="0">
                <a:ln w="3175">
                  <a:noFill/>
                </a:ln>
                <a:solidFill>
                  <a:srgbClr val="000000"/>
                </a:solidFill>
                <a:latin typeface="Segoe UI" panose="020B0502040204020203" pitchFamily="34" charset="0"/>
                <a:sym typeface="Rubik Light"/>
              </a:rPr>
              <a:t>.</a:t>
            </a:r>
            <a:br>
              <a:rPr lang="en-US" sz="3600" dirty="0">
                <a:ln w="3175">
                  <a:noFill/>
                </a:ln>
                <a:gradFill flip="none" rotWithShape="1">
                  <a:gsLst>
                    <a:gs pos="100000">
                      <a:srgbClr val="49C5B1"/>
                    </a:gs>
                    <a:gs pos="0">
                      <a:srgbClr val="FFA38B"/>
                    </a:gs>
                    <a:gs pos="32000">
                      <a:srgbClr val="D59ED7"/>
                    </a:gs>
                    <a:gs pos="68000">
                      <a:srgbClr val="8DC8E8"/>
                    </a:gs>
                  </a:gsLst>
                  <a:path path="circle">
                    <a:fillToRect l="100000" t="100000"/>
                  </a:path>
                  <a:tileRect r="-100000" b="-100000"/>
                </a:gradFill>
                <a:latin typeface="Segoe UI" panose="020B0502040204020203" pitchFamily="34" charset="0"/>
                <a:sym typeface="Rubik Light"/>
              </a:rPr>
            </a:br>
            <a:endParaRPr lang="en-US" sz="3800" dirty="0">
              <a:latin typeface="Segoe UI" panose="020B0502040204020203" pitchFamily="34" charset="0"/>
            </a:endParaRPr>
          </a:p>
        </p:txBody>
      </p:sp>
    </p:spTree>
    <p:extLst>
      <p:ext uri="{BB962C8B-B14F-4D97-AF65-F5344CB8AC3E}">
        <p14:creationId xmlns:p14="http://schemas.microsoft.com/office/powerpoint/2010/main" val="283807829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3">
            <a:extLst>
              <a:ext uri="{FF2B5EF4-FFF2-40B4-BE49-F238E27FC236}">
                <a16:creationId xmlns:a16="http://schemas.microsoft.com/office/drawing/2014/main" id="{39AF3EE8-3569-F9FA-72F5-5E7EC5FAD843}"/>
              </a:ext>
            </a:extLst>
          </p:cNvPr>
          <p:cNvGrpSpPr/>
          <p:nvPr/>
        </p:nvGrpSpPr>
        <p:grpSpPr>
          <a:xfrm>
            <a:off x="4762954" y="-45518"/>
            <a:ext cx="3086100" cy="3303091"/>
            <a:chOff x="0" y="-57150"/>
            <a:chExt cx="812800" cy="869950"/>
          </a:xfrm>
        </p:grpSpPr>
        <p:sp>
          <p:nvSpPr>
            <p:cNvPr id="28" name="Freeform 4">
              <a:extLst>
                <a:ext uri="{FF2B5EF4-FFF2-40B4-BE49-F238E27FC236}">
                  <a16:creationId xmlns:a16="http://schemas.microsoft.com/office/drawing/2014/main" id="{232BE6A3-1FF7-028D-4F3C-3268872AFEB0}"/>
                </a:ext>
              </a:extLst>
            </p:cNvPr>
            <p:cNvSpPr/>
            <p:nvPr/>
          </p:nvSpPr>
          <p:spPr>
            <a:xfrm>
              <a:off x="0" y="0"/>
              <a:ext cx="812800" cy="6804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217CE9"/>
            </a:solidFill>
          </p:spPr>
          <p:txBody>
            <a:bodyPr/>
            <a:lstStyle/>
            <a:p>
              <a:endParaRPr lang="en-US"/>
            </a:p>
          </p:txBody>
        </p:sp>
        <p:sp>
          <p:nvSpPr>
            <p:cNvPr id="29" name="TextBox 5">
              <a:extLst>
                <a:ext uri="{FF2B5EF4-FFF2-40B4-BE49-F238E27FC236}">
                  <a16:creationId xmlns:a16="http://schemas.microsoft.com/office/drawing/2014/main" id="{B77C3FCD-76E5-A29E-A02F-DE0E054A901C}"/>
                </a:ext>
              </a:extLst>
            </p:cNvPr>
            <p:cNvSpPr txBox="1"/>
            <p:nvPr/>
          </p:nvSpPr>
          <p:spPr>
            <a:xfrm>
              <a:off x="0" y="-57150"/>
              <a:ext cx="812800" cy="869950"/>
            </a:xfrm>
            <a:prstGeom prst="rect">
              <a:avLst/>
            </a:prstGeom>
          </p:spPr>
          <p:txBody>
            <a:bodyPr lIns="50800" tIns="50800" rIns="50800" bIns="50800" rtlCol="0" anchor="ctr"/>
            <a:lstStyle/>
            <a:p>
              <a:pPr algn="ctr">
                <a:lnSpc>
                  <a:spcPts val="3500"/>
                </a:lnSpc>
              </a:pPr>
              <a:endParaRPr/>
            </a:p>
          </p:txBody>
        </p:sp>
      </p:grpSp>
      <p:grpSp>
        <p:nvGrpSpPr>
          <p:cNvPr id="30" name="Group 29">
            <a:extLst>
              <a:ext uri="{FF2B5EF4-FFF2-40B4-BE49-F238E27FC236}">
                <a16:creationId xmlns:a16="http://schemas.microsoft.com/office/drawing/2014/main" id="{8924D4BA-53CE-DAB1-2B98-0FDA2A7C26D8}"/>
              </a:ext>
            </a:extLst>
          </p:cNvPr>
          <p:cNvGrpSpPr/>
          <p:nvPr/>
        </p:nvGrpSpPr>
        <p:grpSpPr>
          <a:xfrm>
            <a:off x="8910264" y="3564263"/>
            <a:ext cx="3086100" cy="3086100"/>
            <a:chOff x="0" y="0"/>
            <a:chExt cx="812800" cy="812800"/>
          </a:xfrm>
        </p:grpSpPr>
        <p:sp>
          <p:nvSpPr>
            <p:cNvPr id="31" name="Freeform 30">
              <a:extLst>
                <a:ext uri="{FF2B5EF4-FFF2-40B4-BE49-F238E27FC236}">
                  <a16:creationId xmlns:a16="http://schemas.microsoft.com/office/drawing/2014/main" id="{1514C9B3-6E6D-3CD7-3061-CF9EA99E5E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52F9"/>
            </a:solidFill>
          </p:spPr>
          <p:txBody>
            <a:bodyPr/>
            <a:lstStyle/>
            <a:p>
              <a:endParaRPr lang="en-US"/>
            </a:p>
          </p:txBody>
        </p:sp>
        <p:sp>
          <p:nvSpPr>
            <p:cNvPr id="32" name="TextBox 31">
              <a:extLst>
                <a:ext uri="{FF2B5EF4-FFF2-40B4-BE49-F238E27FC236}">
                  <a16:creationId xmlns:a16="http://schemas.microsoft.com/office/drawing/2014/main" id="{3376859B-B46E-C415-B1AA-151288239A83}"/>
                </a:ext>
              </a:extLst>
            </p:cNvPr>
            <p:cNvSpPr txBox="1"/>
            <p:nvPr/>
          </p:nvSpPr>
          <p:spPr>
            <a:xfrm>
              <a:off x="76200" y="19050"/>
              <a:ext cx="660400" cy="717550"/>
            </a:xfrm>
            <a:prstGeom prst="rect">
              <a:avLst/>
            </a:prstGeom>
          </p:spPr>
          <p:txBody>
            <a:bodyPr lIns="50800" tIns="50800" rIns="50800" bIns="50800" rtlCol="0" anchor="ctr"/>
            <a:lstStyle/>
            <a:p>
              <a:pPr algn="ctr">
                <a:lnSpc>
                  <a:spcPts val="3500"/>
                </a:lnSpc>
              </a:pPr>
              <a:endParaRPr/>
            </a:p>
          </p:txBody>
        </p:sp>
      </p:grpSp>
      <p:grpSp>
        <p:nvGrpSpPr>
          <p:cNvPr id="34" name="Group 33">
            <a:extLst>
              <a:ext uri="{FF2B5EF4-FFF2-40B4-BE49-F238E27FC236}">
                <a16:creationId xmlns:a16="http://schemas.microsoft.com/office/drawing/2014/main" id="{EAFD7291-3B33-C6FB-4C54-420C37DC21DF}"/>
              </a:ext>
            </a:extLst>
          </p:cNvPr>
          <p:cNvGrpSpPr/>
          <p:nvPr/>
        </p:nvGrpSpPr>
        <p:grpSpPr>
          <a:xfrm>
            <a:off x="4698625" y="4144562"/>
            <a:ext cx="3086100" cy="2796778"/>
            <a:chOff x="0" y="0"/>
            <a:chExt cx="812800" cy="736600"/>
          </a:xfrm>
        </p:grpSpPr>
        <p:sp>
          <p:nvSpPr>
            <p:cNvPr id="35" name="Freeform 34">
              <a:extLst>
                <a:ext uri="{FF2B5EF4-FFF2-40B4-BE49-F238E27FC236}">
                  <a16:creationId xmlns:a16="http://schemas.microsoft.com/office/drawing/2014/main" id="{4226BF1A-0588-3365-C8E6-52D569A31A35}"/>
                </a:ext>
              </a:extLst>
            </p:cNvPr>
            <p:cNvSpPr/>
            <p:nvPr/>
          </p:nvSpPr>
          <p:spPr>
            <a:xfrm>
              <a:off x="0" y="0"/>
              <a:ext cx="812800" cy="65996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52F9"/>
            </a:solidFill>
          </p:spPr>
          <p:txBody>
            <a:bodyPr/>
            <a:lstStyle/>
            <a:p>
              <a:endParaRPr lang="en-US"/>
            </a:p>
          </p:txBody>
        </p:sp>
        <p:sp>
          <p:nvSpPr>
            <p:cNvPr id="36" name="TextBox 35">
              <a:extLst>
                <a:ext uri="{FF2B5EF4-FFF2-40B4-BE49-F238E27FC236}">
                  <a16:creationId xmlns:a16="http://schemas.microsoft.com/office/drawing/2014/main" id="{22B2B79A-887B-43B7-2AFD-C27F8287BDCA}"/>
                </a:ext>
              </a:extLst>
            </p:cNvPr>
            <p:cNvSpPr txBox="1"/>
            <p:nvPr/>
          </p:nvSpPr>
          <p:spPr>
            <a:xfrm>
              <a:off x="76200" y="19050"/>
              <a:ext cx="660400" cy="717550"/>
            </a:xfrm>
            <a:prstGeom prst="rect">
              <a:avLst/>
            </a:prstGeom>
          </p:spPr>
          <p:txBody>
            <a:bodyPr lIns="50800" tIns="50800" rIns="50800" bIns="50800" rtlCol="0" anchor="ctr"/>
            <a:lstStyle/>
            <a:p>
              <a:pPr algn="ctr">
                <a:lnSpc>
                  <a:spcPts val="3500"/>
                </a:lnSpc>
              </a:pPr>
              <a:endParaRPr/>
            </a:p>
          </p:txBody>
        </p:sp>
      </p:grpSp>
      <p:grpSp>
        <p:nvGrpSpPr>
          <p:cNvPr id="37" name="Group 36">
            <a:extLst>
              <a:ext uri="{FF2B5EF4-FFF2-40B4-BE49-F238E27FC236}">
                <a16:creationId xmlns:a16="http://schemas.microsoft.com/office/drawing/2014/main" id="{3A5731EE-E4AF-4E81-3295-8459B2359A82}"/>
              </a:ext>
            </a:extLst>
          </p:cNvPr>
          <p:cNvGrpSpPr/>
          <p:nvPr/>
        </p:nvGrpSpPr>
        <p:grpSpPr>
          <a:xfrm>
            <a:off x="168753" y="3636593"/>
            <a:ext cx="3086100" cy="2724449"/>
            <a:chOff x="0" y="-45061"/>
            <a:chExt cx="812800" cy="907316"/>
          </a:xfrm>
        </p:grpSpPr>
        <p:sp>
          <p:nvSpPr>
            <p:cNvPr id="38" name="Freeform 37">
              <a:extLst>
                <a:ext uri="{FF2B5EF4-FFF2-40B4-BE49-F238E27FC236}">
                  <a16:creationId xmlns:a16="http://schemas.microsoft.com/office/drawing/2014/main" id="{8DF1F9B0-0234-243E-A4D4-65B906088C6F}"/>
                </a:ext>
              </a:extLst>
            </p:cNvPr>
            <p:cNvSpPr/>
            <p:nvPr/>
          </p:nvSpPr>
          <p:spPr>
            <a:xfrm>
              <a:off x="0" y="-45061"/>
              <a:ext cx="812800" cy="90731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52F9"/>
            </a:solidFill>
          </p:spPr>
          <p:txBody>
            <a:bodyPr/>
            <a:lstStyle/>
            <a:p>
              <a:endParaRPr lang="en-US"/>
            </a:p>
          </p:txBody>
        </p:sp>
        <p:sp>
          <p:nvSpPr>
            <p:cNvPr id="39" name="TextBox 38">
              <a:extLst>
                <a:ext uri="{FF2B5EF4-FFF2-40B4-BE49-F238E27FC236}">
                  <a16:creationId xmlns:a16="http://schemas.microsoft.com/office/drawing/2014/main" id="{19137D8C-7840-869C-EDEA-DD93E913B137}"/>
                </a:ext>
              </a:extLst>
            </p:cNvPr>
            <p:cNvSpPr txBox="1"/>
            <p:nvPr/>
          </p:nvSpPr>
          <p:spPr>
            <a:xfrm>
              <a:off x="76200" y="19050"/>
              <a:ext cx="660400" cy="717550"/>
            </a:xfrm>
            <a:prstGeom prst="rect">
              <a:avLst/>
            </a:prstGeom>
          </p:spPr>
          <p:txBody>
            <a:bodyPr lIns="50800" tIns="50800" rIns="50800" bIns="50800" rtlCol="0" anchor="ctr"/>
            <a:lstStyle/>
            <a:p>
              <a:pPr algn="ctr">
                <a:lnSpc>
                  <a:spcPts val="3500"/>
                </a:lnSpc>
              </a:pPr>
              <a:endParaRPr/>
            </a:p>
          </p:txBody>
        </p:sp>
      </p:grpSp>
      <p:sp>
        <p:nvSpPr>
          <p:cNvPr id="40" name="AutoShape 17">
            <a:extLst>
              <a:ext uri="{FF2B5EF4-FFF2-40B4-BE49-F238E27FC236}">
                <a16:creationId xmlns:a16="http://schemas.microsoft.com/office/drawing/2014/main" id="{10992FE8-9666-446A-7F8E-A66D4FF9835B}"/>
              </a:ext>
            </a:extLst>
          </p:cNvPr>
          <p:cNvSpPr/>
          <p:nvPr/>
        </p:nvSpPr>
        <p:spPr>
          <a:xfrm flipH="1">
            <a:off x="2662513" y="2559807"/>
            <a:ext cx="2093271" cy="1389696"/>
          </a:xfrm>
          <a:prstGeom prst="line">
            <a:avLst/>
          </a:prstGeom>
          <a:ln w="123825" cap="flat">
            <a:solidFill>
              <a:srgbClr val="230A50"/>
            </a:solidFill>
            <a:prstDash val="solid"/>
            <a:headEnd type="none" w="sm" len="sm"/>
            <a:tailEnd type="arrow" w="med" len="sm"/>
          </a:ln>
        </p:spPr>
        <p:txBody>
          <a:bodyPr/>
          <a:lstStyle/>
          <a:p>
            <a:endParaRPr lang="en-US"/>
          </a:p>
        </p:txBody>
      </p:sp>
      <p:sp>
        <p:nvSpPr>
          <p:cNvPr id="41" name="AutoShape 18">
            <a:extLst>
              <a:ext uri="{FF2B5EF4-FFF2-40B4-BE49-F238E27FC236}">
                <a16:creationId xmlns:a16="http://schemas.microsoft.com/office/drawing/2014/main" id="{99BAEF8E-FAFB-A2A3-3A85-0A61986D8C27}"/>
              </a:ext>
            </a:extLst>
          </p:cNvPr>
          <p:cNvSpPr/>
          <p:nvPr/>
        </p:nvSpPr>
        <p:spPr>
          <a:xfrm flipH="1">
            <a:off x="6263886" y="2754866"/>
            <a:ext cx="13447" cy="1389696"/>
          </a:xfrm>
          <a:prstGeom prst="line">
            <a:avLst/>
          </a:prstGeom>
          <a:ln w="123825" cap="flat">
            <a:solidFill>
              <a:srgbClr val="230A50"/>
            </a:solidFill>
            <a:prstDash val="solid"/>
            <a:headEnd type="none" w="sm" len="sm"/>
            <a:tailEnd type="arrow" w="med" len="sm"/>
          </a:ln>
        </p:spPr>
        <p:txBody>
          <a:bodyPr/>
          <a:lstStyle/>
          <a:p>
            <a:endParaRPr lang="en-US"/>
          </a:p>
        </p:txBody>
      </p:sp>
      <p:sp>
        <p:nvSpPr>
          <p:cNvPr id="42" name="AutoShape 19">
            <a:extLst>
              <a:ext uri="{FF2B5EF4-FFF2-40B4-BE49-F238E27FC236}">
                <a16:creationId xmlns:a16="http://schemas.microsoft.com/office/drawing/2014/main" id="{76A8E747-A82E-1389-9F5A-E99D784181E8}"/>
              </a:ext>
            </a:extLst>
          </p:cNvPr>
          <p:cNvSpPr/>
          <p:nvPr/>
        </p:nvSpPr>
        <p:spPr>
          <a:xfrm>
            <a:off x="7849055" y="2525105"/>
            <a:ext cx="2047979" cy="1101988"/>
          </a:xfrm>
          <a:prstGeom prst="line">
            <a:avLst/>
          </a:prstGeom>
          <a:ln w="123825" cap="flat">
            <a:solidFill>
              <a:srgbClr val="230A50"/>
            </a:solidFill>
            <a:prstDash val="solid"/>
            <a:headEnd type="none" w="sm" len="sm"/>
            <a:tailEnd type="arrow" w="med" len="sm"/>
          </a:ln>
        </p:spPr>
        <p:txBody>
          <a:bodyPr/>
          <a:lstStyle/>
          <a:p>
            <a:endParaRPr lang="en-US"/>
          </a:p>
        </p:txBody>
      </p:sp>
      <p:sp>
        <p:nvSpPr>
          <p:cNvPr id="43" name="TextBox 42">
            <a:extLst>
              <a:ext uri="{FF2B5EF4-FFF2-40B4-BE49-F238E27FC236}">
                <a16:creationId xmlns:a16="http://schemas.microsoft.com/office/drawing/2014/main" id="{ED999D29-7459-3E5A-25FC-E46C211B0C59}"/>
              </a:ext>
            </a:extLst>
          </p:cNvPr>
          <p:cNvSpPr txBox="1"/>
          <p:nvPr/>
        </p:nvSpPr>
        <p:spPr>
          <a:xfrm>
            <a:off x="4762953" y="631868"/>
            <a:ext cx="3086101" cy="1927939"/>
          </a:xfrm>
          <a:prstGeom prst="rect">
            <a:avLst/>
          </a:prstGeom>
        </p:spPr>
        <p:txBody>
          <a:bodyPr wrap="square" lIns="0" tIns="0" rIns="0" bIns="0" rtlCol="0" anchor="t">
            <a:spAutoFit/>
          </a:bodyPr>
          <a:lstStyle/>
          <a:p>
            <a:pPr algn="ctr">
              <a:lnSpc>
                <a:spcPts val="5035"/>
              </a:lnSpc>
            </a:pPr>
            <a:r>
              <a:rPr lang="en-US" sz="3596">
                <a:solidFill>
                  <a:srgbClr val="FFFFFF"/>
                </a:solidFill>
                <a:latin typeface="Poppins"/>
                <a:ea typeface="Poppins"/>
                <a:cs typeface="Poppins"/>
                <a:sym typeface="Poppins"/>
              </a:rPr>
              <a:t>Large</a:t>
            </a:r>
          </a:p>
          <a:p>
            <a:pPr algn="ctr">
              <a:lnSpc>
                <a:spcPts val="5035"/>
              </a:lnSpc>
            </a:pPr>
            <a:r>
              <a:rPr lang="en-US" sz="3596">
                <a:solidFill>
                  <a:srgbClr val="FFFFFF"/>
                </a:solidFill>
                <a:latin typeface="Poppins"/>
                <a:ea typeface="Poppins"/>
                <a:cs typeface="Poppins"/>
                <a:sym typeface="Poppins"/>
              </a:rPr>
              <a:t>Language</a:t>
            </a:r>
          </a:p>
          <a:p>
            <a:pPr algn="ctr">
              <a:lnSpc>
                <a:spcPts val="5035"/>
              </a:lnSpc>
              <a:spcBef>
                <a:spcPct val="0"/>
              </a:spcBef>
            </a:pPr>
            <a:r>
              <a:rPr lang="en-US" sz="3596">
                <a:solidFill>
                  <a:srgbClr val="FFFFFF"/>
                </a:solidFill>
                <a:latin typeface="Poppins"/>
                <a:ea typeface="Poppins"/>
                <a:cs typeface="Poppins"/>
                <a:sym typeface="Poppins"/>
              </a:rPr>
              <a:t>Model </a:t>
            </a:r>
          </a:p>
        </p:txBody>
      </p:sp>
      <p:sp>
        <p:nvSpPr>
          <p:cNvPr id="44" name="TextBox 43">
            <a:extLst>
              <a:ext uri="{FF2B5EF4-FFF2-40B4-BE49-F238E27FC236}">
                <a16:creationId xmlns:a16="http://schemas.microsoft.com/office/drawing/2014/main" id="{3421887D-21F7-F177-815A-109E13AE36DD}"/>
              </a:ext>
            </a:extLst>
          </p:cNvPr>
          <p:cNvSpPr txBox="1"/>
          <p:nvPr/>
        </p:nvSpPr>
        <p:spPr>
          <a:xfrm>
            <a:off x="-449134" y="4510390"/>
            <a:ext cx="4425873" cy="1289764"/>
          </a:xfrm>
          <a:prstGeom prst="rect">
            <a:avLst/>
          </a:prstGeom>
        </p:spPr>
        <p:txBody>
          <a:bodyPr wrap="square" lIns="0" tIns="0" rIns="0" bIns="0" rtlCol="0" anchor="t">
            <a:spAutoFit/>
          </a:bodyPr>
          <a:lstStyle/>
          <a:p>
            <a:pPr algn="ctr">
              <a:lnSpc>
                <a:spcPts val="5035"/>
              </a:lnSpc>
            </a:pPr>
            <a:r>
              <a:rPr lang="en-US" sz="3596">
                <a:solidFill>
                  <a:srgbClr val="FFFFFF"/>
                </a:solidFill>
                <a:latin typeface="Poppins"/>
                <a:ea typeface="Poppins"/>
                <a:cs typeface="Poppins"/>
                <a:sym typeface="Poppins"/>
              </a:rPr>
              <a:t>Performs</a:t>
            </a:r>
          </a:p>
          <a:p>
            <a:pPr algn="ctr">
              <a:lnSpc>
                <a:spcPts val="5035"/>
              </a:lnSpc>
              <a:spcBef>
                <a:spcPct val="0"/>
              </a:spcBef>
            </a:pPr>
            <a:r>
              <a:rPr lang="en-US" sz="3596">
                <a:solidFill>
                  <a:srgbClr val="FFFFFF"/>
                </a:solidFill>
                <a:latin typeface="Poppins"/>
                <a:ea typeface="Poppins"/>
                <a:cs typeface="Poppins"/>
                <a:sym typeface="Poppins"/>
              </a:rPr>
              <a:t>Action</a:t>
            </a:r>
          </a:p>
        </p:txBody>
      </p:sp>
      <p:sp>
        <p:nvSpPr>
          <p:cNvPr id="45" name="TextBox 44">
            <a:extLst>
              <a:ext uri="{FF2B5EF4-FFF2-40B4-BE49-F238E27FC236}">
                <a16:creationId xmlns:a16="http://schemas.microsoft.com/office/drawing/2014/main" id="{8CF5BA12-722D-8F04-0F56-BC86DE8AB4B4}"/>
              </a:ext>
            </a:extLst>
          </p:cNvPr>
          <p:cNvSpPr txBox="1"/>
          <p:nvPr/>
        </p:nvSpPr>
        <p:spPr>
          <a:xfrm>
            <a:off x="4026740" y="4821729"/>
            <a:ext cx="4425873" cy="1289764"/>
          </a:xfrm>
          <a:prstGeom prst="rect">
            <a:avLst/>
          </a:prstGeom>
        </p:spPr>
        <p:txBody>
          <a:bodyPr wrap="square" lIns="0" tIns="0" rIns="0" bIns="0" rtlCol="0" anchor="t">
            <a:spAutoFit/>
          </a:bodyPr>
          <a:lstStyle/>
          <a:p>
            <a:pPr algn="ctr">
              <a:lnSpc>
                <a:spcPts val="5035"/>
              </a:lnSpc>
            </a:pPr>
            <a:r>
              <a:rPr lang="en-US" sz="3596">
                <a:solidFill>
                  <a:srgbClr val="FFFFFF"/>
                </a:solidFill>
                <a:latin typeface="Poppins"/>
                <a:ea typeface="Poppins"/>
                <a:cs typeface="Poppins"/>
                <a:sym typeface="Poppins"/>
              </a:rPr>
              <a:t>Access to</a:t>
            </a:r>
          </a:p>
          <a:p>
            <a:pPr algn="ctr">
              <a:lnSpc>
                <a:spcPts val="5035"/>
              </a:lnSpc>
              <a:spcBef>
                <a:spcPct val="0"/>
              </a:spcBef>
            </a:pPr>
            <a:r>
              <a:rPr lang="en-US" sz="3596">
                <a:solidFill>
                  <a:srgbClr val="FFFFFF"/>
                </a:solidFill>
                <a:latin typeface="Poppins"/>
                <a:ea typeface="Poppins"/>
                <a:cs typeface="Poppins"/>
                <a:sym typeface="Poppins"/>
              </a:rPr>
              <a:t>Tools</a:t>
            </a:r>
          </a:p>
        </p:txBody>
      </p:sp>
      <p:sp>
        <p:nvSpPr>
          <p:cNvPr id="47" name="TextBox 46">
            <a:extLst>
              <a:ext uri="{FF2B5EF4-FFF2-40B4-BE49-F238E27FC236}">
                <a16:creationId xmlns:a16="http://schemas.microsoft.com/office/drawing/2014/main" id="{84532BF4-1DE4-2FCD-5C4B-6372343D8BD5}"/>
              </a:ext>
            </a:extLst>
          </p:cNvPr>
          <p:cNvSpPr txBox="1"/>
          <p:nvPr/>
        </p:nvSpPr>
        <p:spPr>
          <a:xfrm>
            <a:off x="8240377" y="4729131"/>
            <a:ext cx="4425873" cy="619208"/>
          </a:xfrm>
          <a:prstGeom prst="rect">
            <a:avLst/>
          </a:prstGeom>
        </p:spPr>
        <p:txBody>
          <a:bodyPr wrap="square" lIns="0" tIns="0" rIns="0" bIns="0" rtlCol="0" anchor="t">
            <a:spAutoFit/>
          </a:bodyPr>
          <a:lstStyle/>
          <a:p>
            <a:pPr algn="ctr">
              <a:lnSpc>
                <a:spcPts val="5035"/>
              </a:lnSpc>
              <a:spcBef>
                <a:spcPct val="0"/>
              </a:spcBef>
            </a:pPr>
            <a:r>
              <a:rPr lang="en-US" sz="3596">
                <a:solidFill>
                  <a:srgbClr val="FFFFFF"/>
                </a:solidFill>
                <a:latin typeface="Poppins"/>
                <a:ea typeface="Poppins"/>
                <a:cs typeface="Poppins"/>
                <a:sym typeface="Poppins"/>
              </a:rPr>
              <a:t>Knowledge</a:t>
            </a:r>
          </a:p>
        </p:txBody>
      </p:sp>
    </p:spTree>
    <p:extLst>
      <p:ext uri="{BB962C8B-B14F-4D97-AF65-F5344CB8AC3E}">
        <p14:creationId xmlns:p14="http://schemas.microsoft.com/office/powerpoint/2010/main" val="312971286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752AF-D5A8-AD71-70B5-0F7DC838B7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D1A6B-4CCB-A3C6-C32F-9D240C0384F8}"/>
              </a:ext>
            </a:extLst>
          </p:cNvPr>
          <p:cNvSpPr>
            <a:spLocks noGrp="1"/>
          </p:cNvSpPr>
          <p:nvPr>
            <p:ph type="title"/>
          </p:nvPr>
        </p:nvSpPr>
        <p:spPr>
          <a:xfrm>
            <a:off x="0" y="2681103"/>
            <a:ext cx="10551414" cy="747897"/>
          </a:xfrm>
        </p:spPr>
        <p:txBody>
          <a:bodyPr/>
          <a:lstStyle/>
          <a:p>
            <a:pPr algn="ctr"/>
            <a:r>
              <a:rPr kumimoji="0" lang="en-US" sz="5400" b="0" i="0" u="none" strike="noStrike" kern="1200" cap="none" spc="0" normalizeH="0" baseline="0" noProof="0" dirty="0">
                <a:ln w="3175">
                  <a:noFill/>
                </a:ln>
                <a:solidFill>
                  <a:srgbClr val="000000"/>
                </a:solidFill>
                <a:effectLst/>
                <a:uLnTx/>
                <a:uFillTx/>
                <a:latin typeface="Segoe UI Semibold"/>
                <a:ea typeface="+mn-ea"/>
                <a:cs typeface="Segoe UI" pitchFamily="34" charset="0"/>
              </a:rPr>
              <a:t>When to use AI agents?</a:t>
            </a:r>
            <a:endParaRPr lang="en-US" sz="5400" dirty="0">
              <a:solidFill>
                <a:srgbClr val="000000"/>
              </a:solidFill>
            </a:endParaRPr>
          </a:p>
        </p:txBody>
      </p:sp>
    </p:spTree>
    <p:extLst>
      <p:ext uri="{BB962C8B-B14F-4D97-AF65-F5344CB8AC3E}">
        <p14:creationId xmlns:p14="http://schemas.microsoft.com/office/powerpoint/2010/main" val="3410070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031A0-7D5B-2934-3116-3E3FEB90C921}"/>
              </a:ext>
            </a:extLst>
          </p:cNvPr>
          <p:cNvSpPr>
            <a:spLocks noGrp="1"/>
          </p:cNvSpPr>
          <p:nvPr>
            <p:ph type="title"/>
          </p:nvPr>
        </p:nvSpPr>
        <p:spPr/>
        <p:txBody>
          <a:bodyPr/>
          <a:lstStyle/>
          <a:p>
            <a:r>
              <a:rPr kumimoji="0" lang="en-US" sz="3600" b="0" i="0" u="none" strike="noStrike" kern="1200" cap="none" spc="0" normalizeH="0" baseline="0" noProof="0" dirty="0">
                <a:ln w="3175">
                  <a:noFill/>
                </a:ln>
                <a:solidFill>
                  <a:srgbClr val="000000"/>
                </a:solidFill>
                <a:effectLst/>
                <a:uLnTx/>
                <a:uFillTx/>
                <a:latin typeface="Segoe UI Semibold"/>
                <a:ea typeface="+mn-ea"/>
                <a:cs typeface="Segoe UI" pitchFamily="34" charset="0"/>
              </a:rPr>
              <a:t>When to use AI agents?</a:t>
            </a:r>
            <a:endParaRPr lang="en-US"/>
          </a:p>
        </p:txBody>
      </p:sp>
      <p:grpSp>
        <p:nvGrpSpPr>
          <p:cNvPr id="4" name="Group 3">
            <a:extLst>
              <a:ext uri="{FF2B5EF4-FFF2-40B4-BE49-F238E27FC236}">
                <a16:creationId xmlns:a16="http://schemas.microsoft.com/office/drawing/2014/main" id="{3FFBB661-5D23-871F-FFC6-BE697C67CE09}"/>
              </a:ext>
            </a:extLst>
          </p:cNvPr>
          <p:cNvGrpSpPr/>
          <p:nvPr/>
        </p:nvGrpSpPr>
        <p:grpSpPr>
          <a:xfrm>
            <a:off x="588264" y="1777454"/>
            <a:ext cx="3086100" cy="3303091"/>
            <a:chOff x="0" y="-57150"/>
            <a:chExt cx="812800" cy="869950"/>
          </a:xfrm>
        </p:grpSpPr>
        <p:sp>
          <p:nvSpPr>
            <p:cNvPr id="5" name="Freeform 4">
              <a:extLst>
                <a:ext uri="{FF2B5EF4-FFF2-40B4-BE49-F238E27FC236}">
                  <a16:creationId xmlns:a16="http://schemas.microsoft.com/office/drawing/2014/main" id="{2DE94A97-33F3-308D-0201-F32DDBBB1674}"/>
                </a:ext>
              </a:extLst>
            </p:cNvPr>
            <p:cNvSpPr/>
            <p:nvPr/>
          </p:nvSpPr>
          <p:spPr>
            <a:xfrm>
              <a:off x="0" y="0"/>
              <a:ext cx="812800" cy="6804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217CE9"/>
            </a:solidFill>
          </p:spPr>
          <p:txBody>
            <a:bodyPr/>
            <a:lstStyle/>
            <a:p>
              <a:endParaRPr lang="en-US"/>
            </a:p>
          </p:txBody>
        </p:sp>
        <p:sp>
          <p:nvSpPr>
            <p:cNvPr id="6" name="TextBox 5">
              <a:extLst>
                <a:ext uri="{FF2B5EF4-FFF2-40B4-BE49-F238E27FC236}">
                  <a16:creationId xmlns:a16="http://schemas.microsoft.com/office/drawing/2014/main" id="{49FCBC8E-245F-A08E-A64C-94B7C0A2A53E}"/>
                </a:ext>
              </a:extLst>
            </p:cNvPr>
            <p:cNvSpPr txBox="1"/>
            <p:nvPr/>
          </p:nvSpPr>
          <p:spPr>
            <a:xfrm>
              <a:off x="0" y="-57150"/>
              <a:ext cx="812800" cy="869950"/>
            </a:xfrm>
            <a:prstGeom prst="rect">
              <a:avLst/>
            </a:prstGeom>
          </p:spPr>
          <p:txBody>
            <a:bodyPr lIns="50800" tIns="50800" rIns="50800" bIns="50800" rtlCol="0" anchor="ctr"/>
            <a:lstStyle/>
            <a:p>
              <a:pPr algn="ctr">
                <a:lnSpc>
                  <a:spcPts val="3500"/>
                </a:lnSpc>
              </a:pPr>
              <a:endParaRPr/>
            </a:p>
          </p:txBody>
        </p:sp>
      </p:grpSp>
      <p:sp>
        <p:nvSpPr>
          <p:cNvPr id="7" name="TextBox 6">
            <a:extLst>
              <a:ext uri="{FF2B5EF4-FFF2-40B4-BE49-F238E27FC236}">
                <a16:creationId xmlns:a16="http://schemas.microsoft.com/office/drawing/2014/main" id="{EADF7CD1-CBE9-2E99-F616-4F234739AEC8}"/>
              </a:ext>
            </a:extLst>
          </p:cNvPr>
          <p:cNvSpPr txBox="1"/>
          <p:nvPr/>
        </p:nvSpPr>
        <p:spPr>
          <a:xfrm>
            <a:off x="588263" y="2347264"/>
            <a:ext cx="3086101" cy="1901611"/>
          </a:xfrm>
          <a:prstGeom prst="rect">
            <a:avLst/>
          </a:prstGeom>
        </p:spPr>
        <p:txBody>
          <a:bodyPr wrap="square" lIns="0" tIns="0" rIns="0" bIns="0" rtlCol="0" anchor="t">
            <a:spAutoFit/>
          </a:bodyPr>
          <a:lstStyle/>
          <a:p>
            <a:pPr algn="ctr">
              <a:lnSpc>
                <a:spcPts val="5035"/>
              </a:lnSpc>
            </a:pPr>
            <a:r>
              <a:rPr lang="en-US" sz="3596">
                <a:solidFill>
                  <a:srgbClr val="FFFFFF"/>
                </a:solidFill>
                <a:latin typeface="Poppins"/>
                <a:ea typeface="Poppins"/>
                <a:cs typeface="Poppins"/>
                <a:sym typeface="Poppins"/>
              </a:rPr>
              <a:t>Open</a:t>
            </a:r>
          </a:p>
          <a:p>
            <a:pPr algn="ctr">
              <a:lnSpc>
                <a:spcPts val="5035"/>
              </a:lnSpc>
            </a:pPr>
            <a:r>
              <a:rPr lang="en-US" sz="3596">
                <a:solidFill>
                  <a:srgbClr val="FFFFFF"/>
                </a:solidFill>
                <a:latin typeface="Poppins"/>
                <a:ea typeface="Poppins"/>
                <a:cs typeface="Poppins"/>
                <a:sym typeface="Poppins"/>
              </a:rPr>
              <a:t>Ended</a:t>
            </a:r>
          </a:p>
          <a:p>
            <a:pPr algn="ctr">
              <a:lnSpc>
                <a:spcPts val="5035"/>
              </a:lnSpc>
            </a:pPr>
            <a:r>
              <a:rPr lang="en-US" sz="3596">
                <a:solidFill>
                  <a:srgbClr val="FFFFFF"/>
                </a:solidFill>
                <a:latin typeface="Poppins"/>
                <a:ea typeface="Poppins"/>
                <a:cs typeface="Poppins"/>
                <a:sym typeface="Poppins"/>
              </a:rPr>
              <a:t>Problems</a:t>
            </a:r>
          </a:p>
        </p:txBody>
      </p:sp>
      <p:grpSp>
        <p:nvGrpSpPr>
          <p:cNvPr id="12" name="Group 11">
            <a:extLst>
              <a:ext uri="{FF2B5EF4-FFF2-40B4-BE49-F238E27FC236}">
                <a16:creationId xmlns:a16="http://schemas.microsoft.com/office/drawing/2014/main" id="{EBFFA171-0C35-6A8A-04BA-4DA70580B6F5}"/>
              </a:ext>
            </a:extLst>
          </p:cNvPr>
          <p:cNvGrpSpPr/>
          <p:nvPr/>
        </p:nvGrpSpPr>
        <p:grpSpPr>
          <a:xfrm>
            <a:off x="4788230" y="1777454"/>
            <a:ext cx="3086100" cy="3303091"/>
            <a:chOff x="0" y="-57150"/>
            <a:chExt cx="812800" cy="869950"/>
          </a:xfrm>
        </p:grpSpPr>
        <p:sp>
          <p:nvSpPr>
            <p:cNvPr id="13" name="Freeform 12">
              <a:extLst>
                <a:ext uri="{FF2B5EF4-FFF2-40B4-BE49-F238E27FC236}">
                  <a16:creationId xmlns:a16="http://schemas.microsoft.com/office/drawing/2014/main" id="{D7A971E4-D7DC-1C8E-0156-D5232B39FC4C}"/>
                </a:ext>
              </a:extLst>
            </p:cNvPr>
            <p:cNvSpPr/>
            <p:nvPr/>
          </p:nvSpPr>
          <p:spPr>
            <a:xfrm>
              <a:off x="0" y="0"/>
              <a:ext cx="812800" cy="6804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chemeClr val="accent2"/>
            </a:solidFill>
          </p:spPr>
          <p:txBody>
            <a:bodyPr/>
            <a:lstStyle/>
            <a:p>
              <a:endParaRPr lang="en-US"/>
            </a:p>
          </p:txBody>
        </p:sp>
        <p:sp>
          <p:nvSpPr>
            <p:cNvPr id="14" name="TextBox 13">
              <a:extLst>
                <a:ext uri="{FF2B5EF4-FFF2-40B4-BE49-F238E27FC236}">
                  <a16:creationId xmlns:a16="http://schemas.microsoft.com/office/drawing/2014/main" id="{F59216CC-E721-087D-E6D2-B6B3DB25C26D}"/>
                </a:ext>
              </a:extLst>
            </p:cNvPr>
            <p:cNvSpPr txBox="1"/>
            <p:nvPr/>
          </p:nvSpPr>
          <p:spPr>
            <a:xfrm>
              <a:off x="0" y="-57150"/>
              <a:ext cx="812800" cy="869950"/>
            </a:xfrm>
            <a:prstGeom prst="rect">
              <a:avLst/>
            </a:prstGeom>
          </p:spPr>
          <p:txBody>
            <a:bodyPr lIns="50800" tIns="50800" rIns="50800" bIns="50800" rtlCol="0" anchor="ctr"/>
            <a:lstStyle/>
            <a:p>
              <a:pPr algn="ctr">
                <a:lnSpc>
                  <a:spcPts val="3500"/>
                </a:lnSpc>
              </a:pPr>
              <a:endParaRPr/>
            </a:p>
          </p:txBody>
        </p:sp>
      </p:grpSp>
      <p:sp>
        <p:nvSpPr>
          <p:cNvPr id="15" name="TextBox 14">
            <a:extLst>
              <a:ext uri="{FF2B5EF4-FFF2-40B4-BE49-F238E27FC236}">
                <a16:creationId xmlns:a16="http://schemas.microsoft.com/office/drawing/2014/main" id="{963DBF6B-2798-3E70-F61E-1BA17444A601}"/>
              </a:ext>
            </a:extLst>
          </p:cNvPr>
          <p:cNvSpPr txBox="1"/>
          <p:nvPr/>
        </p:nvSpPr>
        <p:spPr>
          <a:xfrm>
            <a:off x="4788229" y="2347264"/>
            <a:ext cx="3086101" cy="1901611"/>
          </a:xfrm>
          <a:prstGeom prst="rect">
            <a:avLst/>
          </a:prstGeom>
        </p:spPr>
        <p:txBody>
          <a:bodyPr wrap="square" lIns="0" tIns="0" rIns="0" bIns="0" rtlCol="0" anchor="t">
            <a:spAutoFit/>
          </a:bodyPr>
          <a:lstStyle/>
          <a:p>
            <a:pPr algn="ctr">
              <a:lnSpc>
                <a:spcPts val="5035"/>
              </a:lnSpc>
            </a:pPr>
            <a:r>
              <a:rPr lang="en-US" sz="3596">
                <a:solidFill>
                  <a:srgbClr val="FFFFFF"/>
                </a:solidFill>
                <a:latin typeface="Poppins"/>
                <a:ea typeface="Poppins"/>
                <a:cs typeface="Poppins"/>
                <a:sym typeface="Poppins"/>
              </a:rPr>
              <a:t>Multi-</a:t>
            </a:r>
          </a:p>
          <a:p>
            <a:pPr algn="ctr">
              <a:lnSpc>
                <a:spcPts val="5035"/>
              </a:lnSpc>
            </a:pPr>
            <a:r>
              <a:rPr lang="en-US" sz="3596">
                <a:solidFill>
                  <a:srgbClr val="FFFFFF"/>
                </a:solidFill>
                <a:latin typeface="Poppins"/>
                <a:ea typeface="Poppins"/>
                <a:cs typeface="Poppins"/>
                <a:sym typeface="Poppins"/>
              </a:rPr>
              <a:t>Step</a:t>
            </a:r>
          </a:p>
          <a:p>
            <a:pPr algn="ctr">
              <a:lnSpc>
                <a:spcPts val="5035"/>
              </a:lnSpc>
            </a:pPr>
            <a:r>
              <a:rPr lang="en-US" sz="3596">
                <a:solidFill>
                  <a:srgbClr val="FFFFFF"/>
                </a:solidFill>
                <a:latin typeface="Poppins"/>
                <a:ea typeface="Poppins"/>
                <a:cs typeface="Poppins"/>
                <a:sym typeface="Poppins"/>
              </a:rPr>
              <a:t>Processes</a:t>
            </a:r>
          </a:p>
        </p:txBody>
      </p:sp>
      <p:grpSp>
        <p:nvGrpSpPr>
          <p:cNvPr id="16" name="Group 15">
            <a:extLst>
              <a:ext uri="{FF2B5EF4-FFF2-40B4-BE49-F238E27FC236}">
                <a16:creationId xmlns:a16="http://schemas.microsoft.com/office/drawing/2014/main" id="{5E1E69FD-4243-E9DA-B30E-5457816BB567}"/>
              </a:ext>
            </a:extLst>
          </p:cNvPr>
          <p:cNvGrpSpPr/>
          <p:nvPr/>
        </p:nvGrpSpPr>
        <p:grpSpPr>
          <a:xfrm>
            <a:off x="8538884" y="1777454"/>
            <a:ext cx="3347150" cy="3303091"/>
            <a:chOff x="-68754" y="-57150"/>
            <a:chExt cx="881554" cy="869950"/>
          </a:xfrm>
        </p:grpSpPr>
        <p:sp>
          <p:nvSpPr>
            <p:cNvPr id="17" name="Freeform 16">
              <a:extLst>
                <a:ext uri="{FF2B5EF4-FFF2-40B4-BE49-F238E27FC236}">
                  <a16:creationId xmlns:a16="http://schemas.microsoft.com/office/drawing/2014/main" id="{B0D9099D-7C10-299F-BB34-91275EA1EB92}"/>
                </a:ext>
              </a:extLst>
            </p:cNvPr>
            <p:cNvSpPr/>
            <p:nvPr/>
          </p:nvSpPr>
          <p:spPr>
            <a:xfrm>
              <a:off x="-68754" y="0"/>
              <a:ext cx="881554" cy="6804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chemeClr val="accent3"/>
            </a:solidFill>
          </p:spPr>
          <p:txBody>
            <a:bodyPr/>
            <a:lstStyle/>
            <a:p>
              <a:endParaRPr lang="en-US"/>
            </a:p>
          </p:txBody>
        </p:sp>
        <p:sp>
          <p:nvSpPr>
            <p:cNvPr id="18" name="TextBox 17">
              <a:extLst>
                <a:ext uri="{FF2B5EF4-FFF2-40B4-BE49-F238E27FC236}">
                  <a16:creationId xmlns:a16="http://schemas.microsoft.com/office/drawing/2014/main" id="{E9375B1F-72F9-B043-C7C4-EA8CF7E39AF9}"/>
                </a:ext>
              </a:extLst>
            </p:cNvPr>
            <p:cNvSpPr txBox="1"/>
            <p:nvPr/>
          </p:nvSpPr>
          <p:spPr>
            <a:xfrm>
              <a:off x="0" y="-57150"/>
              <a:ext cx="812800" cy="869950"/>
            </a:xfrm>
            <a:prstGeom prst="rect">
              <a:avLst/>
            </a:prstGeom>
          </p:spPr>
          <p:txBody>
            <a:bodyPr lIns="50800" tIns="50800" rIns="50800" bIns="50800" rtlCol="0" anchor="ctr"/>
            <a:lstStyle/>
            <a:p>
              <a:pPr algn="ctr">
                <a:lnSpc>
                  <a:spcPts val="3500"/>
                </a:lnSpc>
              </a:pPr>
              <a:endParaRPr/>
            </a:p>
          </p:txBody>
        </p:sp>
      </p:grpSp>
      <p:sp>
        <p:nvSpPr>
          <p:cNvPr id="19" name="TextBox 18">
            <a:extLst>
              <a:ext uri="{FF2B5EF4-FFF2-40B4-BE49-F238E27FC236}">
                <a16:creationId xmlns:a16="http://schemas.microsoft.com/office/drawing/2014/main" id="{43F1D5F7-D0A6-D736-9CBF-9B0E1D081A5F}"/>
              </a:ext>
            </a:extLst>
          </p:cNvPr>
          <p:cNvSpPr txBox="1"/>
          <p:nvPr/>
        </p:nvSpPr>
        <p:spPr>
          <a:xfrm>
            <a:off x="8538885" y="2667864"/>
            <a:ext cx="3347150" cy="1260410"/>
          </a:xfrm>
          <a:prstGeom prst="rect">
            <a:avLst/>
          </a:prstGeom>
        </p:spPr>
        <p:txBody>
          <a:bodyPr wrap="square" lIns="0" tIns="0" rIns="0" bIns="0" rtlCol="0" anchor="t">
            <a:spAutoFit/>
          </a:bodyPr>
          <a:lstStyle/>
          <a:p>
            <a:pPr algn="ctr">
              <a:lnSpc>
                <a:spcPts val="5035"/>
              </a:lnSpc>
            </a:pPr>
            <a:r>
              <a:rPr lang="en-US" sz="3596">
                <a:solidFill>
                  <a:srgbClr val="FFFFFF"/>
                </a:solidFill>
                <a:latin typeface="Poppins"/>
                <a:ea typeface="Poppins"/>
                <a:cs typeface="Poppins"/>
                <a:sym typeface="Poppins"/>
              </a:rPr>
              <a:t>Improvement</a:t>
            </a:r>
          </a:p>
          <a:p>
            <a:pPr algn="ctr">
              <a:lnSpc>
                <a:spcPts val="5035"/>
              </a:lnSpc>
            </a:pPr>
            <a:r>
              <a:rPr lang="en-US" sz="3596">
                <a:solidFill>
                  <a:srgbClr val="FFFFFF"/>
                </a:solidFill>
                <a:latin typeface="Poppins"/>
                <a:ea typeface="Poppins"/>
                <a:cs typeface="Poppins"/>
                <a:sym typeface="Poppins"/>
              </a:rPr>
              <a:t>over time</a:t>
            </a:r>
          </a:p>
        </p:txBody>
      </p:sp>
    </p:spTree>
    <p:extLst>
      <p:ext uri="{BB962C8B-B14F-4D97-AF65-F5344CB8AC3E}">
        <p14:creationId xmlns:p14="http://schemas.microsoft.com/office/powerpoint/2010/main" val="311230001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D33A3-3B9B-C1C8-E23F-F1CA1256F4A0}"/>
            </a:ext>
          </a:extLst>
        </p:cNvPr>
        <p:cNvGrpSpPr/>
        <p:nvPr/>
      </p:nvGrpSpPr>
      <p:grpSpPr>
        <a:xfrm>
          <a:off x="0" y="0"/>
          <a:ext cx="0" cy="0"/>
          <a:chOff x="0" y="0"/>
          <a:chExt cx="0" cy="0"/>
        </a:xfrm>
      </p:grpSpPr>
      <p:cxnSp>
        <p:nvCxnSpPr>
          <p:cNvPr id="1025" name="Straight Connector 1024">
            <a:extLst>
              <a:ext uri="{FF2B5EF4-FFF2-40B4-BE49-F238E27FC236}">
                <a16:creationId xmlns:a16="http://schemas.microsoft.com/office/drawing/2014/main" id="{7E515C8B-5FF2-7AC2-D987-693F5C643DBB}"/>
              </a:ext>
            </a:extLst>
          </p:cNvPr>
          <p:cNvCxnSpPr>
            <a:cxnSpLocks/>
            <a:endCxn id="3369" idx="1"/>
          </p:cNvCxnSpPr>
          <p:nvPr/>
        </p:nvCxnSpPr>
        <p:spPr>
          <a:xfrm>
            <a:off x="4384225" y="2715278"/>
            <a:ext cx="570109" cy="0"/>
          </a:xfrm>
          <a:prstGeom prst="line">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sp>
        <p:nvSpPr>
          <p:cNvPr id="3428" name="Rectangle: Rounded Corners 4">
            <a:extLst>
              <a:ext uri="{FF2B5EF4-FFF2-40B4-BE49-F238E27FC236}">
                <a16:creationId xmlns:a16="http://schemas.microsoft.com/office/drawing/2014/main" id="{40195F96-0034-6DCD-AEF7-5D270236CBAE}"/>
              </a:ext>
              <a:ext uri="{C183D7F6-B498-43B3-948B-1728B52AA6E4}">
                <adec:decorative xmlns:adec="http://schemas.microsoft.com/office/drawing/2017/decorative" val="1"/>
              </a:ext>
            </a:extLst>
          </p:cNvPr>
          <p:cNvSpPr>
            <a:spLocks/>
          </p:cNvSpPr>
          <p:nvPr/>
        </p:nvSpPr>
        <p:spPr>
          <a:xfrm rot="5400000">
            <a:off x="7707975" y="1912542"/>
            <a:ext cx="1186416" cy="4732828"/>
          </a:xfrm>
          <a:prstGeom prst="roundRect">
            <a:avLst>
              <a:gd name="adj" fmla="val 11776"/>
            </a:avLst>
          </a:prstGeom>
          <a:solidFill>
            <a:srgbClr val="3A4953">
              <a:alpha val="20000"/>
            </a:srgbClr>
          </a:solidFill>
          <a:ln>
            <a:noFill/>
            <a:headEnd type="none" w="med" len="med"/>
            <a:tailEnd type="none" w="med" len="med"/>
          </a:ln>
          <a:effectLst>
            <a:outerShdw blurRad="63500" algn="tl" rotWithShape="0">
              <a:srgbClr val="000000">
                <a:alpha val="4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ptos"/>
              <a:ea typeface="+mn-ea"/>
              <a:cs typeface="+mn-cs"/>
            </a:endParaRPr>
          </a:p>
        </p:txBody>
      </p:sp>
      <p:sp>
        <p:nvSpPr>
          <p:cNvPr id="3419" name="Rectangle: Rounded Corners 2">
            <a:extLst>
              <a:ext uri="{FF2B5EF4-FFF2-40B4-BE49-F238E27FC236}">
                <a16:creationId xmlns:a16="http://schemas.microsoft.com/office/drawing/2014/main" id="{94E54444-58E0-0525-1886-73F780EFAF90}"/>
              </a:ext>
            </a:extLst>
          </p:cNvPr>
          <p:cNvSpPr/>
          <p:nvPr/>
        </p:nvSpPr>
        <p:spPr>
          <a:xfrm>
            <a:off x="4571177" y="466847"/>
            <a:ext cx="2350399" cy="1497700"/>
          </a:xfrm>
          <a:prstGeom prst="roundRect">
            <a:avLst/>
          </a:prstGeom>
          <a:solidFill>
            <a:srgbClr val="FFFFFF"/>
          </a:solidFill>
          <a:ln w="9525" cap="flat" cmpd="sng" algn="ctr">
            <a:noFill/>
            <a:prstDash val="solid"/>
            <a:headEnd type="none" w="med" len="med"/>
            <a:tailEnd type="none" w="med" len="med"/>
          </a:ln>
          <a:effectLst>
            <a:outerShdw blurRad="190500" dist="38100" dir="2700000" algn="tl" rotWithShape="0">
              <a:schemeClr val="tx1">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endParaRPr kumimoji="0" lang="en-CA"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286" name="Title 2">
            <a:extLst>
              <a:ext uri="{FF2B5EF4-FFF2-40B4-BE49-F238E27FC236}">
                <a16:creationId xmlns:a16="http://schemas.microsoft.com/office/drawing/2014/main" id="{C276033F-5464-C547-A2DC-D83ADDE3A6B1}"/>
              </a:ext>
            </a:extLst>
          </p:cNvPr>
          <p:cNvSpPr>
            <a:spLocks noGrp="1"/>
          </p:cNvSpPr>
          <p:nvPr>
            <p:ph type="title"/>
          </p:nvPr>
        </p:nvSpPr>
        <p:spPr>
          <a:xfrm>
            <a:off x="588262" y="252422"/>
            <a:ext cx="4476401" cy="861774"/>
          </a:xfrm>
        </p:spPr>
        <p:txBody>
          <a:bodyPr/>
          <a:lstStyle/>
          <a:p>
            <a:r>
              <a:rPr lang="en-US" dirty="0">
                <a:solidFill>
                  <a:srgbClr val="8661C5"/>
                </a:solidFill>
              </a:rPr>
              <a:t>Agent sample</a:t>
            </a:r>
            <a:br>
              <a:rPr lang="en-US" dirty="0"/>
            </a:br>
            <a:r>
              <a:rPr lang="en-US" sz="2000" dirty="0">
                <a:solidFill>
                  <a:schemeClr val="tx1"/>
                </a:solidFill>
                <a:latin typeface="+mn-lt"/>
              </a:rPr>
              <a:t>Call center assistance</a:t>
            </a:r>
          </a:p>
        </p:txBody>
      </p:sp>
      <p:sp>
        <p:nvSpPr>
          <p:cNvPr id="6" name="Rectangle: Rounded Corners 2">
            <a:extLst>
              <a:ext uri="{FF2B5EF4-FFF2-40B4-BE49-F238E27FC236}">
                <a16:creationId xmlns:a16="http://schemas.microsoft.com/office/drawing/2014/main" id="{58FB2EAB-4360-C579-BC7F-664CE39C6B68}"/>
              </a:ext>
            </a:extLst>
          </p:cNvPr>
          <p:cNvSpPr/>
          <p:nvPr/>
        </p:nvSpPr>
        <p:spPr>
          <a:xfrm>
            <a:off x="1729811" y="2291072"/>
            <a:ext cx="1694599" cy="824270"/>
          </a:xfrm>
          <a:prstGeom prst="roundRect">
            <a:avLst/>
          </a:prstGeom>
          <a:solidFill>
            <a:srgbClr val="FFFFFF"/>
          </a:solidFill>
          <a:ln w="9525" cap="flat" cmpd="sng" algn="ctr">
            <a:noFill/>
            <a:prstDash val="solid"/>
            <a:headEnd type="none" w="med" len="med"/>
            <a:tailEnd type="none" w="med" len="med"/>
          </a:ln>
          <a:effectLst>
            <a:outerShdw blurRad="190500" dist="38100" dir="2700000" algn="tl" rotWithShape="0">
              <a:schemeClr val="tx1">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endParaRPr kumimoji="0" lang="en-CA"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3AE1D646-E6E5-2700-C5E2-C4E912F438DA}"/>
              </a:ext>
            </a:extLst>
          </p:cNvPr>
          <p:cNvGrpSpPr/>
          <p:nvPr/>
        </p:nvGrpSpPr>
        <p:grpSpPr>
          <a:xfrm>
            <a:off x="1738126" y="2123422"/>
            <a:ext cx="1733915" cy="326669"/>
            <a:chOff x="701866" y="1491259"/>
            <a:chExt cx="2668846" cy="502809"/>
          </a:xfrm>
        </p:grpSpPr>
        <p:sp>
          <p:nvSpPr>
            <p:cNvPr id="9" name="!! purple box">
              <a:extLst>
                <a:ext uri="{FF2B5EF4-FFF2-40B4-BE49-F238E27FC236}">
                  <a16:creationId xmlns:a16="http://schemas.microsoft.com/office/drawing/2014/main" id="{558D1BA9-50E4-137E-D096-7226A9220C56}"/>
                </a:ext>
                <a:ext uri="{C183D7F6-B498-43B3-948B-1728B52AA6E4}">
                  <adec:decorative xmlns:adec="http://schemas.microsoft.com/office/drawing/2017/decorative" val="1"/>
                </a:ext>
              </a:extLst>
            </p:cNvPr>
            <p:cNvSpPr/>
            <p:nvPr/>
          </p:nvSpPr>
          <p:spPr bwMode="auto">
            <a:xfrm>
              <a:off x="701866" y="1491259"/>
              <a:ext cx="2595532" cy="502809"/>
            </a:xfrm>
            <a:prstGeom prst="round2SameRect">
              <a:avLst>
                <a:gd name="adj1" fmla="val 50000"/>
                <a:gd name="adj2" fmla="val 0"/>
              </a:avLst>
            </a:prstGeom>
            <a:solidFill>
              <a:schemeClr val="accent6">
                <a:lumMod val="50000"/>
              </a:schemeClr>
            </a:solidFill>
            <a:ln w="9525" cap="flat" cmpd="sng" algn="ctr">
              <a:noFill/>
              <a:prstDash val="solid"/>
              <a:headEnd type="none" w="med" len="med"/>
              <a:tailEnd type="none" w="med" len="med"/>
            </a:ln>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p>
          </p:txBody>
        </p:sp>
        <p:sp>
          <p:nvSpPr>
            <p:cNvPr id="10" name="TextBox 9">
              <a:extLst>
                <a:ext uri="{FF2B5EF4-FFF2-40B4-BE49-F238E27FC236}">
                  <a16:creationId xmlns:a16="http://schemas.microsoft.com/office/drawing/2014/main" id="{BBB0569F-F68E-1295-1B2B-A8853A74F1BA}"/>
                </a:ext>
              </a:extLst>
            </p:cNvPr>
            <p:cNvSpPr txBox="1"/>
            <p:nvPr/>
          </p:nvSpPr>
          <p:spPr>
            <a:xfrm>
              <a:off x="1039006" y="1554482"/>
              <a:ext cx="2331706" cy="402670"/>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en-US" sz="1100">
                  <a:solidFill>
                    <a:srgbClr val="FFFFFF"/>
                  </a:solidFill>
                  <a:latin typeface="Segoe UI Semibold"/>
                </a:rPr>
                <a:t>Query parsing</a:t>
              </a:r>
              <a:endParaRPr kumimoji="0" lang="en-US" sz="1100" b="0" i="0" u="none" strike="noStrike" kern="1200" cap="none" spc="0" normalizeH="0" baseline="0" noProof="0">
                <a:ln>
                  <a:noFill/>
                </a:ln>
                <a:solidFill>
                  <a:srgbClr val="FFFFFF"/>
                </a:solidFill>
                <a:effectLst/>
                <a:uLnTx/>
                <a:uFillTx/>
                <a:latin typeface="Segoe UI Semibold"/>
                <a:ea typeface="+mn-ea"/>
                <a:cs typeface="+mn-cs"/>
              </a:endParaRPr>
            </a:p>
          </p:txBody>
        </p:sp>
        <p:pic>
          <p:nvPicPr>
            <p:cNvPr id="11" name="Picture 10">
              <a:extLst>
                <a:ext uri="{FF2B5EF4-FFF2-40B4-BE49-F238E27FC236}">
                  <a16:creationId xmlns:a16="http://schemas.microsoft.com/office/drawing/2014/main" id="{E53D3E54-4999-6D0D-1AFB-551D00E1A936}"/>
                </a:ext>
              </a:extLst>
            </p:cNvPr>
            <p:cNvPicPr>
              <a:picLocks noChangeAspect="1"/>
            </p:cNvPicPr>
            <p:nvPr/>
          </p:nvPicPr>
          <p:blipFill>
            <a:blip r:embed="rId3">
              <a:lum bright="70000" contrast="-70000"/>
            </a:blip>
            <a:stretch>
              <a:fillRect/>
            </a:stretch>
          </p:blipFill>
          <p:spPr>
            <a:xfrm>
              <a:off x="883722" y="1595865"/>
              <a:ext cx="306883" cy="306883"/>
            </a:xfrm>
            <a:prstGeom prst="rect">
              <a:avLst/>
            </a:prstGeom>
          </p:spPr>
        </p:pic>
      </p:grpSp>
      <p:sp>
        <p:nvSpPr>
          <p:cNvPr id="3351" name="TextBox 3350">
            <a:extLst>
              <a:ext uri="{FF2B5EF4-FFF2-40B4-BE49-F238E27FC236}">
                <a16:creationId xmlns:a16="http://schemas.microsoft.com/office/drawing/2014/main" id="{EDEF9B84-F2E8-1CB8-4592-77A005EAB8EC}"/>
              </a:ext>
            </a:extLst>
          </p:cNvPr>
          <p:cNvSpPr txBox="1"/>
          <p:nvPr/>
        </p:nvSpPr>
        <p:spPr>
          <a:xfrm>
            <a:off x="291328" y="1844111"/>
            <a:ext cx="2419453" cy="221023"/>
          </a:xfrm>
          <a:prstGeom prst="rect">
            <a:avLst/>
          </a:prstGeom>
          <a:noFill/>
        </p:spPr>
        <p:txBody>
          <a:bodyPr wrap="square" lIns="0" tIns="0" rIns="0" bIns="0" rtlCol="0">
            <a:spAutoFit/>
          </a:bodyPr>
          <a:lstStyle/>
          <a:p>
            <a:pPr lvl="0">
              <a:lnSpc>
                <a:spcPct val="110000"/>
              </a:lnSpc>
              <a:spcAft>
                <a:spcPts val="200"/>
              </a:spcAft>
              <a:defRPr/>
            </a:pPr>
            <a:r>
              <a:rPr lang="en-US" sz="1400">
                <a:latin typeface="Segoe Sans Text Semibold"/>
                <a:cs typeface="Segoe UI Semilight" panose="020B0402040204020203" pitchFamily="34" charset="0"/>
              </a:rPr>
              <a:t>Customer query</a:t>
            </a:r>
          </a:p>
        </p:txBody>
      </p:sp>
      <p:sp>
        <p:nvSpPr>
          <p:cNvPr id="3352" name="TextBox 3351">
            <a:extLst>
              <a:ext uri="{FF2B5EF4-FFF2-40B4-BE49-F238E27FC236}">
                <a16:creationId xmlns:a16="http://schemas.microsoft.com/office/drawing/2014/main" id="{00461C16-2497-3F8C-6BE9-628D6D489719}"/>
              </a:ext>
            </a:extLst>
          </p:cNvPr>
          <p:cNvSpPr txBox="1"/>
          <p:nvPr/>
        </p:nvSpPr>
        <p:spPr>
          <a:xfrm>
            <a:off x="300652" y="2122788"/>
            <a:ext cx="1266249" cy="1199239"/>
          </a:xfrm>
          <a:prstGeom prst="rect">
            <a:avLst/>
          </a:prstGeom>
          <a:noFill/>
        </p:spPr>
        <p:txBody>
          <a:bodyPr wrap="square" lIns="0" tIns="0" rIns="0" bIns="0" rtlCol="0">
            <a:spAutoFit/>
          </a:bodyPr>
          <a:lstStyle/>
          <a:p>
            <a:pPr lvl="0">
              <a:lnSpc>
                <a:spcPct val="110000"/>
              </a:lnSpc>
              <a:spcAft>
                <a:spcPts val="200"/>
              </a:spcAft>
              <a:defRPr/>
            </a:pPr>
            <a:r>
              <a:rPr lang="en-US" sz="1000" b="1">
                <a:solidFill>
                  <a:srgbClr val="0078D4"/>
                </a:solidFill>
                <a:latin typeface="Segoe Sans Text Semibold"/>
                <a:cs typeface="Segoe UI Semibold" panose="020B0702040204020203" pitchFamily="34" charset="0"/>
              </a:rPr>
              <a:t>My </a:t>
            </a:r>
            <a:r>
              <a:rPr lang="en-US" sz="1000" b="1" err="1">
                <a:solidFill>
                  <a:srgbClr val="0078D4"/>
                </a:solidFill>
                <a:latin typeface="Segoe Sans Text Semibold"/>
                <a:cs typeface="Segoe UI Semibold" panose="020B0702040204020203" pitchFamily="34" charset="0"/>
              </a:rPr>
              <a:t>SmartHome</a:t>
            </a:r>
            <a:r>
              <a:rPr lang="en-US" sz="1000" b="1">
                <a:solidFill>
                  <a:srgbClr val="0078D4"/>
                </a:solidFill>
                <a:latin typeface="Segoe Sans Text Semibold"/>
                <a:cs typeface="Segoe UI Semibold" panose="020B0702040204020203" pitchFamily="34" charset="0"/>
              </a:rPr>
              <a:t> thermostat isn’t connecting to Wi-Fi, and I keep seeing an error code E-22. How can I fix this?</a:t>
            </a:r>
          </a:p>
          <a:p>
            <a:pPr lvl="0">
              <a:lnSpc>
                <a:spcPct val="110000"/>
              </a:lnSpc>
              <a:spcAft>
                <a:spcPts val="200"/>
              </a:spcAft>
              <a:defRPr/>
            </a:pPr>
            <a:endParaRPr lang="en-US" sz="1000" b="1">
              <a:solidFill>
                <a:srgbClr val="0078D4"/>
              </a:solidFill>
              <a:latin typeface="Segoe Sans Text Semibold"/>
              <a:cs typeface="Segoe UI Semibold" panose="020B0702040204020203" pitchFamily="34" charset="0"/>
            </a:endParaRPr>
          </a:p>
        </p:txBody>
      </p:sp>
      <p:sp>
        <p:nvSpPr>
          <p:cNvPr id="3354" name="TextBox 3353">
            <a:extLst>
              <a:ext uri="{FF2B5EF4-FFF2-40B4-BE49-F238E27FC236}">
                <a16:creationId xmlns:a16="http://schemas.microsoft.com/office/drawing/2014/main" id="{0E2D2D0A-83BA-154C-28D2-C2DA06E87663}"/>
              </a:ext>
            </a:extLst>
          </p:cNvPr>
          <p:cNvSpPr txBox="1"/>
          <p:nvPr/>
        </p:nvSpPr>
        <p:spPr>
          <a:xfrm>
            <a:off x="2539941" y="2612587"/>
            <a:ext cx="743289"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LLM</a:t>
            </a:r>
          </a:p>
        </p:txBody>
      </p:sp>
      <p:cxnSp>
        <p:nvCxnSpPr>
          <p:cNvPr id="3357" name="Straight Connector 3356">
            <a:extLst>
              <a:ext uri="{FF2B5EF4-FFF2-40B4-BE49-F238E27FC236}">
                <a16:creationId xmlns:a16="http://schemas.microsoft.com/office/drawing/2014/main" id="{FC445A34-A955-9B33-C28C-01F48C72A154}"/>
              </a:ext>
            </a:extLst>
          </p:cNvPr>
          <p:cNvCxnSpPr>
            <a:cxnSpLocks/>
          </p:cNvCxnSpPr>
          <p:nvPr/>
        </p:nvCxnSpPr>
        <p:spPr>
          <a:xfrm>
            <a:off x="1600900" y="2688270"/>
            <a:ext cx="113600" cy="0"/>
          </a:xfrm>
          <a:prstGeom prst="line">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sp>
        <p:nvSpPr>
          <p:cNvPr id="3363" name="Rectangle: Rounded Corners 89">
            <a:extLst>
              <a:ext uri="{FF2B5EF4-FFF2-40B4-BE49-F238E27FC236}">
                <a16:creationId xmlns:a16="http://schemas.microsoft.com/office/drawing/2014/main" id="{C9DFD1E5-ED01-E7E7-C276-2390AC654A0C}"/>
              </a:ext>
              <a:ext uri="{C183D7F6-B498-43B3-948B-1728B52AA6E4}">
                <adec:decorative xmlns:adec="http://schemas.microsoft.com/office/drawing/2017/decorative" val="1"/>
              </a:ext>
            </a:extLst>
          </p:cNvPr>
          <p:cNvSpPr/>
          <p:nvPr/>
        </p:nvSpPr>
        <p:spPr bwMode="auto">
          <a:xfrm>
            <a:off x="3729744" y="2082220"/>
            <a:ext cx="705183" cy="201843"/>
          </a:xfrm>
          <a:prstGeom prst="roundRect">
            <a:avLst>
              <a:gd name="adj" fmla="val 6953"/>
            </a:avLst>
          </a:prstGeom>
          <a:solidFill>
            <a:srgbClr val="C1DDE9"/>
          </a:solidFill>
          <a:ln w="9525" cap="flat" cmpd="sng" algn="ctr">
            <a:noFill/>
            <a:prstDash val="solid"/>
            <a:headEnd type="none" w="med" len="med"/>
            <a:tailEnd type="none" w="med" len="med"/>
          </a:ln>
          <a:effectLst>
            <a:outerShdw blurRad="190500" dist="38100" dir="2700000" algn="tl" rotWithShape="0">
              <a:schemeClr val="tx1">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364" name="TextBox 3363">
            <a:extLst>
              <a:ext uri="{FF2B5EF4-FFF2-40B4-BE49-F238E27FC236}">
                <a16:creationId xmlns:a16="http://schemas.microsoft.com/office/drawing/2014/main" id="{AD88E320-DC2B-5E5F-E0C8-A4F13785928F}"/>
              </a:ext>
            </a:extLst>
          </p:cNvPr>
          <p:cNvSpPr txBox="1"/>
          <p:nvPr/>
        </p:nvSpPr>
        <p:spPr>
          <a:xfrm>
            <a:off x="3706451" y="2079251"/>
            <a:ext cx="703125"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srgbClr val="97159A"/>
                </a:solidFill>
                <a:effectLst/>
                <a:uLnTx/>
                <a:uFillTx/>
                <a:latin typeface="Menlo" panose="020B0609030804020204" pitchFamily="49" charset="0"/>
                <a:ea typeface="+mn-ea"/>
                <a:cs typeface="+mn-cs"/>
              </a:rPr>
              <a:t>{ Wi-Fi }</a:t>
            </a:r>
            <a:endParaRPr kumimoji="0" lang="en-CA" sz="800" b="0" i="0" u="none" strike="noStrike" kern="1200" cap="none" spc="0" normalizeH="0" baseline="0" noProof="0">
              <a:ln>
                <a:noFill/>
              </a:ln>
              <a:solidFill>
                <a:srgbClr val="97159A"/>
              </a:solidFill>
              <a:effectLst/>
              <a:uLnTx/>
              <a:uFillTx/>
              <a:latin typeface="Menlo" panose="020B0609030804020204" pitchFamily="49" charset="0"/>
              <a:ea typeface="+mn-ea"/>
              <a:cs typeface="+mn-cs"/>
            </a:endParaRPr>
          </a:p>
        </p:txBody>
      </p:sp>
      <p:sp>
        <p:nvSpPr>
          <p:cNvPr id="3365" name="Rectangle: Rounded Corners 89">
            <a:extLst>
              <a:ext uri="{FF2B5EF4-FFF2-40B4-BE49-F238E27FC236}">
                <a16:creationId xmlns:a16="http://schemas.microsoft.com/office/drawing/2014/main" id="{27B252F9-F8E2-3B1E-0369-BD94A3D613E5}"/>
              </a:ext>
              <a:ext uri="{C183D7F6-B498-43B3-948B-1728B52AA6E4}">
                <adec:decorative xmlns:adec="http://schemas.microsoft.com/office/drawing/2017/decorative" val="1"/>
              </a:ext>
            </a:extLst>
          </p:cNvPr>
          <p:cNvSpPr/>
          <p:nvPr/>
        </p:nvSpPr>
        <p:spPr bwMode="auto">
          <a:xfrm>
            <a:off x="3729744" y="2606858"/>
            <a:ext cx="878949" cy="201843"/>
          </a:xfrm>
          <a:prstGeom prst="roundRect">
            <a:avLst>
              <a:gd name="adj" fmla="val 6953"/>
            </a:avLst>
          </a:prstGeom>
          <a:solidFill>
            <a:srgbClr val="C1DDE9"/>
          </a:solidFill>
          <a:ln w="9525" cap="flat" cmpd="sng" algn="ctr">
            <a:noFill/>
            <a:prstDash val="solid"/>
            <a:headEnd type="none" w="med" len="med"/>
            <a:tailEnd type="none" w="med" len="med"/>
          </a:ln>
          <a:effectLst>
            <a:outerShdw blurRad="190500" dist="38100" dir="2700000" algn="tl" rotWithShape="0">
              <a:schemeClr val="tx1">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366" name="TextBox 3365">
            <a:extLst>
              <a:ext uri="{FF2B5EF4-FFF2-40B4-BE49-F238E27FC236}">
                <a16:creationId xmlns:a16="http://schemas.microsoft.com/office/drawing/2014/main" id="{9F8D8E65-0154-6670-2887-9AF9E7AB9AB6}"/>
              </a:ext>
            </a:extLst>
          </p:cNvPr>
          <p:cNvSpPr txBox="1"/>
          <p:nvPr/>
        </p:nvSpPr>
        <p:spPr>
          <a:xfrm>
            <a:off x="3698717" y="2604335"/>
            <a:ext cx="1010422"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srgbClr val="97159A"/>
                </a:solidFill>
                <a:effectLst/>
                <a:uLnTx/>
                <a:uFillTx/>
                <a:latin typeface="Menlo" panose="020B0609030804020204" pitchFamily="49" charset="0"/>
                <a:ea typeface="+mn-ea"/>
                <a:cs typeface="+mn-cs"/>
              </a:rPr>
              <a:t>{ Error: E-22 }</a:t>
            </a:r>
            <a:endParaRPr kumimoji="0" lang="en-CA" sz="800" b="0" i="0" u="none" strike="noStrike" kern="1200" cap="none" spc="0" normalizeH="0" baseline="0" noProof="0">
              <a:ln>
                <a:noFill/>
              </a:ln>
              <a:solidFill>
                <a:srgbClr val="97159A"/>
              </a:solidFill>
              <a:effectLst/>
              <a:uLnTx/>
              <a:uFillTx/>
              <a:latin typeface="Menlo" panose="020B0609030804020204" pitchFamily="49" charset="0"/>
              <a:ea typeface="+mn-ea"/>
              <a:cs typeface="+mn-cs"/>
            </a:endParaRPr>
          </a:p>
        </p:txBody>
      </p:sp>
      <p:sp>
        <p:nvSpPr>
          <p:cNvPr id="3367" name="Rectangle: Rounded Corners 89">
            <a:extLst>
              <a:ext uri="{FF2B5EF4-FFF2-40B4-BE49-F238E27FC236}">
                <a16:creationId xmlns:a16="http://schemas.microsoft.com/office/drawing/2014/main" id="{931C3ECB-DBC2-2C30-43A5-7AC00EB2AD7D}"/>
              </a:ext>
              <a:ext uri="{C183D7F6-B498-43B3-948B-1728B52AA6E4}">
                <adec:decorative xmlns:adec="http://schemas.microsoft.com/office/drawing/2017/decorative" val="1"/>
              </a:ext>
            </a:extLst>
          </p:cNvPr>
          <p:cNvSpPr/>
          <p:nvPr/>
        </p:nvSpPr>
        <p:spPr bwMode="auto">
          <a:xfrm>
            <a:off x="3737702" y="3083898"/>
            <a:ext cx="1057414" cy="233464"/>
          </a:xfrm>
          <a:prstGeom prst="roundRect">
            <a:avLst>
              <a:gd name="adj" fmla="val 6953"/>
            </a:avLst>
          </a:prstGeom>
          <a:solidFill>
            <a:srgbClr val="C1DDE9"/>
          </a:solidFill>
          <a:ln w="9525" cap="flat" cmpd="sng" algn="ctr">
            <a:noFill/>
            <a:prstDash val="solid"/>
            <a:headEnd type="none" w="med" len="med"/>
            <a:tailEnd type="none" w="med" len="med"/>
          </a:ln>
          <a:effectLst>
            <a:outerShdw blurRad="190500" dist="38100" dir="2700000" algn="tl" rotWithShape="0">
              <a:schemeClr val="tx1">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368" name="TextBox 3367">
            <a:extLst>
              <a:ext uri="{FF2B5EF4-FFF2-40B4-BE49-F238E27FC236}">
                <a16:creationId xmlns:a16="http://schemas.microsoft.com/office/drawing/2014/main" id="{1DC98D4F-4932-4B1A-0BB0-24DE881734EC}"/>
              </a:ext>
            </a:extLst>
          </p:cNvPr>
          <p:cNvSpPr txBox="1"/>
          <p:nvPr/>
        </p:nvSpPr>
        <p:spPr>
          <a:xfrm>
            <a:off x="3677759" y="3070297"/>
            <a:ext cx="1159675"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srgbClr val="97159A"/>
                </a:solidFill>
                <a:effectLst/>
                <a:uLnTx/>
                <a:uFillTx/>
                <a:latin typeface="Menlo" panose="020B0609030804020204" pitchFamily="49" charset="0"/>
                <a:ea typeface="+mn-ea"/>
                <a:cs typeface="+mn-cs"/>
              </a:rPr>
              <a:t>{ Thermostat X10 }</a:t>
            </a:r>
            <a:endParaRPr kumimoji="0" lang="en-CA" sz="800" b="0" i="0" u="none" strike="noStrike" kern="1200" cap="none" spc="0" normalizeH="0" baseline="0" noProof="0">
              <a:ln>
                <a:noFill/>
              </a:ln>
              <a:solidFill>
                <a:srgbClr val="97159A"/>
              </a:solidFill>
              <a:effectLst/>
              <a:uLnTx/>
              <a:uFillTx/>
              <a:latin typeface="Menlo" panose="020B0609030804020204" pitchFamily="49" charset="0"/>
              <a:ea typeface="+mn-ea"/>
              <a:cs typeface="+mn-cs"/>
            </a:endParaRPr>
          </a:p>
        </p:txBody>
      </p:sp>
      <p:sp>
        <p:nvSpPr>
          <p:cNvPr id="3369" name="Rectangle: Rounded Corners 2">
            <a:extLst>
              <a:ext uri="{FF2B5EF4-FFF2-40B4-BE49-F238E27FC236}">
                <a16:creationId xmlns:a16="http://schemas.microsoft.com/office/drawing/2014/main" id="{10A85312-5CBD-D6FA-0223-2C7B84082B02}"/>
              </a:ext>
            </a:extLst>
          </p:cNvPr>
          <p:cNvSpPr/>
          <p:nvPr/>
        </p:nvSpPr>
        <p:spPr>
          <a:xfrm>
            <a:off x="4954334" y="2303143"/>
            <a:ext cx="1363960" cy="824270"/>
          </a:xfrm>
          <a:prstGeom prst="roundRect">
            <a:avLst/>
          </a:prstGeom>
          <a:solidFill>
            <a:srgbClr val="FFFFFF"/>
          </a:solidFill>
          <a:ln w="9525" cap="flat" cmpd="sng" algn="ctr">
            <a:noFill/>
            <a:prstDash val="solid"/>
            <a:headEnd type="none" w="med" len="med"/>
            <a:tailEnd type="none" w="med" len="med"/>
          </a:ln>
          <a:effectLst>
            <a:outerShdw blurRad="190500" dist="38100" dir="2700000" algn="tl" rotWithShape="0">
              <a:schemeClr val="tx1">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endParaRPr kumimoji="0" lang="en-CA"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nvGrpSpPr>
          <p:cNvPr id="3370" name="Group 3369">
            <a:extLst>
              <a:ext uri="{FF2B5EF4-FFF2-40B4-BE49-F238E27FC236}">
                <a16:creationId xmlns:a16="http://schemas.microsoft.com/office/drawing/2014/main" id="{5B68D8B5-17C1-BB40-5489-368C0B3B9CDA}"/>
              </a:ext>
            </a:extLst>
          </p:cNvPr>
          <p:cNvGrpSpPr/>
          <p:nvPr/>
        </p:nvGrpSpPr>
        <p:grpSpPr>
          <a:xfrm>
            <a:off x="4959563" y="2107873"/>
            <a:ext cx="1532689" cy="326669"/>
            <a:chOff x="1011594" y="1491259"/>
            <a:chExt cx="2359118" cy="502809"/>
          </a:xfrm>
        </p:grpSpPr>
        <p:sp>
          <p:nvSpPr>
            <p:cNvPr id="3371" name="!! purple box">
              <a:extLst>
                <a:ext uri="{FF2B5EF4-FFF2-40B4-BE49-F238E27FC236}">
                  <a16:creationId xmlns:a16="http://schemas.microsoft.com/office/drawing/2014/main" id="{A24653E0-2A97-F89B-6D0A-F83A3F32BD18}"/>
                </a:ext>
                <a:ext uri="{C183D7F6-B498-43B3-948B-1728B52AA6E4}">
                  <adec:decorative xmlns:adec="http://schemas.microsoft.com/office/drawing/2017/decorative" val="1"/>
                </a:ext>
              </a:extLst>
            </p:cNvPr>
            <p:cNvSpPr/>
            <p:nvPr/>
          </p:nvSpPr>
          <p:spPr bwMode="auto">
            <a:xfrm>
              <a:off x="1011594" y="1491259"/>
              <a:ext cx="2099411" cy="502809"/>
            </a:xfrm>
            <a:prstGeom prst="round2SameRect">
              <a:avLst>
                <a:gd name="adj1" fmla="val 50000"/>
                <a:gd name="adj2" fmla="val 0"/>
              </a:avLst>
            </a:prstGeom>
            <a:solidFill>
              <a:schemeClr val="tx2"/>
            </a:solidFill>
            <a:ln w="9525" cap="flat" cmpd="sng" algn="ctr">
              <a:noFill/>
              <a:prstDash val="solid"/>
              <a:headEnd type="none" w="med" len="med"/>
              <a:tailEnd type="none" w="med" len="med"/>
            </a:ln>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a:t>
              </a:r>
            </a:p>
          </p:txBody>
        </p:sp>
        <p:sp>
          <p:nvSpPr>
            <p:cNvPr id="3372" name="TextBox 3371">
              <a:extLst>
                <a:ext uri="{FF2B5EF4-FFF2-40B4-BE49-F238E27FC236}">
                  <a16:creationId xmlns:a16="http://schemas.microsoft.com/office/drawing/2014/main" id="{E748961C-6A60-C14D-3D7F-A446E3AC13B1}"/>
                </a:ext>
              </a:extLst>
            </p:cNvPr>
            <p:cNvSpPr txBox="1"/>
            <p:nvPr/>
          </p:nvSpPr>
          <p:spPr>
            <a:xfrm>
              <a:off x="1039006" y="1554482"/>
              <a:ext cx="2331706" cy="402670"/>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mn-cs"/>
                </a:rPr>
                <a:t>Planner Agent</a:t>
              </a:r>
            </a:p>
          </p:txBody>
        </p:sp>
        <p:pic>
          <p:nvPicPr>
            <p:cNvPr id="3373" name="Picture 3372">
              <a:extLst>
                <a:ext uri="{FF2B5EF4-FFF2-40B4-BE49-F238E27FC236}">
                  <a16:creationId xmlns:a16="http://schemas.microsoft.com/office/drawing/2014/main" id="{9BBA2DF6-A520-8A44-3B02-1F28CB977482}"/>
                </a:ext>
              </a:extLst>
            </p:cNvPr>
            <p:cNvPicPr>
              <a:picLocks noChangeAspect="1"/>
            </p:cNvPicPr>
            <p:nvPr/>
          </p:nvPicPr>
          <p:blipFill>
            <a:blip r:embed="rId3">
              <a:lum bright="70000" contrast="-70000"/>
            </a:blip>
            <a:stretch>
              <a:fillRect/>
            </a:stretch>
          </p:blipFill>
          <p:spPr>
            <a:xfrm>
              <a:off x="1100240" y="1588089"/>
              <a:ext cx="306883" cy="306883"/>
            </a:xfrm>
            <a:prstGeom prst="rect">
              <a:avLst/>
            </a:prstGeom>
          </p:spPr>
        </p:pic>
      </p:grpSp>
      <p:sp>
        <p:nvSpPr>
          <p:cNvPr id="3374" name="TextBox 3373">
            <a:extLst>
              <a:ext uri="{FF2B5EF4-FFF2-40B4-BE49-F238E27FC236}">
                <a16:creationId xmlns:a16="http://schemas.microsoft.com/office/drawing/2014/main" id="{CA732FD7-DB88-26D4-9FCE-B5D2CB6EFD84}"/>
              </a:ext>
            </a:extLst>
          </p:cNvPr>
          <p:cNvSpPr txBox="1"/>
          <p:nvPr/>
        </p:nvSpPr>
        <p:spPr>
          <a:xfrm>
            <a:off x="5461330" y="2545221"/>
            <a:ext cx="743289"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Azure AI Agent Service</a:t>
            </a:r>
          </a:p>
        </p:txBody>
      </p:sp>
      <p:sp>
        <p:nvSpPr>
          <p:cNvPr id="3390" name="Rectangle: Rounded Corners 2">
            <a:extLst>
              <a:ext uri="{FF2B5EF4-FFF2-40B4-BE49-F238E27FC236}">
                <a16:creationId xmlns:a16="http://schemas.microsoft.com/office/drawing/2014/main" id="{7C1BD972-370C-35E3-02A1-D91A94E62998}"/>
              </a:ext>
            </a:extLst>
          </p:cNvPr>
          <p:cNvSpPr/>
          <p:nvPr/>
        </p:nvSpPr>
        <p:spPr>
          <a:xfrm>
            <a:off x="6095145" y="3940321"/>
            <a:ext cx="1363960" cy="766358"/>
          </a:xfrm>
          <a:prstGeom prst="roundRect">
            <a:avLst/>
          </a:prstGeom>
          <a:solidFill>
            <a:srgbClr val="FFFFFF"/>
          </a:solidFill>
          <a:ln w="9525" cap="flat" cmpd="sng" algn="ctr">
            <a:noFill/>
            <a:prstDash val="solid"/>
            <a:headEnd type="none" w="med" len="med"/>
            <a:tailEnd type="none" w="med" len="med"/>
          </a:ln>
          <a:effectLst>
            <a:outerShdw blurRad="190500" dist="38100" dir="2700000" algn="tl" rotWithShape="0">
              <a:schemeClr val="tx1">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endParaRPr kumimoji="0" lang="en-CA"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nvGrpSpPr>
          <p:cNvPr id="3393" name="Group 3392">
            <a:extLst>
              <a:ext uri="{FF2B5EF4-FFF2-40B4-BE49-F238E27FC236}">
                <a16:creationId xmlns:a16="http://schemas.microsoft.com/office/drawing/2014/main" id="{AB1E3EA7-8692-43D3-2934-26C7D7232428}"/>
              </a:ext>
            </a:extLst>
          </p:cNvPr>
          <p:cNvGrpSpPr/>
          <p:nvPr/>
        </p:nvGrpSpPr>
        <p:grpSpPr>
          <a:xfrm>
            <a:off x="6089750" y="3790794"/>
            <a:ext cx="1532689" cy="326669"/>
            <a:chOff x="1031142" y="1491259"/>
            <a:chExt cx="2359118" cy="502809"/>
          </a:xfrm>
        </p:grpSpPr>
        <p:sp>
          <p:nvSpPr>
            <p:cNvPr id="3394" name="!! purple box">
              <a:extLst>
                <a:ext uri="{FF2B5EF4-FFF2-40B4-BE49-F238E27FC236}">
                  <a16:creationId xmlns:a16="http://schemas.microsoft.com/office/drawing/2014/main" id="{5568E1C9-CDF4-3DEE-82B3-238EF5856EFD}"/>
                </a:ext>
                <a:ext uri="{C183D7F6-B498-43B3-948B-1728B52AA6E4}">
                  <adec:decorative xmlns:adec="http://schemas.microsoft.com/office/drawing/2017/decorative" val="1"/>
                </a:ext>
              </a:extLst>
            </p:cNvPr>
            <p:cNvSpPr/>
            <p:nvPr/>
          </p:nvSpPr>
          <p:spPr bwMode="auto">
            <a:xfrm>
              <a:off x="1031142" y="1491259"/>
              <a:ext cx="2134607" cy="502809"/>
            </a:xfrm>
            <a:prstGeom prst="round2SameRect">
              <a:avLst>
                <a:gd name="adj1" fmla="val 50000"/>
                <a:gd name="adj2" fmla="val 0"/>
              </a:avLst>
            </a:prstGeom>
            <a:solidFill>
              <a:schemeClr val="accent4">
                <a:lumMod val="50000"/>
              </a:schemeClr>
            </a:solidFill>
            <a:ln w="9525" cap="flat" cmpd="sng" algn="ctr">
              <a:noFill/>
              <a:prstDash val="solid"/>
              <a:headEnd type="none" w="med" len="med"/>
              <a:tailEnd type="none" w="med" len="med"/>
            </a:ln>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p>
          </p:txBody>
        </p:sp>
        <p:sp>
          <p:nvSpPr>
            <p:cNvPr id="3395" name="TextBox 3394">
              <a:extLst>
                <a:ext uri="{FF2B5EF4-FFF2-40B4-BE49-F238E27FC236}">
                  <a16:creationId xmlns:a16="http://schemas.microsoft.com/office/drawing/2014/main" id="{6203BDA1-18B7-D2BA-D4B2-E208834615EB}"/>
                </a:ext>
              </a:extLst>
            </p:cNvPr>
            <p:cNvSpPr txBox="1"/>
            <p:nvPr/>
          </p:nvSpPr>
          <p:spPr>
            <a:xfrm>
              <a:off x="1058554" y="1534934"/>
              <a:ext cx="2331706" cy="402670"/>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mn-cs"/>
                </a:rPr>
                <a:t>Video agent</a:t>
              </a:r>
            </a:p>
          </p:txBody>
        </p:sp>
        <p:pic>
          <p:nvPicPr>
            <p:cNvPr id="3396" name="Picture 3395">
              <a:extLst>
                <a:ext uri="{FF2B5EF4-FFF2-40B4-BE49-F238E27FC236}">
                  <a16:creationId xmlns:a16="http://schemas.microsoft.com/office/drawing/2014/main" id="{D2F6DEDE-3F7D-A61C-E9BB-EF9A0407515D}"/>
                </a:ext>
              </a:extLst>
            </p:cNvPr>
            <p:cNvPicPr>
              <a:picLocks noChangeAspect="1"/>
            </p:cNvPicPr>
            <p:nvPr/>
          </p:nvPicPr>
          <p:blipFill>
            <a:blip r:embed="rId3">
              <a:lum bright="70000" contrast="-70000"/>
            </a:blip>
            <a:stretch>
              <a:fillRect/>
            </a:stretch>
          </p:blipFill>
          <p:spPr>
            <a:xfrm>
              <a:off x="1119788" y="1568541"/>
              <a:ext cx="306883" cy="306883"/>
            </a:xfrm>
            <a:prstGeom prst="rect">
              <a:avLst/>
            </a:prstGeom>
          </p:spPr>
        </p:pic>
      </p:grpSp>
      <p:pic>
        <p:nvPicPr>
          <p:cNvPr id="3399" name="Picture 3398">
            <a:extLst>
              <a:ext uri="{FF2B5EF4-FFF2-40B4-BE49-F238E27FC236}">
                <a16:creationId xmlns:a16="http://schemas.microsoft.com/office/drawing/2014/main" id="{C7133558-D024-AD3A-D7DA-0861A89380C2}"/>
              </a:ext>
            </a:extLst>
          </p:cNvPr>
          <p:cNvPicPr>
            <a:picLocks noChangeAspect="1"/>
          </p:cNvPicPr>
          <p:nvPr/>
        </p:nvPicPr>
        <p:blipFill>
          <a:blip r:embed="rId4"/>
          <a:stretch>
            <a:fillRect/>
          </a:stretch>
        </p:blipFill>
        <p:spPr>
          <a:xfrm>
            <a:off x="6545643" y="1459440"/>
            <a:ext cx="3554183" cy="2310219"/>
          </a:xfrm>
          <a:prstGeom prst="rect">
            <a:avLst/>
          </a:prstGeom>
        </p:spPr>
      </p:pic>
      <p:sp>
        <p:nvSpPr>
          <p:cNvPr id="3400" name="Rectangle: Rounded Corners 2">
            <a:extLst>
              <a:ext uri="{FF2B5EF4-FFF2-40B4-BE49-F238E27FC236}">
                <a16:creationId xmlns:a16="http://schemas.microsoft.com/office/drawing/2014/main" id="{CFCE5A95-2886-B584-2DFF-783D19BC833A}"/>
              </a:ext>
            </a:extLst>
          </p:cNvPr>
          <p:cNvSpPr/>
          <p:nvPr/>
        </p:nvSpPr>
        <p:spPr>
          <a:xfrm>
            <a:off x="7615644" y="3940321"/>
            <a:ext cx="1363960" cy="766358"/>
          </a:xfrm>
          <a:prstGeom prst="roundRect">
            <a:avLst/>
          </a:prstGeom>
          <a:solidFill>
            <a:srgbClr val="FFFFFF"/>
          </a:solidFill>
          <a:ln w="9525" cap="flat" cmpd="sng" algn="ctr">
            <a:noFill/>
            <a:prstDash val="solid"/>
            <a:headEnd type="none" w="med" len="med"/>
            <a:tailEnd type="none" w="med" len="med"/>
          </a:ln>
          <a:effectLst>
            <a:outerShdw blurRad="190500" dist="38100" dir="2700000" algn="tl" rotWithShape="0">
              <a:schemeClr val="tx1">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endParaRPr kumimoji="0" lang="en-CA"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nvGrpSpPr>
          <p:cNvPr id="3403" name="Group 3402">
            <a:extLst>
              <a:ext uri="{FF2B5EF4-FFF2-40B4-BE49-F238E27FC236}">
                <a16:creationId xmlns:a16="http://schemas.microsoft.com/office/drawing/2014/main" id="{B4FD1568-CF50-4FA2-C523-8910DFF59551}"/>
              </a:ext>
            </a:extLst>
          </p:cNvPr>
          <p:cNvGrpSpPr/>
          <p:nvPr/>
        </p:nvGrpSpPr>
        <p:grpSpPr>
          <a:xfrm>
            <a:off x="7610249" y="3790794"/>
            <a:ext cx="1532689" cy="326669"/>
            <a:chOff x="1031142" y="1491259"/>
            <a:chExt cx="2359118" cy="502809"/>
          </a:xfrm>
        </p:grpSpPr>
        <p:sp>
          <p:nvSpPr>
            <p:cNvPr id="3404" name="!! purple box">
              <a:extLst>
                <a:ext uri="{FF2B5EF4-FFF2-40B4-BE49-F238E27FC236}">
                  <a16:creationId xmlns:a16="http://schemas.microsoft.com/office/drawing/2014/main" id="{39F810BA-BD89-4B59-5BA6-B3666E788313}"/>
                </a:ext>
                <a:ext uri="{C183D7F6-B498-43B3-948B-1728B52AA6E4}">
                  <adec:decorative xmlns:adec="http://schemas.microsoft.com/office/drawing/2017/decorative" val="1"/>
                </a:ext>
              </a:extLst>
            </p:cNvPr>
            <p:cNvSpPr/>
            <p:nvPr/>
          </p:nvSpPr>
          <p:spPr bwMode="auto">
            <a:xfrm>
              <a:off x="1031142" y="1491259"/>
              <a:ext cx="2099412" cy="502809"/>
            </a:xfrm>
            <a:prstGeom prst="round2SameRect">
              <a:avLst>
                <a:gd name="adj1" fmla="val 50000"/>
                <a:gd name="adj2" fmla="val 0"/>
              </a:avLst>
            </a:prstGeom>
            <a:solidFill>
              <a:srgbClr val="FFB900"/>
            </a:solidFill>
            <a:ln w="9525" cap="flat" cmpd="sng" algn="ctr">
              <a:noFill/>
              <a:prstDash val="solid"/>
              <a:headEnd type="none" w="med" len="med"/>
              <a:tailEnd type="none" w="med" len="med"/>
            </a:ln>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p>
          </p:txBody>
        </p:sp>
        <p:sp>
          <p:nvSpPr>
            <p:cNvPr id="3405" name="TextBox 3404">
              <a:extLst>
                <a:ext uri="{FF2B5EF4-FFF2-40B4-BE49-F238E27FC236}">
                  <a16:creationId xmlns:a16="http://schemas.microsoft.com/office/drawing/2014/main" id="{19CDBA6D-8864-5E5C-3578-80F24C311B71}"/>
                </a:ext>
              </a:extLst>
            </p:cNvPr>
            <p:cNvSpPr txBox="1"/>
            <p:nvPr/>
          </p:nvSpPr>
          <p:spPr>
            <a:xfrm>
              <a:off x="1058554" y="1534934"/>
              <a:ext cx="2331706" cy="402670"/>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mn-ea"/>
                  <a:cs typeface="+mn-cs"/>
                </a:rPr>
                <a:t>Docs agent</a:t>
              </a:r>
            </a:p>
          </p:txBody>
        </p:sp>
        <p:pic>
          <p:nvPicPr>
            <p:cNvPr id="3406" name="Picture 3405">
              <a:extLst>
                <a:ext uri="{FF2B5EF4-FFF2-40B4-BE49-F238E27FC236}">
                  <a16:creationId xmlns:a16="http://schemas.microsoft.com/office/drawing/2014/main" id="{CBE40E00-0A19-2C9B-FE27-093AF00498BB}"/>
                </a:ext>
              </a:extLst>
            </p:cNvPr>
            <p:cNvPicPr>
              <a:picLocks noChangeAspect="1"/>
            </p:cNvPicPr>
            <p:nvPr/>
          </p:nvPicPr>
          <p:blipFill>
            <a:blip r:embed="rId3">
              <a:grayscl/>
            </a:blip>
            <a:stretch>
              <a:fillRect/>
            </a:stretch>
          </p:blipFill>
          <p:spPr>
            <a:xfrm>
              <a:off x="1158883" y="1568541"/>
              <a:ext cx="306883" cy="306883"/>
            </a:xfrm>
            <a:prstGeom prst="rect">
              <a:avLst/>
            </a:prstGeom>
          </p:spPr>
        </p:pic>
      </p:grpSp>
      <p:sp>
        <p:nvSpPr>
          <p:cNvPr id="3407" name="Rectangle: Rounded Corners 2">
            <a:extLst>
              <a:ext uri="{FF2B5EF4-FFF2-40B4-BE49-F238E27FC236}">
                <a16:creationId xmlns:a16="http://schemas.microsoft.com/office/drawing/2014/main" id="{87F6A828-FCA3-9FD5-2CC9-61ED5F7AA361}"/>
              </a:ext>
            </a:extLst>
          </p:cNvPr>
          <p:cNvSpPr/>
          <p:nvPr/>
        </p:nvSpPr>
        <p:spPr>
          <a:xfrm>
            <a:off x="9140303" y="3926054"/>
            <a:ext cx="1363960" cy="766358"/>
          </a:xfrm>
          <a:prstGeom prst="roundRect">
            <a:avLst/>
          </a:prstGeom>
          <a:solidFill>
            <a:srgbClr val="FFFFFF"/>
          </a:solidFill>
          <a:ln w="9525" cap="flat" cmpd="sng" algn="ctr">
            <a:noFill/>
            <a:prstDash val="solid"/>
            <a:headEnd type="none" w="med" len="med"/>
            <a:tailEnd type="none" w="med" len="med"/>
          </a:ln>
          <a:effectLst>
            <a:outerShdw blurRad="190500" dist="38100" dir="2700000" algn="tl" rotWithShape="0">
              <a:schemeClr val="tx1">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endParaRPr kumimoji="0" lang="en-CA"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nvGrpSpPr>
          <p:cNvPr id="3410" name="Group 3409">
            <a:extLst>
              <a:ext uri="{FF2B5EF4-FFF2-40B4-BE49-F238E27FC236}">
                <a16:creationId xmlns:a16="http://schemas.microsoft.com/office/drawing/2014/main" id="{96C66B1E-AFD0-78F2-0C64-2707AFBC446C}"/>
              </a:ext>
            </a:extLst>
          </p:cNvPr>
          <p:cNvGrpSpPr/>
          <p:nvPr/>
        </p:nvGrpSpPr>
        <p:grpSpPr>
          <a:xfrm>
            <a:off x="9134908" y="3776527"/>
            <a:ext cx="1532689" cy="326669"/>
            <a:chOff x="1031142" y="1491259"/>
            <a:chExt cx="2359118" cy="502809"/>
          </a:xfrm>
        </p:grpSpPr>
        <p:sp>
          <p:nvSpPr>
            <p:cNvPr id="3411" name="!! purple box">
              <a:extLst>
                <a:ext uri="{FF2B5EF4-FFF2-40B4-BE49-F238E27FC236}">
                  <a16:creationId xmlns:a16="http://schemas.microsoft.com/office/drawing/2014/main" id="{6F0C645E-FA21-E797-BB4C-8263FF7CC5B2}"/>
                </a:ext>
                <a:ext uri="{C183D7F6-B498-43B3-948B-1728B52AA6E4}">
                  <adec:decorative xmlns:adec="http://schemas.microsoft.com/office/drawing/2017/decorative" val="1"/>
                </a:ext>
              </a:extLst>
            </p:cNvPr>
            <p:cNvSpPr/>
            <p:nvPr/>
          </p:nvSpPr>
          <p:spPr bwMode="auto">
            <a:xfrm>
              <a:off x="1031142" y="1491259"/>
              <a:ext cx="2099412" cy="502809"/>
            </a:xfrm>
            <a:prstGeom prst="round2SameRect">
              <a:avLst>
                <a:gd name="adj1" fmla="val 50000"/>
                <a:gd name="adj2" fmla="val 0"/>
              </a:avLst>
            </a:prstGeom>
            <a:solidFill>
              <a:srgbClr val="2A446F"/>
            </a:solidFill>
            <a:ln w="9525" cap="flat" cmpd="sng" algn="ctr">
              <a:noFill/>
              <a:prstDash val="solid"/>
              <a:headEnd type="none" w="med" len="med"/>
              <a:tailEnd type="none" w="med" len="med"/>
            </a:ln>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p>
          </p:txBody>
        </p:sp>
        <p:sp>
          <p:nvSpPr>
            <p:cNvPr id="3412" name="TextBox 3411">
              <a:extLst>
                <a:ext uri="{FF2B5EF4-FFF2-40B4-BE49-F238E27FC236}">
                  <a16:creationId xmlns:a16="http://schemas.microsoft.com/office/drawing/2014/main" id="{B3028C88-B649-A10A-E124-7EB85B069689}"/>
                </a:ext>
              </a:extLst>
            </p:cNvPr>
            <p:cNvSpPr txBox="1"/>
            <p:nvPr/>
          </p:nvSpPr>
          <p:spPr>
            <a:xfrm>
              <a:off x="1058554" y="1534934"/>
              <a:ext cx="2331706" cy="402670"/>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mn-cs"/>
                </a:rPr>
                <a:t>Web agent</a:t>
              </a:r>
            </a:p>
          </p:txBody>
        </p:sp>
        <p:pic>
          <p:nvPicPr>
            <p:cNvPr id="3413" name="Picture 3412">
              <a:extLst>
                <a:ext uri="{FF2B5EF4-FFF2-40B4-BE49-F238E27FC236}">
                  <a16:creationId xmlns:a16="http://schemas.microsoft.com/office/drawing/2014/main" id="{482C4841-D632-92A9-4C60-A9C6CF01E532}"/>
                </a:ext>
              </a:extLst>
            </p:cNvPr>
            <p:cNvPicPr>
              <a:picLocks noChangeAspect="1"/>
            </p:cNvPicPr>
            <p:nvPr/>
          </p:nvPicPr>
          <p:blipFill>
            <a:blip r:embed="rId3">
              <a:lum bright="70000" contrast="-70000"/>
            </a:blip>
            <a:stretch>
              <a:fillRect/>
            </a:stretch>
          </p:blipFill>
          <p:spPr>
            <a:xfrm>
              <a:off x="1100240" y="1588089"/>
              <a:ext cx="306883" cy="306883"/>
            </a:xfrm>
            <a:prstGeom prst="rect">
              <a:avLst/>
            </a:prstGeom>
          </p:spPr>
        </p:pic>
      </p:grpSp>
      <p:pic>
        <p:nvPicPr>
          <p:cNvPr id="3414" name="Picture 3413">
            <a:extLst>
              <a:ext uri="{FF2B5EF4-FFF2-40B4-BE49-F238E27FC236}">
                <a16:creationId xmlns:a16="http://schemas.microsoft.com/office/drawing/2014/main" id="{8B4EA26C-683D-5E54-814D-0813BC755266}"/>
              </a:ext>
            </a:extLst>
          </p:cNvPr>
          <p:cNvPicPr>
            <a:picLocks noChangeAspect="1"/>
          </p:cNvPicPr>
          <p:nvPr/>
        </p:nvPicPr>
        <p:blipFill>
          <a:blip r:embed="rId5"/>
          <a:stretch>
            <a:fillRect/>
          </a:stretch>
        </p:blipFill>
        <p:spPr>
          <a:xfrm>
            <a:off x="8452923" y="94979"/>
            <a:ext cx="3406155" cy="1934301"/>
          </a:xfrm>
          <a:prstGeom prst="rect">
            <a:avLst/>
          </a:prstGeom>
        </p:spPr>
      </p:pic>
      <p:sp>
        <p:nvSpPr>
          <p:cNvPr id="3418" name="TextBox 3417">
            <a:extLst>
              <a:ext uri="{FF2B5EF4-FFF2-40B4-BE49-F238E27FC236}">
                <a16:creationId xmlns:a16="http://schemas.microsoft.com/office/drawing/2014/main" id="{5F86C8AD-3D1A-D9E4-BD3A-D62F6954F800}"/>
              </a:ext>
            </a:extLst>
          </p:cNvPr>
          <p:cNvSpPr txBox="1"/>
          <p:nvPr/>
        </p:nvSpPr>
        <p:spPr>
          <a:xfrm>
            <a:off x="4593569" y="484385"/>
            <a:ext cx="2407985"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0000"/>
                </a:solidFill>
                <a:effectLst/>
                <a:uLnTx/>
                <a:uFillTx/>
                <a:latin typeface="Segoe Sans Text"/>
                <a:ea typeface="+mn-ea"/>
                <a:cs typeface="+mn-cs"/>
              </a:rPr>
              <a:t>1. Doc Agent</a:t>
            </a:r>
            <a:r>
              <a:rPr kumimoji="0" lang="en-CA" sz="900" b="0" i="0" u="none" strike="noStrike" kern="1200" cap="none" spc="0" normalizeH="0" baseline="0" noProof="0">
                <a:ln>
                  <a:noFill/>
                </a:ln>
                <a:solidFill>
                  <a:srgbClr val="000000"/>
                </a:solidFill>
                <a:effectLst/>
                <a:uLnTx/>
                <a:uFillTx/>
                <a:latin typeface="Segoe Sans Text"/>
                <a:ea typeface="+mn-ea"/>
                <a:cs typeface="+mn-cs"/>
              </a:rPr>
              <a:t> → Search internal support documentation for error code "E-22" and Wi-Fi troubleshooting.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0000"/>
                </a:solidFill>
                <a:effectLst/>
                <a:uLnTx/>
                <a:uFillTx/>
                <a:latin typeface="Segoe Sans Text"/>
                <a:ea typeface="+mn-ea"/>
                <a:cs typeface="+mn-cs"/>
              </a:rPr>
              <a:t>2. Video Agent</a:t>
            </a:r>
            <a:r>
              <a:rPr kumimoji="0" lang="en-CA" sz="900" b="0" i="0" u="none" strike="noStrike" kern="1200" cap="none" spc="0" normalizeH="0" baseline="0" noProof="0">
                <a:ln>
                  <a:noFill/>
                </a:ln>
                <a:solidFill>
                  <a:srgbClr val="000000"/>
                </a:solidFill>
                <a:effectLst/>
                <a:uLnTx/>
                <a:uFillTx/>
                <a:latin typeface="Segoe Sans Text"/>
                <a:ea typeface="+mn-ea"/>
                <a:cs typeface="+mn-cs"/>
              </a:rPr>
              <a:t> → Locate and timestamp troubleshooting video content related to Wi-Fi connection and error code E-22.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0000"/>
                </a:solidFill>
                <a:effectLst/>
                <a:uLnTx/>
                <a:uFillTx/>
                <a:latin typeface="Segoe Sans Text"/>
                <a:ea typeface="+mn-ea"/>
                <a:cs typeface="+mn-cs"/>
              </a:rPr>
              <a:t>3. Web Search Agent</a:t>
            </a:r>
            <a:r>
              <a:rPr kumimoji="0" lang="en-CA" sz="900" b="0" i="0" u="none" strike="noStrike" kern="1200" cap="none" spc="0" normalizeH="0" baseline="0" noProof="0">
                <a:ln>
                  <a:noFill/>
                </a:ln>
                <a:solidFill>
                  <a:srgbClr val="000000"/>
                </a:solidFill>
                <a:effectLst/>
                <a:uLnTx/>
                <a:uFillTx/>
                <a:latin typeface="Segoe Sans Text"/>
                <a:ea typeface="+mn-ea"/>
                <a:cs typeface="+mn-cs"/>
              </a:rPr>
              <a:t> → Search external sources for recent discussions, tips, or product-specific issues regarding Wi-Fi and the error code.</a:t>
            </a:r>
            <a:endParaRPr kumimoji="0" lang="en-US" sz="9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420" name="TextBox 3419">
            <a:extLst>
              <a:ext uri="{FF2B5EF4-FFF2-40B4-BE49-F238E27FC236}">
                <a16:creationId xmlns:a16="http://schemas.microsoft.com/office/drawing/2014/main" id="{3F29F2A5-4B8E-1466-BA14-3A0F05577ACB}"/>
              </a:ext>
            </a:extLst>
          </p:cNvPr>
          <p:cNvSpPr txBox="1"/>
          <p:nvPr/>
        </p:nvSpPr>
        <p:spPr>
          <a:xfrm>
            <a:off x="4700759" y="197614"/>
            <a:ext cx="2079553" cy="221023"/>
          </a:xfrm>
          <a:prstGeom prst="rect">
            <a:avLst/>
          </a:prstGeom>
          <a:noFill/>
        </p:spPr>
        <p:txBody>
          <a:bodyPr wrap="square" lIns="0" tIns="0" rIns="0" bIns="0" rtlCol="0">
            <a:spAutoFit/>
          </a:bodyPr>
          <a:lstStyle/>
          <a:p>
            <a:pPr lvl="0" algn="ctr">
              <a:lnSpc>
                <a:spcPct val="110000"/>
              </a:lnSpc>
              <a:spcAft>
                <a:spcPts val="200"/>
              </a:spcAft>
              <a:defRPr/>
            </a:pPr>
            <a:r>
              <a:rPr lang="en-US" sz="1400">
                <a:latin typeface="Segoe Sans Text Semibold"/>
                <a:cs typeface="Segoe UI Semilight" panose="020B0402040204020203" pitchFamily="34" charset="0"/>
              </a:rPr>
              <a:t>Dynamic Plan</a:t>
            </a:r>
          </a:p>
        </p:txBody>
      </p:sp>
      <p:pic>
        <p:nvPicPr>
          <p:cNvPr id="3421" name="Picture 3420">
            <a:extLst>
              <a:ext uri="{FF2B5EF4-FFF2-40B4-BE49-F238E27FC236}">
                <a16:creationId xmlns:a16="http://schemas.microsoft.com/office/drawing/2014/main" id="{3E7E973B-CD32-FAC2-7D0E-D782F616DE91}"/>
              </a:ext>
            </a:extLst>
          </p:cNvPr>
          <p:cNvPicPr>
            <a:picLocks noChangeAspect="1"/>
          </p:cNvPicPr>
          <p:nvPr/>
        </p:nvPicPr>
        <p:blipFill>
          <a:blip r:embed="rId6">
            <a:clrChange>
              <a:clrFrom>
                <a:srgbClr val="1F1F1F"/>
              </a:clrFrom>
              <a:clrTo>
                <a:srgbClr val="1F1F1F">
                  <a:alpha val="0"/>
                </a:srgbClr>
              </a:clrTo>
            </a:clrChange>
          </a:blip>
          <a:stretch>
            <a:fillRect/>
          </a:stretch>
        </p:blipFill>
        <p:spPr>
          <a:xfrm>
            <a:off x="5216533" y="4950115"/>
            <a:ext cx="2260044" cy="1278539"/>
          </a:xfrm>
          <a:prstGeom prst="rect">
            <a:avLst/>
          </a:prstGeom>
        </p:spPr>
      </p:pic>
      <p:pic>
        <p:nvPicPr>
          <p:cNvPr id="1026" name="Picture 2" descr="9 common network issues and how to fix ...">
            <a:extLst>
              <a:ext uri="{FF2B5EF4-FFF2-40B4-BE49-F238E27FC236}">
                <a16:creationId xmlns:a16="http://schemas.microsoft.com/office/drawing/2014/main" id="{C8960648-7444-6DD9-AE55-30F92DDA6C8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31243" y="5047213"/>
            <a:ext cx="1657587" cy="1042581"/>
          </a:xfrm>
          <a:prstGeom prst="rect">
            <a:avLst/>
          </a:prstGeom>
          <a:noFill/>
          <a:extLst>
            <a:ext uri="{909E8E84-426E-40DD-AFC4-6F175D3DCCD1}">
              <a14:hiddenFill xmlns:a14="http://schemas.microsoft.com/office/drawing/2010/main">
                <a:solidFill>
                  <a:srgbClr val="FFFFFF"/>
                </a:solidFill>
              </a14:hiddenFill>
            </a:ext>
          </a:extLst>
        </p:spPr>
      </p:pic>
      <p:pic>
        <p:nvPicPr>
          <p:cNvPr id="3422" name="Picture 3421">
            <a:extLst>
              <a:ext uri="{FF2B5EF4-FFF2-40B4-BE49-F238E27FC236}">
                <a16:creationId xmlns:a16="http://schemas.microsoft.com/office/drawing/2014/main" id="{91D1E812-0B58-D140-F0F4-1988196CF3C8}"/>
              </a:ext>
            </a:extLst>
          </p:cNvPr>
          <p:cNvPicPr>
            <a:picLocks noChangeAspect="1"/>
          </p:cNvPicPr>
          <p:nvPr/>
        </p:nvPicPr>
        <p:blipFill>
          <a:blip r:embed="rId8"/>
          <a:stretch>
            <a:fillRect/>
          </a:stretch>
        </p:blipFill>
        <p:spPr>
          <a:xfrm>
            <a:off x="9277084" y="5034112"/>
            <a:ext cx="1934347" cy="1055681"/>
          </a:xfrm>
          <a:prstGeom prst="rect">
            <a:avLst/>
          </a:prstGeom>
        </p:spPr>
      </p:pic>
      <p:sp>
        <p:nvSpPr>
          <p:cNvPr id="3424" name="TextBox 3423">
            <a:extLst>
              <a:ext uri="{FF2B5EF4-FFF2-40B4-BE49-F238E27FC236}">
                <a16:creationId xmlns:a16="http://schemas.microsoft.com/office/drawing/2014/main" id="{03FD2A45-3B53-90B7-3228-30D804A1855C}"/>
              </a:ext>
            </a:extLst>
          </p:cNvPr>
          <p:cNvSpPr txBox="1"/>
          <p:nvPr/>
        </p:nvSpPr>
        <p:spPr>
          <a:xfrm>
            <a:off x="7358102" y="6172203"/>
            <a:ext cx="1785280"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srgbClr val="000000"/>
                </a:solidFill>
                <a:effectLst/>
                <a:uLnTx/>
                <a:uFillTx/>
                <a:latin typeface="-webkit-standard"/>
                <a:ea typeface="+mn-ea"/>
                <a:cs typeface="+mn-cs"/>
              </a:rPr>
              <a:t>Gathers internal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srgbClr val="000000"/>
                </a:solidFill>
                <a:effectLst/>
                <a:uLnTx/>
                <a:uFillTx/>
                <a:latin typeface="-webkit-standard"/>
                <a:ea typeface="+mn-ea"/>
                <a:cs typeface="+mn-cs"/>
              </a:rPr>
              <a:t>troubleshooting steps.</a:t>
            </a:r>
            <a:endParaRPr kumimoji="0" lang="en-US" sz="12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426" name="TextBox 3425">
            <a:extLst>
              <a:ext uri="{FF2B5EF4-FFF2-40B4-BE49-F238E27FC236}">
                <a16:creationId xmlns:a16="http://schemas.microsoft.com/office/drawing/2014/main" id="{80860369-D64A-DADD-81FD-21E22021E714}"/>
              </a:ext>
            </a:extLst>
          </p:cNvPr>
          <p:cNvSpPr txBox="1"/>
          <p:nvPr/>
        </p:nvSpPr>
        <p:spPr>
          <a:xfrm>
            <a:off x="5296441" y="6116690"/>
            <a:ext cx="2070198" cy="646331"/>
          </a:xfrm>
          <a:prstGeom prst="rect">
            <a:avLst/>
          </a:prstGeom>
          <a:noFill/>
        </p:spPr>
        <p:txBody>
          <a:bodyPr wrap="square">
            <a:spAutoFit/>
          </a:bodyPr>
          <a:lstStyle>
            <a:defPPr>
              <a:defRPr lang="en-US"/>
            </a:defPPr>
            <a:lvl1pPr>
              <a:defRPr sz="1200" b="0" i="0" u="none" strike="noStrike">
                <a:solidFill>
                  <a:srgbClr val="000000"/>
                </a:solidFill>
                <a:effectLst/>
                <a:latin typeface="-webkit-standar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srgbClr val="000000"/>
                </a:solidFill>
                <a:effectLst/>
                <a:uLnTx/>
                <a:uFillTx/>
                <a:latin typeface="-webkit-standard"/>
                <a:ea typeface="+mn-ea"/>
                <a:cs typeface="+mn-cs"/>
              </a:rPr>
              <a:t>Summarizes video clips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srgbClr val="000000"/>
                </a:solidFill>
                <a:effectLst/>
                <a:uLnTx/>
                <a:uFillTx/>
                <a:latin typeface="-webkit-standard"/>
                <a:ea typeface="+mn-ea"/>
                <a:cs typeface="+mn-cs"/>
              </a:rPr>
              <a:t>related to Wi-Fi and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srgbClr val="000000"/>
                </a:solidFill>
                <a:effectLst/>
                <a:uLnTx/>
                <a:uFillTx/>
                <a:latin typeface="-webkit-standard"/>
                <a:ea typeface="+mn-ea"/>
                <a:cs typeface="+mn-cs"/>
              </a:rPr>
              <a:t>error code E-22.</a:t>
            </a:r>
            <a:endParaRPr kumimoji="0" lang="en-US" sz="1200" b="0" i="0" u="none" strike="noStrike" kern="1200" cap="none" spc="0" normalizeH="0" baseline="0" noProof="0">
              <a:ln>
                <a:noFill/>
              </a:ln>
              <a:solidFill>
                <a:srgbClr val="000000"/>
              </a:solidFill>
              <a:effectLst/>
              <a:uLnTx/>
              <a:uFillTx/>
              <a:latin typeface="-webkit-standard"/>
              <a:ea typeface="+mn-ea"/>
              <a:cs typeface="+mn-cs"/>
            </a:endParaRPr>
          </a:p>
        </p:txBody>
      </p:sp>
      <p:sp>
        <p:nvSpPr>
          <p:cNvPr id="3427" name="TextBox 3426">
            <a:extLst>
              <a:ext uri="{FF2B5EF4-FFF2-40B4-BE49-F238E27FC236}">
                <a16:creationId xmlns:a16="http://schemas.microsoft.com/office/drawing/2014/main" id="{8CD2067F-0DBB-31EA-0590-F3DA3AE4FC91}"/>
              </a:ext>
            </a:extLst>
          </p:cNvPr>
          <p:cNvSpPr txBox="1"/>
          <p:nvPr/>
        </p:nvSpPr>
        <p:spPr>
          <a:xfrm>
            <a:off x="9336373" y="6116690"/>
            <a:ext cx="1967165" cy="646331"/>
          </a:xfrm>
          <a:prstGeom prst="rect">
            <a:avLst/>
          </a:prstGeom>
          <a:noFill/>
        </p:spPr>
        <p:txBody>
          <a:bodyPr wrap="square">
            <a:spAutoFit/>
          </a:bodyPr>
          <a:lstStyle>
            <a:defPPr>
              <a:defRPr lang="en-US"/>
            </a:defPPr>
            <a:lvl1pPr>
              <a:defRPr sz="1200" b="0" i="0" u="none" strike="noStrike">
                <a:solidFill>
                  <a:srgbClr val="000000"/>
                </a:solidFill>
                <a:effectLst/>
                <a:latin typeface="-webkit-standar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srgbClr val="000000"/>
                </a:solidFill>
                <a:effectLst/>
                <a:uLnTx/>
                <a:uFillTx/>
                <a:latin typeface="-webkit-standard"/>
                <a:ea typeface="+mn-ea"/>
                <a:cs typeface="+mn-cs"/>
              </a:rPr>
              <a:t>Finds the latest external resources related to the issue</a:t>
            </a:r>
            <a:endParaRPr kumimoji="0" lang="en-US" sz="1200" b="0" i="0" u="none" strike="noStrike" kern="1200" cap="none" spc="0" normalizeH="0" baseline="0" noProof="0">
              <a:ln>
                <a:noFill/>
              </a:ln>
              <a:solidFill>
                <a:srgbClr val="000000"/>
              </a:solidFill>
              <a:effectLst/>
              <a:uLnTx/>
              <a:uFillTx/>
              <a:latin typeface="-webkit-standard"/>
              <a:ea typeface="+mn-ea"/>
              <a:cs typeface="+mn-cs"/>
            </a:endParaRPr>
          </a:p>
        </p:txBody>
      </p:sp>
      <p:sp>
        <p:nvSpPr>
          <p:cNvPr id="3431" name="TextBox 3430">
            <a:extLst>
              <a:ext uri="{FF2B5EF4-FFF2-40B4-BE49-F238E27FC236}">
                <a16:creationId xmlns:a16="http://schemas.microsoft.com/office/drawing/2014/main" id="{01EAB08C-DBF4-04CE-6D4C-EE66042CA620}"/>
              </a:ext>
            </a:extLst>
          </p:cNvPr>
          <p:cNvSpPr txBox="1"/>
          <p:nvPr/>
        </p:nvSpPr>
        <p:spPr>
          <a:xfrm>
            <a:off x="10667597" y="2954089"/>
            <a:ext cx="2333869" cy="6001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rgbClr val="000000"/>
                </a:solidFill>
                <a:effectLst/>
                <a:uLnTx/>
                <a:uFillTx/>
                <a:latin typeface="Segoe Sans Text"/>
                <a:ea typeface="+mn-ea"/>
                <a:cs typeface="+mn-cs"/>
              </a:rPr>
              <a:t>Recent Online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rgbClr val="000000"/>
                </a:solidFill>
                <a:effectLst/>
                <a:uLnTx/>
                <a:uFillTx/>
                <a:latin typeface="Segoe Sans Text"/>
                <a:ea typeface="+mn-ea"/>
                <a:cs typeface="+mn-cs"/>
              </a:rPr>
              <a:t>Findings</a:t>
            </a:r>
            <a:r>
              <a:rPr kumimoji="0" lang="en-CA" sz="1100" b="0" i="0" u="none" strike="noStrike" kern="1200" cap="none" spc="0" normalizeH="0" baseline="0" noProof="0">
                <a:ln>
                  <a:noFill/>
                </a:ln>
                <a:solidFill>
                  <a:srgbClr val="000000"/>
                </a:solidFill>
                <a:effectLst/>
                <a:uLnTx/>
                <a:uFillTx/>
                <a:latin typeface="Segoe Sans Tex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000000"/>
                </a:solidFill>
                <a:effectLst/>
                <a:uLnTx/>
                <a:uFillTx/>
                <a:latin typeface="Segoe Sans Text"/>
                <a:ea typeface="+mn-ea"/>
                <a:cs typeface="+mn-cs"/>
              </a:rPr>
              <a:t>from Web</a:t>
            </a:r>
            <a:endParaRPr kumimoji="0" lang="en-US" sz="11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432" name="Rounded Rectangle 3431">
            <a:extLst>
              <a:ext uri="{FF2B5EF4-FFF2-40B4-BE49-F238E27FC236}">
                <a16:creationId xmlns:a16="http://schemas.microsoft.com/office/drawing/2014/main" id="{EB552E83-2C98-0D53-39E0-5C26C12618F6}"/>
              </a:ext>
            </a:extLst>
          </p:cNvPr>
          <p:cNvSpPr/>
          <p:nvPr/>
        </p:nvSpPr>
        <p:spPr bwMode="auto">
          <a:xfrm>
            <a:off x="10418288" y="2475953"/>
            <a:ext cx="224900" cy="232540"/>
          </a:xfrm>
          <a:prstGeom prst="roundRect">
            <a:avLst/>
          </a:prstGeom>
          <a:solidFill>
            <a:schemeClr val="accent4">
              <a:lumMod val="50000"/>
            </a:schemeClr>
          </a:solidFill>
          <a:ln w="9525" cap="flat" cmpd="sng" algn="ctr">
            <a:noFill/>
            <a:prstDash val="solid"/>
            <a:headEnd type="none" w="med" len="med"/>
            <a:tailEnd type="none" w="med" len="med"/>
          </a:ln>
          <a:effectLst>
            <a:outerShdw blurRad="190500" dist="38100" dir="2700000" algn="tl" rotWithShape="0">
              <a:schemeClr val="tx1">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433" name="Rounded Rectangle 3432">
            <a:extLst>
              <a:ext uri="{FF2B5EF4-FFF2-40B4-BE49-F238E27FC236}">
                <a16:creationId xmlns:a16="http://schemas.microsoft.com/office/drawing/2014/main" id="{033E992F-3F22-0952-66B7-8EA0ACD3E113}"/>
              </a:ext>
            </a:extLst>
          </p:cNvPr>
          <p:cNvSpPr/>
          <p:nvPr/>
        </p:nvSpPr>
        <p:spPr bwMode="auto">
          <a:xfrm>
            <a:off x="10418288" y="1981002"/>
            <a:ext cx="224900" cy="232540"/>
          </a:xfrm>
          <a:prstGeom prst="roundRect">
            <a:avLst/>
          </a:prstGeom>
          <a:solidFill>
            <a:srgbClr val="FFB900"/>
          </a:solidFill>
          <a:ln w="9525" cap="flat" cmpd="sng" algn="ctr">
            <a:noFill/>
            <a:prstDash val="solid"/>
            <a:headEnd type="none" w="med" len="med"/>
            <a:tailEnd type="none" w="med" len="med"/>
          </a:ln>
          <a:effectLst>
            <a:outerShdw blurRad="190500" dist="38100" dir="2700000" algn="tl" rotWithShape="0">
              <a:schemeClr val="tx1">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434" name="Rounded Rectangle 3433">
            <a:extLst>
              <a:ext uri="{FF2B5EF4-FFF2-40B4-BE49-F238E27FC236}">
                <a16:creationId xmlns:a16="http://schemas.microsoft.com/office/drawing/2014/main" id="{171859D2-F9C4-1EB4-5145-348B6571F61F}"/>
              </a:ext>
            </a:extLst>
          </p:cNvPr>
          <p:cNvSpPr/>
          <p:nvPr/>
        </p:nvSpPr>
        <p:spPr bwMode="auto">
          <a:xfrm>
            <a:off x="10418288" y="2978988"/>
            <a:ext cx="224900" cy="232540"/>
          </a:xfrm>
          <a:prstGeom prst="roundRect">
            <a:avLst/>
          </a:prstGeom>
          <a:solidFill>
            <a:srgbClr val="002060"/>
          </a:solidFill>
          <a:ln w="9525" cap="flat" cmpd="sng" algn="ctr">
            <a:noFill/>
            <a:prstDash val="solid"/>
            <a:headEnd type="none" w="med" len="med"/>
            <a:tailEnd type="none" w="med" len="med"/>
          </a:ln>
          <a:effectLst>
            <a:outerShdw blurRad="190500" dist="38100" dir="2700000" algn="tl" rotWithShape="0">
              <a:schemeClr val="tx1">
                <a:alpha val="20000"/>
              </a:scheme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436" name="TextBox 3435">
            <a:extLst>
              <a:ext uri="{FF2B5EF4-FFF2-40B4-BE49-F238E27FC236}">
                <a16:creationId xmlns:a16="http://schemas.microsoft.com/office/drawing/2014/main" id="{C586B6C2-E2AE-6203-99A6-DDD97962230D}"/>
              </a:ext>
            </a:extLst>
          </p:cNvPr>
          <p:cNvSpPr txBox="1"/>
          <p:nvPr/>
        </p:nvSpPr>
        <p:spPr>
          <a:xfrm>
            <a:off x="10648273" y="1947876"/>
            <a:ext cx="1662390"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rgbClr val="000000"/>
                </a:solidFill>
                <a:effectLst/>
                <a:uLnTx/>
                <a:uFillTx/>
                <a:latin typeface="Segoe Sans Text"/>
                <a:ea typeface="+mn-ea"/>
                <a:cs typeface="+mn-cs"/>
              </a:rPr>
              <a:t>Internal Steps</a:t>
            </a:r>
            <a:r>
              <a:rPr kumimoji="0" lang="en-CA" sz="1100" b="0" i="0" u="none" strike="noStrike" kern="1200" cap="none" spc="0" normalizeH="0" baseline="0" noProof="0">
                <a:ln>
                  <a:noFill/>
                </a:ln>
                <a:solidFill>
                  <a:srgbClr val="000000"/>
                </a:solidFill>
                <a:effectLst/>
                <a:uLnTx/>
                <a:uFillTx/>
                <a:latin typeface="Segoe Sans Tex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000000"/>
                </a:solidFill>
                <a:effectLst/>
                <a:uLnTx/>
                <a:uFillTx/>
                <a:latin typeface="Segoe Sans Text"/>
                <a:ea typeface="+mn-ea"/>
                <a:cs typeface="+mn-cs"/>
              </a:rPr>
              <a:t>from Documents </a:t>
            </a:r>
            <a:endParaRPr kumimoji="0" lang="en-US" sz="11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438" name="TextBox 3437">
            <a:extLst>
              <a:ext uri="{FF2B5EF4-FFF2-40B4-BE49-F238E27FC236}">
                <a16:creationId xmlns:a16="http://schemas.microsoft.com/office/drawing/2014/main" id="{D256E296-1F60-5846-9CA5-650AFF91A47E}"/>
              </a:ext>
            </a:extLst>
          </p:cNvPr>
          <p:cNvSpPr txBox="1"/>
          <p:nvPr/>
        </p:nvSpPr>
        <p:spPr>
          <a:xfrm>
            <a:off x="10667597" y="2383771"/>
            <a:ext cx="6819254" cy="600164"/>
          </a:xfrm>
          <a:prstGeom prst="rect">
            <a:avLst/>
          </a:prstGeom>
          <a:noFill/>
        </p:spPr>
        <p:txBody>
          <a:bodyPr wrap="square">
            <a:spAutoFit/>
          </a:bodyPr>
          <a:lstStyle>
            <a:defPPr>
              <a:defRPr lang="en-US"/>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dirty="0">
                <a:ln>
                  <a:noFill/>
                </a:ln>
                <a:solidFill>
                  <a:srgbClr val="000000"/>
                </a:solidFill>
                <a:effectLst/>
                <a:uLnTx/>
                <a:uFillTx/>
                <a:latin typeface="Segoe Sans Text"/>
                <a:ea typeface="+mn-ea"/>
                <a:cs typeface="+mn-cs"/>
              </a:rPr>
              <a:t>Video Link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dirty="0">
                <a:ln>
                  <a:noFill/>
                </a:ln>
                <a:solidFill>
                  <a:srgbClr val="000000"/>
                </a:solidFill>
                <a:effectLst/>
                <a:uLnTx/>
                <a:uFillTx/>
                <a:latin typeface="Segoe Sans Text"/>
                <a:ea typeface="+mn-ea"/>
                <a:cs typeface="+mn-cs"/>
              </a:rPr>
              <a:t>and Timestamps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srgbClr val="000000"/>
                </a:solidFill>
                <a:effectLst/>
                <a:uLnTx/>
                <a:uFillTx/>
                <a:latin typeface="Segoe Sans Text"/>
                <a:ea typeface="+mn-ea"/>
                <a:cs typeface="+mn-cs"/>
              </a:rPr>
              <a:t>from Videos</a:t>
            </a:r>
            <a:endParaRPr kumimoji="0" lang="en-US" sz="1100" b="0" i="0" u="none" strike="noStrike" kern="1200" cap="none" spc="0" normalizeH="0" baseline="0" noProof="0" dirty="0">
              <a:ln>
                <a:noFill/>
              </a:ln>
              <a:solidFill>
                <a:srgbClr val="000000"/>
              </a:solidFill>
              <a:effectLst/>
              <a:uLnTx/>
              <a:uFillTx/>
              <a:latin typeface="Segoe Sans Text"/>
              <a:ea typeface="+mn-ea"/>
              <a:cs typeface="+mn-cs"/>
            </a:endParaRPr>
          </a:p>
        </p:txBody>
      </p:sp>
      <p:cxnSp>
        <p:nvCxnSpPr>
          <p:cNvPr id="3440" name="Elbow Connector 3439">
            <a:extLst>
              <a:ext uri="{FF2B5EF4-FFF2-40B4-BE49-F238E27FC236}">
                <a16:creationId xmlns:a16="http://schemas.microsoft.com/office/drawing/2014/main" id="{B26ED573-7C7C-A7CE-D31B-3DCF2505F50E}"/>
              </a:ext>
            </a:extLst>
          </p:cNvPr>
          <p:cNvCxnSpPr>
            <a:cxnSpLocks/>
            <a:endCxn id="3364" idx="1"/>
          </p:cNvCxnSpPr>
          <p:nvPr/>
        </p:nvCxnSpPr>
        <p:spPr>
          <a:xfrm rot="5400000" flipH="1" flipV="1">
            <a:off x="3389697" y="2405654"/>
            <a:ext cx="543129" cy="90380"/>
          </a:xfrm>
          <a:prstGeom prst="bentConnector2">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cxnSp>
        <p:nvCxnSpPr>
          <p:cNvPr id="3442" name="Elbow Connector 3441">
            <a:extLst>
              <a:ext uri="{FF2B5EF4-FFF2-40B4-BE49-F238E27FC236}">
                <a16:creationId xmlns:a16="http://schemas.microsoft.com/office/drawing/2014/main" id="{C0954E03-1BC9-3F2A-184A-004F0594D7DF}"/>
              </a:ext>
            </a:extLst>
          </p:cNvPr>
          <p:cNvCxnSpPr>
            <a:cxnSpLocks/>
          </p:cNvCxnSpPr>
          <p:nvPr/>
        </p:nvCxnSpPr>
        <p:spPr>
          <a:xfrm>
            <a:off x="3548240" y="2703207"/>
            <a:ext cx="162176" cy="467118"/>
          </a:xfrm>
          <a:prstGeom prst="bentConnector3">
            <a:avLst>
              <a:gd name="adj1" fmla="val 44966"/>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cxnSp>
        <p:nvCxnSpPr>
          <p:cNvPr id="3446" name="Straight Connector 3445">
            <a:extLst>
              <a:ext uri="{FF2B5EF4-FFF2-40B4-BE49-F238E27FC236}">
                <a16:creationId xmlns:a16="http://schemas.microsoft.com/office/drawing/2014/main" id="{CF281351-4BF4-BC00-FCDA-6E6D99196B52}"/>
              </a:ext>
            </a:extLst>
          </p:cNvPr>
          <p:cNvCxnSpPr>
            <a:cxnSpLocks/>
            <a:stCxn id="6" idx="3"/>
            <a:endCxn id="3366" idx="1"/>
          </p:cNvCxnSpPr>
          <p:nvPr/>
        </p:nvCxnSpPr>
        <p:spPr>
          <a:xfrm>
            <a:off x="3424410" y="2703207"/>
            <a:ext cx="274307" cy="1156"/>
          </a:xfrm>
          <a:prstGeom prst="line">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cxnSp>
        <p:nvCxnSpPr>
          <p:cNvPr id="3450" name="Elbow Connector 3449">
            <a:extLst>
              <a:ext uri="{FF2B5EF4-FFF2-40B4-BE49-F238E27FC236}">
                <a16:creationId xmlns:a16="http://schemas.microsoft.com/office/drawing/2014/main" id="{36A57C36-DD4F-02FA-08CE-895F8DB4BFC7}"/>
              </a:ext>
            </a:extLst>
          </p:cNvPr>
          <p:cNvCxnSpPr>
            <a:cxnSpLocks/>
            <a:stCxn id="3364" idx="3"/>
            <a:endCxn id="3369" idx="1"/>
          </p:cNvCxnSpPr>
          <p:nvPr/>
        </p:nvCxnSpPr>
        <p:spPr>
          <a:xfrm>
            <a:off x="4409576" y="2179279"/>
            <a:ext cx="544758" cy="535999"/>
          </a:xfrm>
          <a:prstGeom prst="bentConnector3">
            <a:avLst>
              <a:gd name="adj1" fmla="val 82972"/>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cxnSp>
        <p:nvCxnSpPr>
          <p:cNvPr id="1031" name="Elbow Connector 1030">
            <a:extLst>
              <a:ext uri="{FF2B5EF4-FFF2-40B4-BE49-F238E27FC236}">
                <a16:creationId xmlns:a16="http://schemas.microsoft.com/office/drawing/2014/main" id="{04E84E58-4FE8-5012-F08D-7DBDE48FD35A}"/>
              </a:ext>
            </a:extLst>
          </p:cNvPr>
          <p:cNvCxnSpPr>
            <a:cxnSpLocks/>
            <a:stCxn id="3368" idx="3"/>
            <a:endCxn id="3369" idx="1"/>
          </p:cNvCxnSpPr>
          <p:nvPr/>
        </p:nvCxnSpPr>
        <p:spPr>
          <a:xfrm flipV="1">
            <a:off x="4837434" y="2715278"/>
            <a:ext cx="116900" cy="455047"/>
          </a:xfrm>
          <a:prstGeom prst="bentConnector3">
            <a:avLst>
              <a:gd name="adj1" fmla="val 19325"/>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cxnSp>
        <p:nvCxnSpPr>
          <p:cNvPr id="1036" name="Straight Connector 1035">
            <a:extLst>
              <a:ext uri="{FF2B5EF4-FFF2-40B4-BE49-F238E27FC236}">
                <a16:creationId xmlns:a16="http://schemas.microsoft.com/office/drawing/2014/main" id="{CF095378-5B53-049C-B2F9-E4C8427938D6}"/>
              </a:ext>
            </a:extLst>
          </p:cNvPr>
          <p:cNvCxnSpPr>
            <a:cxnSpLocks/>
          </p:cNvCxnSpPr>
          <p:nvPr/>
        </p:nvCxnSpPr>
        <p:spPr>
          <a:xfrm>
            <a:off x="6318294" y="2606092"/>
            <a:ext cx="281736" cy="0"/>
          </a:xfrm>
          <a:prstGeom prst="line">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cxnSp>
        <p:nvCxnSpPr>
          <p:cNvPr id="1045" name="Elbow Connector 1044">
            <a:extLst>
              <a:ext uri="{FF2B5EF4-FFF2-40B4-BE49-F238E27FC236}">
                <a16:creationId xmlns:a16="http://schemas.microsoft.com/office/drawing/2014/main" id="{568C31C7-4184-57AB-2F68-521C8166E570}"/>
              </a:ext>
            </a:extLst>
          </p:cNvPr>
          <p:cNvCxnSpPr>
            <a:cxnSpLocks/>
            <a:endCxn id="3433" idx="1"/>
          </p:cNvCxnSpPr>
          <p:nvPr/>
        </p:nvCxnSpPr>
        <p:spPr>
          <a:xfrm flipV="1">
            <a:off x="10099800" y="2097272"/>
            <a:ext cx="318488" cy="491620"/>
          </a:xfrm>
          <a:prstGeom prst="bentConnector3">
            <a:avLst>
              <a:gd name="adj1" fmla="val 50000"/>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cxnSp>
        <p:nvCxnSpPr>
          <p:cNvPr id="1049" name="Elbow Connector 1048">
            <a:extLst>
              <a:ext uri="{FF2B5EF4-FFF2-40B4-BE49-F238E27FC236}">
                <a16:creationId xmlns:a16="http://schemas.microsoft.com/office/drawing/2014/main" id="{C38E4DA4-51DF-7042-B7DB-A5C84763C3E6}"/>
              </a:ext>
            </a:extLst>
          </p:cNvPr>
          <p:cNvCxnSpPr>
            <a:cxnSpLocks/>
            <a:endCxn id="3434" idx="1"/>
          </p:cNvCxnSpPr>
          <p:nvPr/>
        </p:nvCxnSpPr>
        <p:spPr>
          <a:xfrm>
            <a:off x="10099800" y="2588892"/>
            <a:ext cx="318488" cy="506366"/>
          </a:xfrm>
          <a:prstGeom prst="bentConnector3">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cxnSp>
        <p:nvCxnSpPr>
          <p:cNvPr id="1054" name="Straight Connector 1053">
            <a:extLst>
              <a:ext uri="{FF2B5EF4-FFF2-40B4-BE49-F238E27FC236}">
                <a16:creationId xmlns:a16="http://schemas.microsoft.com/office/drawing/2014/main" id="{42B11411-DBE5-6EC1-5AE9-4D92D184AA11}"/>
              </a:ext>
            </a:extLst>
          </p:cNvPr>
          <p:cNvCxnSpPr>
            <a:cxnSpLocks/>
            <a:endCxn id="3432" idx="1"/>
          </p:cNvCxnSpPr>
          <p:nvPr/>
        </p:nvCxnSpPr>
        <p:spPr>
          <a:xfrm>
            <a:off x="10259044" y="2592223"/>
            <a:ext cx="159244" cy="0"/>
          </a:xfrm>
          <a:prstGeom prst="line">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cxnSp>
        <p:nvCxnSpPr>
          <p:cNvPr id="1070" name="Elbow Connector 1069">
            <a:extLst>
              <a:ext uri="{FF2B5EF4-FFF2-40B4-BE49-F238E27FC236}">
                <a16:creationId xmlns:a16="http://schemas.microsoft.com/office/drawing/2014/main" id="{C276D89D-BE7C-E72E-FC6A-592BCB22C366}"/>
              </a:ext>
            </a:extLst>
          </p:cNvPr>
          <p:cNvCxnSpPr>
            <a:stCxn id="3390" idx="2"/>
            <a:endCxn id="3421" idx="0"/>
          </p:cNvCxnSpPr>
          <p:nvPr/>
        </p:nvCxnSpPr>
        <p:spPr>
          <a:xfrm rot="5400000">
            <a:off x="6440122" y="4613112"/>
            <a:ext cx="243436" cy="430570"/>
          </a:xfrm>
          <a:prstGeom prst="bentConnector3">
            <a:avLst>
              <a:gd name="adj1" fmla="val 89127"/>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cxnSp>
        <p:nvCxnSpPr>
          <p:cNvPr id="1072" name="Elbow Connector 1071">
            <a:extLst>
              <a:ext uri="{FF2B5EF4-FFF2-40B4-BE49-F238E27FC236}">
                <a16:creationId xmlns:a16="http://schemas.microsoft.com/office/drawing/2014/main" id="{3CBEBEF2-E8ED-9214-5B86-2EF47FB385CE}"/>
              </a:ext>
            </a:extLst>
          </p:cNvPr>
          <p:cNvCxnSpPr>
            <a:cxnSpLocks/>
            <a:stCxn id="3407" idx="2"/>
            <a:endCxn id="3422" idx="0"/>
          </p:cNvCxnSpPr>
          <p:nvPr/>
        </p:nvCxnSpPr>
        <p:spPr>
          <a:xfrm rot="16200000" flipH="1">
            <a:off x="9862420" y="4652274"/>
            <a:ext cx="341700" cy="421975"/>
          </a:xfrm>
          <a:prstGeom prst="bentConnector3">
            <a:avLst>
              <a:gd name="adj1" fmla="val 68562"/>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cxnSp>
        <p:nvCxnSpPr>
          <p:cNvPr id="1076" name="Straight Connector 1075">
            <a:extLst>
              <a:ext uri="{FF2B5EF4-FFF2-40B4-BE49-F238E27FC236}">
                <a16:creationId xmlns:a16="http://schemas.microsoft.com/office/drawing/2014/main" id="{AEB76161-9290-27B5-80E5-4657D88A38AE}"/>
              </a:ext>
            </a:extLst>
          </p:cNvPr>
          <p:cNvCxnSpPr>
            <a:stCxn id="3421" idx="0"/>
            <a:endCxn id="3421" idx="0"/>
          </p:cNvCxnSpPr>
          <p:nvPr/>
        </p:nvCxnSpPr>
        <p:spPr>
          <a:xfrm>
            <a:off x="6346555" y="4950115"/>
            <a:ext cx="0"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78" name="Straight Connector 1077">
            <a:extLst>
              <a:ext uri="{FF2B5EF4-FFF2-40B4-BE49-F238E27FC236}">
                <a16:creationId xmlns:a16="http://schemas.microsoft.com/office/drawing/2014/main" id="{BC25378F-3BF0-3E8F-F0F0-F7A434B608F7}"/>
              </a:ext>
            </a:extLst>
          </p:cNvPr>
          <p:cNvCxnSpPr>
            <a:stCxn id="3421" idx="0"/>
          </p:cNvCxnSpPr>
          <p:nvPr/>
        </p:nvCxnSpPr>
        <p:spPr>
          <a:xfrm>
            <a:off x="6346555" y="4950115"/>
            <a:ext cx="0" cy="97098"/>
          </a:xfrm>
          <a:prstGeom prst="line">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3723FA9E-ED56-E4DF-F028-4AC76CFF550B}"/>
              </a:ext>
            </a:extLst>
          </p:cNvPr>
          <p:cNvCxnSpPr>
            <a:cxnSpLocks/>
            <a:endCxn id="1026" idx="0"/>
          </p:cNvCxnSpPr>
          <p:nvPr/>
        </p:nvCxnSpPr>
        <p:spPr>
          <a:xfrm>
            <a:off x="8250742" y="4714710"/>
            <a:ext cx="9295" cy="332503"/>
          </a:xfrm>
          <a:prstGeom prst="line">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cxnSp>
        <p:nvCxnSpPr>
          <p:cNvPr id="1084" name="Straight Connector 1083">
            <a:extLst>
              <a:ext uri="{FF2B5EF4-FFF2-40B4-BE49-F238E27FC236}">
                <a16:creationId xmlns:a16="http://schemas.microsoft.com/office/drawing/2014/main" id="{4F1AF187-4005-EB70-D91C-2044BBC5A62D}"/>
              </a:ext>
            </a:extLst>
          </p:cNvPr>
          <p:cNvCxnSpPr>
            <a:cxnSpLocks/>
            <a:stCxn id="3371" idx="3"/>
          </p:cNvCxnSpPr>
          <p:nvPr/>
        </p:nvCxnSpPr>
        <p:spPr>
          <a:xfrm flipV="1">
            <a:off x="5641544" y="1981002"/>
            <a:ext cx="0" cy="126871"/>
          </a:xfrm>
          <a:prstGeom prst="line">
            <a:avLst/>
          </a:prstGeom>
          <a:ln w="22225">
            <a:gradFill>
              <a:gsLst>
                <a:gs pos="0">
                  <a:srgbClr val="C03BC4"/>
                </a:gs>
                <a:gs pos="74000">
                  <a:schemeClr val="accent1">
                    <a:lumMod val="45000"/>
                    <a:lumOff val="55000"/>
                  </a:schemeClr>
                </a:gs>
                <a:gs pos="83000">
                  <a:schemeClr val="accent1">
                    <a:lumMod val="45000"/>
                    <a:lumOff val="55000"/>
                  </a:schemeClr>
                </a:gs>
                <a:gs pos="100000">
                  <a:schemeClr val="accent1">
                    <a:lumMod val="30000"/>
                    <a:lumOff val="70000"/>
                  </a:schemeClr>
                </a:gs>
              </a:gsLst>
              <a:lin ang="12000000" scaled="0"/>
            </a:gradFill>
            <a:headEnd type="none" w="lg" len="med"/>
            <a:tailEnd type="none"/>
          </a:ln>
        </p:spPr>
        <p:style>
          <a:lnRef idx="1">
            <a:schemeClr val="accent1"/>
          </a:lnRef>
          <a:fillRef idx="0">
            <a:schemeClr val="accent1"/>
          </a:fillRef>
          <a:effectRef idx="0">
            <a:schemeClr val="accent1"/>
          </a:effectRef>
          <a:fontRef idx="minor">
            <a:schemeClr val="tx1"/>
          </a:fontRef>
        </p:style>
      </p:cxnSp>
      <p:sp>
        <p:nvSpPr>
          <p:cNvPr id="2" name="Title 16">
            <a:extLst>
              <a:ext uri="{FF2B5EF4-FFF2-40B4-BE49-F238E27FC236}">
                <a16:creationId xmlns:a16="http://schemas.microsoft.com/office/drawing/2014/main" id="{0196C7EF-E168-E28A-6439-1E0B0475B847}"/>
              </a:ext>
            </a:extLst>
          </p:cNvPr>
          <p:cNvSpPr txBox="1">
            <a:spLocks/>
          </p:cNvSpPr>
          <p:nvPr/>
        </p:nvSpPr>
        <p:spPr>
          <a:xfrm>
            <a:off x="128295" y="6172203"/>
            <a:ext cx="4709139" cy="372550"/>
          </a:xfrm>
          <a:prstGeom prst="roundRect">
            <a:avLst/>
          </a:prstGeom>
          <a:no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225">
              <a:spcAft>
                <a:spcPts val="300"/>
              </a:spcAft>
              <a:defRPr sz="1600">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i="1" u="none" strike="noStrike" kern="1200" normalizeH="0" baseline="0" noProof="0">
              <a:solidFill>
                <a:srgbClr val="000000"/>
              </a:solidFill>
              <a:uLnTx/>
              <a:uFillTx/>
              <a:latin typeface="Segoe UI Semibold"/>
              <a:ea typeface="+mn-ea"/>
              <a:cs typeface="+mn-cs"/>
            </a:endParaRPr>
          </a:p>
        </p:txBody>
      </p:sp>
      <p:pic>
        <p:nvPicPr>
          <p:cNvPr id="3" name="Picture 2" descr="A blue square with a white star&#10;&#10;Description automatically generated">
            <a:extLst>
              <a:ext uri="{FF2B5EF4-FFF2-40B4-BE49-F238E27FC236}">
                <a16:creationId xmlns:a16="http://schemas.microsoft.com/office/drawing/2014/main" id="{CD9C9992-38E5-FD8C-0CEE-EC6AD304C8A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098010" y="2549427"/>
            <a:ext cx="411222" cy="411222"/>
          </a:xfrm>
          <a:prstGeom prst="rect">
            <a:avLst/>
          </a:prstGeom>
        </p:spPr>
      </p:pic>
      <p:pic>
        <p:nvPicPr>
          <p:cNvPr id="13" name="Picture 12" descr="A colorful hexagon with stars&#10;&#10;Description automatically generated">
            <a:extLst>
              <a:ext uri="{FF2B5EF4-FFF2-40B4-BE49-F238E27FC236}">
                <a16:creationId xmlns:a16="http://schemas.microsoft.com/office/drawing/2014/main" id="{A8FDAEF2-5249-E821-5383-4E901D3BB76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066657" y="2515533"/>
            <a:ext cx="459568" cy="459568"/>
          </a:xfrm>
          <a:prstGeom prst="rect">
            <a:avLst/>
          </a:prstGeom>
        </p:spPr>
      </p:pic>
      <p:pic>
        <p:nvPicPr>
          <p:cNvPr id="16" name="Picture 4" descr="Bing Search logo">
            <a:extLst>
              <a:ext uri="{FF2B5EF4-FFF2-40B4-BE49-F238E27FC236}">
                <a16:creationId xmlns:a16="http://schemas.microsoft.com/office/drawing/2014/main" id="{25911032-A50F-D71B-CFF3-C58D675CDF1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12354" y="4208200"/>
            <a:ext cx="243262" cy="36744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AF9B9DD-8DAD-A38A-5C75-39E2324D3435}"/>
              </a:ext>
            </a:extLst>
          </p:cNvPr>
          <p:cNvSpPr txBox="1"/>
          <p:nvPr/>
        </p:nvSpPr>
        <p:spPr>
          <a:xfrm>
            <a:off x="6623351" y="4164009"/>
            <a:ext cx="743289"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Azure AI Agent Service</a:t>
            </a:r>
          </a:p>
        </p:txBody>
      </p:sp>
      <p:pic>
        <p:nvPicPr>
          <p:cNvPr id="5" name="Picture 4" descr="A colorful hexagon with stars&#10;&#10;Description automatically generated">
            <a:extLst>
              <a:ext uri="{FF2B5EF4-FFF2-40B4-BE49-F238E27FC236}">
                <a16:creationId xmlns:a16="http://schemas.microsoft.com/office/drawing/2014/main" id="{004BA7AA-A1D1-5C94-FD89-65B9C62CB88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228678" y="4134321"/>
            <a:ext cx="459568" cy="459568"/>
          </a:xfrm>
          <a:prstGeom prst="rect">
            <a:avLst/>
          </a:prstGeom>
        </p:spPr>
      </p:pic>
      <p:sp>
        <p:nvSpPr>
          <p:cNvPr id="7" name="TextBox 6">
            <a:extLst>
              <a:ext uri="{FF2B5EF4-FFF2-40B4-BE49-F238E27FC236}">
                <a16:creationId xmlns:a16="http://schemas.microsoft.com/office/drawing/2014/main" id="{917983B7-802B-EBB8-FD10-6C05290C7E05}"/>
              </a:ext>
            </a:extLst>
          </p:cNvPr>
          <p:cNvSpPr txBox="1"/>
          <p:nvPr/>
        </p:nvSpPr>
        <p:spPr>
          <a:xfrm>
            <a:off x="8152200" y="4164009"/>
            <a:ext cx="743289"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Azure AI Agent Service</a:t>
            </a:r>
          </a:p>
        </p:txBody>
      </p:sp>
      <p:pic>
        <p:nvPicPr>
          <p:cNvPr id="12" name="Picture 11" descr="A colorful hexagon with stars&#10;&#10;Description automatically generated">
            <a:extLst>
              <a:ext uri="{FF2B5EF4-FFF2-40B4-BE49-F238E27FC236}">
                <a16:creationId xmlns:a16="http://schemas.microsoft.com/office/drawing/2014/main" id="{075ECDCB-AC3B-187E-AB10-3F610DECC92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757527" y="4134321"/>
            <a:ext cx="459568" cy="459568"/>
          </a:xfrm>
          <a:prstGeom prst="rect">
            <a:avLst/>
          </a:prstGeom>
        </p:spPr>
      </p:pic>
      <p:sp>
        <p:nvSpPr>
          <p:cNvPr id="17" name="TextBox 16">
            <a:extLst>
              <a:ext uri="{FF2B5EF4-FFF2-40B4-BE49-F238E27FC236}">
                <a16:creationId xmlns:a16="http://schemas.microsoft.com/office/drawing/2014/main" id="{1500D96F-0A5F-AE17-7BB8-ED67138ACF4D}"/>
              </a:ext>
            </a:extLst>
          </p:cNvPr>
          <p:cNvSpPr txBox="1"/>
          <p:nvPr/>
        </p:nvSpPr>
        <p:spPr>
          <a:xfrm>
            <a:off x="9835566" y="4152117"/>
            <a:ext cx="743289"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Azure AI Agent Service</a:t>
            </a:r>
          </a:p>
        </p:txBody>
      </p:sp>
      <p:pic>
        <p:nvPicPr>
          <p:cNvPr id="18" name="Picture 17" descr="A colorful hexagon with stars&#10;&#10;Description automatically generated">
            <a:extLst>
              <a:ext uri="{FF2B5EF4-FFF2-40B4-BE49-F238E27FC236}">
                <a16:creationId xmlns:a16="http://schemas.microsoft.com/office/drawing/2014/main" id="{15F73BF9-30AC-ED3D-3848-2016BD22670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133486" y="4164218"/>
            <a:ext cx="459568" cy="459568"/>
          </a:xfrm>
          <a:prstGeom prst="rect">
            <a:avLst/>
          </a:prstGeom>
        </p:spPr>
      </p:pic>
      <p:sp>
        <p:nvSpPr>
          <p:cNvPr id="19" name="Rectangle 18">
            <a:extLst>
              <a:ext uri="{FF2B5EF4-FFF2-40B4-BE49-F238E27FC236}">
                <a16:creationId xmlns:a16="http://schemas.microsoft.com/office/drawing/2014/main" id="{DCCC6E45-A7E5-44B3-AB12-DBE7C3501E78}"/>
              </a:ext>
            </a:extLst>
          </p:cNvPr>
          <p:cNvSpPr/>
          <p:nvPr/>
        </p:nvSpPr>
        <p:spPr bwMode="auto">
          <a:xfrm>
            <a:off x="7844589" y="2107873"/>
            <a:ext cx="854700" cy="846215"/>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pic>
        <p:nvPicPr>
          <p:cNvPr id="20" name="Picture 4" descr="Semantic Kernel's new icon and the art of teamwork ...">
            <a:extLst>
              <a:ext uri="{FF2B5EF4-FFF2-40B4-BE49-F238E27FC236}">
                <a16:creationId xmlns:a16="http://schemas.microsoft.com/office/drawing/2014/main" id="{C190A125-F560-FF05-8A15-B4818D965C2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93560" y="2223280"/>
            <a:ext cx="398236" cy="39823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AutoGen - Reviews, Pros &amp; Cons | Companies using AutoGen">
            <a:extLst>
              <a:ext uri="{FF2B5EF4-FFF2-40B4-BE49-F238E27FC236}">
                <a16:creationId xmlns:a16="http://schemas.microsoft.com/office/drawing/2014/main" id="{96234DBF-20EF-F3DC-CA9B-DF759D7E20A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95436" y="2243874"/>
            <a:ext cx="357047" cy="357047"/>
          </a:xfrm>
          <a:prstGeom prst="roundRect">
            <a:avLst>
              <a:gd name="adj" fmla="val 10381"/>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3A242DDA-3846-3842-A8AB-982033C5D515}"/>
              </a:ext>
            </a:extLst>
          </p:cNvPr>
          <p:cNvSpPr txBox="1"/>
          <p:nvPr/>
        </p:nvSpPr>
        <p:spPr>
          <a:xfrm>
            <a:off x="7767463" y="2722408"/>
            <a:ext cx="121214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AutoGen</a:t>
            </a:r>
            <a:r>
              <a:rPr kumimoji="0" lang="en-US" sz="9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ou Semantic Kernel</a:t>
            </a:r>
          </a:p>
        </p:txBody>
      </p:sp>
      <p:sp>
        <p:nvSpPr>
          <p:cNvPr id="51" name="TextBox 50">
            <a:extLst>
              <a:ext uri="{FF2B5EF4-FFF2-40B4-BE49-F238E27FC236}">
                <a16:creationId xmlns:a16="http://schemas.microsoft.com/office/drawing/2014/main" id="{6E757DD2-1A35-1A95-B636-A94CBB7137F9}"/>
              </a:ext>
            </a:extLst>
          </p:cNvPr>
          <p:cNvSpPr txBox="1"/>
          <p:nvPr/>
        </p:nvSpPr>
        <p:spPr>
          <a:xfrm>
            <a:off x="221037" y="6035312"/>
            <a:ext cx="4637807" cy="646331"/>
          </a:xfrm>
          <a:prstGeom prst="rect">
            <a:avLst/>
          </a:prstGeom>
          <a:noFill/>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0000"/>
                </a:solidFill>
                <a:uLnTx/>
                <a:uFillTx/>
                <a:latin typeface="Segoe Sans Text Semibold"/>
                <a:ea typeface="+mn-ea"/>
                <a:cs typeface="+mn-cs"/>
              </a:rPr>
              <a:t>* We can use the Azure AI Content Understanding service to extract images and videos, and transform them from unstructured to structured data</a:t>
            </a:r>
            <a:endParaRPr kumimoji="0" lang="en-US" sz="1200" b="0" i="1" u="none" strike="noStrike" kern="1200" cap="none" spc="0" normalizeH="0" baseline="0" noProof="0">
              <a:ln>
                <a:noFill/>
              </a:ln>
              <a:solidFill>
                <a:srgbClr val="000000"/>
              </a:solidFill>
              <a:uLnTx/>
              <a:uFillTx/>
              <a:latin typeface="Segoe UI Semibold"/>
              <a:ea typeface="+mn-ea"/>
              <a:cs typeface="+mn-cs"/>
            </a:endParaRPr>
          </a:p>
        </p:txBody>
      </p:sp>
    </p:spTree>
    <p:extLst>
      <p:ext uri="{BB962C8B-B14F-4D97-AF65-F5344CB8AC3E}">
        <p14:creationId xmlns:p14="http://schemas.microsoft.com/office/powerpoint/2010/main" val="10574067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351"/>
                                        </p:tgtEl>
                                        <p:attrNameLst>
                                          <p:attrName>style.visibility</p:attrName>
                                        </p:attrNameLst>
                                      </p:cBhvr>
                                      <p:to>
                                        <p:strVal val="visible"/>
                                      </p:to>
                                    </p:set>
                                    <p:animEffect transition="in" filter="wipe(left)">
                                      <p:cBhvr>
                                        <p:cTn id="10" dur="750"/>
                                        <p:tgtEl>
                                          <p:spTgt spid="335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352"/>
                                        </p:tgtEl>
                                        <p:attrNameLst>
                                          <p:attrName>style.visibility</p:attrName>
                                        </p:attrNameLst>
                                      </p:cBhvr>
                                      <p:to>
                                        <p:strVal val="visible"/>
                                      </p:to>
                                    </p:set>
                                    <p:animEffect transition="in" filter="wipe(left)">
                                      <p:cBhvr>
                                        <p:cTn id="13" dur="500"/>
                                        <p:tgtEl>
                                          <p:spTgt spid="335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69"/>
                                        </p:tgtEl>
                                        <p:attrNameLst>
                                          <p:attrName>style.visibility</p:attrName>
                                        </p:attrNameLst>
                                      </p:cBhvr>
                                      <p:to>
                                        <p:strVal val="visible"/>
                                      </p:to>
                                    </p:set>
                                    <p:animEffect transition="in" filter="fade">
                                      <p:cBhvr>
                                        <p:cTn id="16" dur="500"/>
                                        <p:tgtEl>
                                          <p:spTgt spid="336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390"/>
                                        </p:tgtEl>
                                        <p:attrNameLst>
                                          <p:attrName>style.visibility</p:attrName>
                                        </p:attrNameLst>
                                      </p:cBhvr>
                                      <p:to>
                                        <p:strVal val="visible"/>
                                      </p:to>
                                    </p:set>
                                    <p:animEffect transition="in" filter="fade">
                                      <p:cBhvr>
                                        <p:cTn id="19" dur="500"/>
                                        <p:tgtEl>
                                          <p:spTgt spid="339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400"/>
                                        </p:tgtEl>
                                        <p:attrNameLst>
                                          <p:attrName>style.visibility</p:attrName>
                                        </p:attrNameLst>
                                      </p:cBhvr>
                                      <p:to>
                                        <p:strVal val="visible"/>
                                      </p:to>
                                    </p:set>
                                    <p:animEffect transition="in" filter="fade">
                                      <p:cBhvr>
                                        <p:cTn id="22" dur="500"/>
                                        <p:tgtEl>
                                          <p:spTgt spid="340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407"/>
                                        </p:tgtEl>
                                        <p:attrNameLst>
                                          <p:attrName>style.visibility</p:attrName>
                                        </p:attrNameLst>
                                      </p:cBhvr>
                                      <p:to>
                                        <p:strVal val="visible"/>
                                      </p:to>
                                    </p:set>
                                    <p:animEffect transition="in" filter="fade">
                                      <p:cBhvr>
                                        <p:cTn id="25" dur="500"/>
                                        <p:tgtEl>
                                          <p:spTgt spid="340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19"/>
                                        </p:tgtEl>
                                        <p:attrNameLst>
                                          <p:attrName>style.visibility</p:attrName>
                                        </p:attrNameLst>
                                      </p:cBhvr>
                                      <p:to>
                                        <p:strVal val="visible"/>
                                      </p:to>
                                    </p:set>
                                    <p:animEffect transition="in" filter="fade">
                                      <p:cBhvr>
                                        <p:cTn id="28" dur="500"/>
                                        <p:tgtEl>
                                          <p:spTgt spid="3419"/>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420"/>
                                        </p:tgtEl>
                                        <p:attrNameLst>
                                          <p:attrName>style.visibility</p:attrName>
                                        </p:attrNameLst>
                                      </p:cBhvr>
                                      <p:to>
                                        <p:strVal val="visible"/>
                                      </p:to>
                                    </p:set>
                                    <p:animEffect transition="in" filter="wipe(left)">
                                      <p:cBhvr>
                                        <p:cTn id="31" dur="750"/>
                                        <p:tgtEl>
                                          <p:spTgt spid="3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9" grpId="0" animBg="1"/>
      <p:bldP spid="6" grpId="0" animBg="1"/>
      <p:bldP spid="3351" grpId="0"/>
      <p:bldP spid="3352" grpId="0"/>
      <p:bldP spid="3369" grpId="0" animBg="1"/>
      <p:bldP spid="3390" grpId="0" animBg="1"/>
      <p:bldP spid="3400" grpId="0" animBg="1"/>
      <p:bldP spid="3407" grpId="0" animBg="1"/>
      <p:bldP spid="342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1B3FE-89DB-469F-70E5-FF967013E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4BDDC-3F3D-9F47-A245-D3FBB4526DAE}"/>
              </a:ext>
            </a:extLst>
          </p:cNvPr>
          <p:cNvSpPr>
            <a:spLocks noGrp="1"/>
          </p:cNvSpPr>
          <p:nvPr>
            <p:ph type="title"/>
          </p:nvPr>
        </p:nvSpPr>
        <p:spPr>
          <a:xfrm>
            <a:off x="0" y="2186980"/>
            <a:ext cx="10510341" cy="1495794"/>
          </a:xfrm>
        </p:spPr>
        <p:txBody>
          <a:bodyPr/>
          <a:lstStyle/>
          <a:p>
            <a:pPr algn="ctr"/>
            <a:r>
              <a:rPr lang="en-US" sz="5400" dirty="0">
                <a:solidFill>
                  <a:srgbClr val="000000"/>
                </a:solidFill>
              </a:rPr>
              <a:t>How to start </a:t>
            </a:r>
            <a:br>
              <a:rPr lang="en-US" sz="5400" dirty="0">
                <a:solidFill>
                  <a:srgbClr val="000000"/>
                </a:solidFill>
              </a:rPr>
            </a:br>
            <a:r>
              <a:rPr lang="en-US" sz="5400" dirty="0">
                <a:solidFill>
                  <a:srgbClr val="000000"/>
                </a:solidFill>
              </a:rPr>
              <a:t>building AI agents?</a:t>
            </a:r>
          </a:p>
        </p:txBody>
      </p:sp>
    </p:spTree>
    <p:extLst>
      <p:ext uri="{BB962C8B-B14F-4D97-AF65-F5344CB8AC3E}">
        <p14:creationId xmlns:p14="http://schemas.microsoft.com/office/powerpoint/2010/main" val="180758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70B42-31A7-F03D-11A9-F4BBCF16CFDB}"/>
              </a:ext>
            </a:extLst>
          </p:cNvPr>
          <p:cNvSpPr>
            <a:spLocks noGrp="1"/>
          </p:cNvSpPr>
          <p:nvPr>
            <p:ph type="title"/>
          </p:nvPr>
        </p:nvSpPr>
        <p:spPr/>
        <p:txBody>
          <a:bodyPr/>
          <a:lstStyle/>
          <a:p>
            <a:r>
              <a:rPr lang="en-US" b="1">
                <a:solidFill>
                  <a:schemeClr val="tx1"/>
                </a:solidFill>
              </a:rPr>
              <a:t>Meeting where you are in your agent-building journey</a:t>
            </a:r>
            <a:endParaRPr lang="en-US"/>
          </a:p>
        </p:txBody>
      </p:sp>
      <p:sp>
        <p:nvSpPr>
          <p:cNvPr id="4" name="Rectangle: Rounded Corners 16">
            <a:extLst>
              <a:ext uri="{FF2B5EF4-FFF2-40B4-BE49-F238E27FC236}">
                <a16:creationId xmlns:a16="http://schemas.microsoft.com/office/drawing/2014/main" id="{5C45B4FD-F1A5-A095-0F1E-3493E62A5C7C}"/>
              </a:ext>
              <a:ext uri="{C183D7F6-B498-43B3-948B-1728B52AA6E4}">
                <adec:decorative xmlns:adec="http://schemas.microsoft.com/office/drawing/2017/decorative" val="1"/>
              </a:ext>
            </a:extLst>
          </p:cNvPr>
          <p:cNvSpPr>
            <a:spLocks/>
          </p:cNvSpPr>
          <p:nvPr/>
        </p:nvSpPr>
        <p:spPr bwMode="auto">
          <a:xfrm>
            <a:off x="401925" y="1706897"/>
            <a:ext cx="11383851" cy="4769224"/>
          </a:xfrm>
          <a:prstGeom prst="roundRect">
            <a:avLst>
              <a:gd name="adj" fmla="val 5361"/>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UI"/>
              <a:ea typeface="+mn-ea"/>
              <a:cs typeface="Segoe UI"/>
            </a:endParaRPr>
          </a:p>
        </p:txBody>
      </p:sp>
      <p:sp>
        <p:nvSpPr>
          <p:cNvPr id="5" name="Rectangle: Rounded Corners 17">
            <a:extLst>
              <a:ext uri="{FF2B5EF4-FFF2-40B4-BE49-F238E27FC236}">
                <a16:creationId xmlns:a16="http://schemas.microsoft.com/office/drawing/2014/main" id="{0CDA91DF-E1DC-5D57-DC0F-0825EB4262FE}"/>
              </a:ext>
            </a:extLst>
          </p:cNvPr>
          <p:cNvSpPr/>
          <p:nvPr/>
        </p:nvSpPr>
        <p:spPr bwMode="auto">
          <a:xfrm>
            <a:off x="566515" y="4394173"/>
            <a:ext cx="11049399" cy="523220"/>
          </a:xfrm>
          <a:prstGeom prst="roundRect">
            <a:avLst>
              <a:gd name="adj" fmla="val 50000"/>
            </a:avLst>
          </a:prstGeom>
          <a:gradFill>
            <a:gsLst>
              <a:gs pos="100000">
                <a:srgbClr val="286BD1"/>
              </a:gs>
              <a:gs pos="0">
                <a:srgbClr val="00B0F0"/>
              </a:gs>
            </a:gsLst>
            <a:lin ang="0" scaled="0"/>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600" b="0" i="0" u="none" strike="noStrike" kern="0" cap="none" spc="0" normalizeH="0" baseline="0" noProof="0" err="1">
              <a:ln>
                <a:noFill/>
              </a:ln>
              <a:solidFill>
                <a:srgbClr val="FFFFFF"/>
              </a:solidFill>
              <a:effectLst/>
              <a:uLnTx/>
              <a:uFillTx/>
              <a:latin typeface="Segoe UI Semibold"/>
              <a:ea typeface="+mn-ea"/>
              <a:cs typeface="+mn-cs"/>
            </a:endParaRPr>
          </a:p>
        </p:txBody>
      </p:sp>
      <p:grpSp>
        <p:nvGrpSpPr>
          <p:cNvPr id="6" name="Group 5">
            <a:extLst>
              <a:ext uri="{FF2B5EF4-FFF2-40B4-BE49-F238E27FC236}">
                <a16:creationId xmlns:a16="http://schemas.microsoft.com/office/drawing/2014/main" id="{283BF12F-604D-986F-2191-B734023D371F}"/>
              </a:ext>
            </a:extLst>
          </p:cNvPr>
          <p:cNvGrpSpPr/>
          <p:nvPr/>
        </p:nvGrpSpPr>
        <p:grpSpPr>
          <a:xfrm>
            <a:off x="1739701" y="4141414"/>
            <a:ext cx="1801554" cy="1478915"/>
            <a:chOff x="1961525" y="3785458"/>
            <a:chExt cx="1801554" cy="1478915"/>
          </a:xfrm>
        </p:grpSpPr>
        <p:sp>
          <p:nvSpPr>
            <p:cNvPr id="7" name="Oval 6">
              <a:extLst>
                <a:ext uri="{FF2B5EF4-FFF2-40B4-BE49-F238E27FC236}">
                  <a16:creationId xmlns:a16="http://schemas.microsoft.com/office/drawing/2014/main" id="{AF8947FB-3DF9-2EE9-164F-7F17D7EB6801}"/>
                </a:ext>
              </a:extLst>
            </p:cNvPr>
            <p:cNvSpPr/>
            <p:nvPr/>
          </p:nvSpPr>
          <p:spPr bwMode="auto">
            <a:xfrm>
              <a:off x="2366630" y="3785458"/>
              <a:ext cx="991344" cy="991341"/>
            </a:xfrm>
            <a:prstGeom prst="ellipse">
              <a:avLst/>
            </a:prstGeom>
            <a:solidFill>
              <a:schemeClr val="bg1">
                <a:lumMod val="95000"/>
                <a:alpha val="50000"/>
              </a:schemeClr>
            </a:solidFill>
            <a:ln w="63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 name="Oval 7">
              <a:extLst>
                <a:ext uri="{FF2B5EF4-FFF2-40B4-BE49-F238E27FC236}">
                  <a16:creationId xmlns:a16="http://schemas.microsoft.com/office/drawing/2014/main" id="{621CAF7C-8661-5FB9-981E-BB523FB6B1BE}"/>
                </a:ext>
              </a:extLst>
            </p:cNvPr>
            <p:cNvSpPr/>
            <p:nvPr/>
          </p:nvSpPr>
          <p:spPr bwMode="auto">
            <a:xfrm>
              <a:off x="2463959" y="3882788"/>
              <a:ext cx="796686" cy="796680"/>
            </a:xfrm>
            <a:prstGeom prst="ellipse">
              <a:avLst/>
            </a:prstGeom>
            <a:solidFill>
              <a:schemeClr val="bg1"/>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alibri" panose="020F0502020204030204"/>
                <a:ea typeface="+mn-ea"/>
                <a:cs typeface="Segoe UI" pitchFamily="34" charset="0"/>
              </a:endParaRPr>
            </a:p>
          </p:txBody>
        </p:sp>
        <p:pic>
          <p:nvPicPr>
            <p:cNvPr id="9" name="Picture 8">
              <a:extLst>
                <a:ext uri="{FF2B5EF4-FFF2-40B4-BE49-F238E27FC236}">
                  <a16:creationId xmlns:a16="http://schemas.microsoft.com/office/drawing/2014/main" id="{A4ADD8D4-E330-DCEB-90B9-BC3E025B4D1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t="2923" b="2923"/>
            <a:stretch/>
          </p:blipFill>
          <p:spPr>
            <a:xfrm>
              <a:off x="2592878" y="4026167"/>
              <a:ext cx="538849" cy="507350"/>
            </a:xfrm>
            <a:prstGeom prst="rect">
              <a:avLst/>
            </a:prstGeom>
            <a:ln w="7441" cap="flat">
              <a:noFill/>
              <a:prstDash val="solid"/>
              <a:miter/>
            </a:ln>
            <a:effectLst>
              <a:outerShdw blurRad="50800" dist="38100" dir="5400000" algn="t" rotWithShape="0">
                <a:prstClr val="black">
                  <a:alpha val="40000"/>
                </a:prstClr>
              </a:outerShdw>
            </a:effectLst>
          </p:spPr>
        </p:pic>
        <p:sp>
          <p:nvSpPr>
            <p:cNvPr id="10" name="Rectangle: Rounded Corners 22">
              <a:extLst>
                <a:ext uri="{FF2B5EF4-FFF2-40B4-BE49-F238E27FC236}">
                  <a16:creationId xmlns:a16="http://schemas.microsoft.com/office/drawing/2014/main" id="{E2E8FEAC-D7B8-474D-15C4-69245FFA021E}"/>
                </a:ext>
              </a:extLst>
            </p:cNvPr>
            <p:cNvSpPr/>
            <p:nvPr/>
          </p:nvSpPr>
          <p:spPr bwMode="auto">
            <a:xfrm>
              <a:off x="2162087" y="5041786"/>
              <a:ext cx="1397863" cy="222587"/>
            </a:xfrm>
            <a:prstGeom prst="roundRect">
              <a:avLst>
                <a:gd name="adj" fmla="val 50000"/>
              </a:avLst>
            </a:prstGeom>
            <a:solidFill>
              <a:srgbClr val="0078D4"/>
            </a:solidFill>
            <a:ln>
              <a:noFill/>
              <a:headEnd type="none" w="med" len="med"/>
              <a:tailEnd type="none" w="med" len="med"/>
            </a:ln>
            <a:effectLst>
              <a:outerShdw blurRad="76200" sx="102000" sy="102000" algn="ctr" rotWithShape="0">
                <a:prstClr val="black">
                  <a:alpha val="1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For end users</a:t>
              </a:r>
            </a:p>
          </p:txBody>
        </p:sp>
        <p:sp>
          <p:nvSpPr>
            <p:cNvPr id="11" name="TextBox 10">
              <a:extLst>
                <a:ext uri="{FF2B5EF4-FFF2-40B4-BE49-F238E27FC236}">
                  <a16:creationId xmlns:a16="http://schemas.microsoft.com/office/drawing/2014/main" id="{C5542F3D-0A7E-DC86-B72D-E2789A10AD87}"/>
                </a:ext>
              </a:extLst>
            </p:cNvPr>
            <p:cNvSpPr txBox="1"/>
            <p:nvPr/>
          </p:nvSpPr>
          <p:spPr>
            <a:xfrm>
              <a:off x="1961525" y="4649120"/>
              <a:ext cx="1801554" cy="353943"/>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Agent builder</a:t>
              </a:r>
            </a:p>
          </p:txBody>
        </p:sp>
      </p:grpSp>
      <p:grpSp>
        <p:nvGrpSpPr>
          <p:cNvPr id="12" name="Group 11">
            <a:extLst>
              <a:ext uri="{FF2B5EF4-FFF2-40B4-BE49-F238E27FC236}">
                <a16:creationId xmlns:a16="http://schemas.microsoft.com/office/drawing/2014/main" id="{C6F59AED-EDAD-3A2B-B7EB-B06E8B2BD892}"/>
              </a:ext>
            </a:extLst>
          </p:cNvPr>
          <p:cNvGrpSpPr/>
          <p:nvPr/>
        </p:nvGrpSpPr>
        <p:grpSpPr>
          <a:xfrm>
            <a:off x="5196139" y="4151718"/>
            <a:ext cx="1801762" cy="1455048"/>
            <a:chOff x="5257390" y="3776246"/>
            <a:chExt cx="1801762" cy="1455048"/>
          </a:xfrm>
        </p:grpSpPr>
        <p:grpSp>
          <p:nvGrpSpPr>
            <p:cNvPr id="13" name="Group 12">
              <a:extLst>
                <a:ext uri="{FF2B5EF4-FFF2-40B4-BE49-F238E27FC236}">
                  <a16:creationId xmlns:a16="http://schemas.microsoft.com/office/drawing/2014/main" id="{AB27EBF7-B841-58FD-7654-194EA9CFBC04}"/>
                </a:ext>
              </a:extLst>
            </p:cNvPr>
            <p:cNvGrpSpPr/>
            <p:nvPr/>
          </p:nvGrpSpPr>
          <p:grpSpPr>
            <a:xfrm>
              <a:off x="5662599" y="3776246"/>
              <a:ext cx="991344" cy="991341"/>
              <a:chOff x="3031090" y="2734209"/>
              <a:chExt cx="752625" cy="752623"/>
            </a:xfrm>
          </p:grpSpPr>
          <p:sp>
            <p:nvSpPr>
              <p:cNvPr id="17" name="Oval 16">
                <a:extLst>
                  <a:ext uri="{FF2B5EF4-FFF2-40B4-BE49-F238E27FC236}">
                    <a16:creationId xmlns:a16="http://schemas.microsoft.com/office/drawing/2014/main" id="{C425C902-8EAD-C773-ED12-43573F0FDE32}"/>
                  </a:ext>
                </a:extLst>
              </p:cNvPr>
              <p:cNvSpPr/>
              <p:nvPr/>
            </p:nvSpPr>
            <p:spPr bwMode="auto">
              <a:xfrm>
                <a:off x="3031090" y="2734209"/>
                <a:ext cx="752625" cy="752623"/>
              </a:xfrm>
              <a:prstGeom prst="ellipse">
                <a:avLst/>
              </a:prstGeom>
              <a:solidFill>
                <a:schemeClr val="bg1">
                  <a:lumMod val="95000"/>
                  <a:alpha val="50000"/>
                </a:schemeClr>
              </a:solidFill>
              <a:ln w="63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8" name="Oval 17">
                <a:extLst>
                  <a:ext uri="{FF2B5EF4-FFF2-40B4-BE49-F238E27FC236}">
                    <a16:creationId xmlns:a16="http://schemas.microsoft.com/office/drawing/2014/main" id="{B8377628-2778-8CE2-D1D3-E1D066FF8ADE}"/>
                  </a:ext>
                </a:extLst>
              </p:cNvPr>
              <p:cNvSpPr/>
              <p:nvPr/>
            </p:nvSpPr>
            <p:spPr bwMode="auto">
              <a:xfrm>
                <a:off x="3104982" y="2808102"/>
                <a:ext cx="604841" cy="604837"/>
              </a:xfrm>
              <a:prstGeom prst="ellipse">
                <a:avLst/>
              </a:prstGeom>
              <a:solidFill>
                <a:schemeClr val="bg1"/>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alibri" panose="020F0502020204030204"/>
                  <a:ea typeface="+mn-ea"/>
                  <a:cs typeface="Segoe UI" pitchFamily="34" charset="0"/>
                </a:endParaRPr>
              </a:p>
            </p:txBody>
          </p:sp>
        </p:grpSp>
        <p:pic>
          <p:nvPicPr>
            <p:cNvPr id="14" name="Graphic 13">
              <a:extLst>
                <a:ext uri="{FF2B5EF4-FFF2-40B4-BE49-F238E27FC236}">
                  <a16:creationId xmlns:a16="http://schemas.microsoft.com/office/drawing/2014/main" id="{32422661-6953-A563-C20F-9DE9BABCF99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7672" y="4004485"/>
              <a:ext cx="521199" cy="521199"/>
            </a:xfrm>
            <a:prstGeom prst="rect">
              <a:avLst/>
            </a:prstGeom>
            <a:effectLst>
              <a:outerShdw blurRad="50800" dist="38100" dir="5400000" algn="t" rotWithShape="0">
                <a:prstClr val="black">
                  <a:alpha val="40000"/>
                </a:prstClr>
              </a:outerShdw>
            </a:effectLst>
          </p:spPr>
        </p:pic>
        <p:sp>
          <p:nvSpPr>
            <p:cNvPr id="15" name="TextBox 14">
              <a:extLst>
                <a:ext uri="{FF2B5EF4-FFF2-40B4-BE49-F238E27FC236}">
                  <a16:creationId xmlns:a16="http://schemas.microsoft.com/office/drawing/2014/main" id="{3F2F9924-F9B2-802A-2E96-8EF009728D6B}"/>
                </a:ext>
              </a:extLst>
            </p:cNvPr>
            <p:cNvSpPr txBox="1"/>
            <p:nvPr/>
          </p:nvSpPr>
          <p:spPr>
            <a:xfrm>
              <a:off x="5257390" y="4624326"/>
              <a:ext cx="1801762" cy="3539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Copilot Studio</a:t>
              </a:r>
            </a:p>
          </p:txBody>
        </p:sp>
        <p:sp>
          <p:nvSpPr>
            <p:cNvPr id="16" name="Rectangle: Rounded Corners 28">
              <a:extLst>
                <a:ext uri="{FF2B5EF4-FFF2-40B4-BE49-F238E27FC236}">
                  <a16:creationId xmlns:a16="http://schemas.microsoft.com/office/drawing/2014/main" id="{D3291057-3114-3355-B7BD-BA562E5BD8A1}"/>
                </a:ext>
              </a:extLst>
            </p:cNvPr>
            <p:cNvSpPr/>
            <p:nvPr/>
          </p:nvSpPr>
          <p:spPr bwMode="auto">
            <a:xfrm>
              <a:off x="5436068" y="5010569"/>
              <a:ext cx="1432793" cy="220725"/>
            </a:xfrm>
            <a:prstGeom prst="roundRect">
              <a:avLst>
                <a:gd name="adj" fmla="val 50000"/>
              </a:avLst>
            </a:prstGeom>
            <a:solidFill>
              <a:srgbClr val="0078D4"/>
            </a:solidFill>
            <a:ln>
              <a:noFill/>
              <a:headEnd type="none" w="med" len="med"/>
              <a:tailEnd type="none" w="med" len="med"/>
            </a:ln>
            <a:effectLst>
              <a:outerShdw blurRad="76200" sx="102000" sy="102000" algn="ctr" rotWithShape="0">
                <a:prstClr val="black">
                  <a:alpha val="1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itchFamily="34" charset="0"/>
                </a:rPr>
                <a:t>For makers</a:t>
              </a:r>
            </a:p>
          </p:txBody>
        </p:sp>
      </p:grpSp>
      <p:sp>
        <p:nvSpPr>
          <p:cNvPr id="19" name="Rectangle: Rounded Corners 32">
            <a:extLst>
              <a:ext uri="{FF2B5EF4-FFF2-40B4-BE49-F238E27FC236}">
                <a16:creationId xmlns:a16="http://schemas.microsoft.com/office/drawing/2014/main" id="{A029851E-CD3A-DC3B-7F80-703E0C8740CE}"/>
              </a:ext>
            </a:extLst>
          </p:cNvPr>
          <p:cNvSpPr/>
          <p:nvPr/>
        </p:nvSpPr>
        <p:spPr bwMode="auto">
          <a:xfrm>
            <a:off x="8675305" y="5716862"/>
            <a:ext cx="2002315" cy="283477"/>
          </a:xfrm>
          <a:prstGeom prst="roundRect">
            <a:avLst>
              <a:gd name="adj" fmla="val 50000"/>
            </a:avLst>
          </a:prstGeom>
          <a:solidFill>
            <a:srgbClr val="0078D4"/>
          </a:solidFill>
          <a:ln>
            <a:noFill/>
            <a:headEnd type="none" w="med" len="med"/>
            <a:tailEnd type="none" w="med" len="med"/>
          </a:ln>
          <a:effectLst>
            <a:outerShdw blurRad="76200" sx="102000" sy="102000" algn="ctr" rotWithShape="0">
              <a:prstClr val="black">
                <a:alpha val="1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sz="1100">
                <a:solidFill>
                  <a:srgbClr val="FFFFFF"/>
                </a:solidFill>
                <a:latin typeface="Segoe UI Semibold"/>
                <a:cs typeface="Segoe UI" pitchFamily="34" charset="0"/>
              </a:rPr>
              <a:t>For developers</a:t>
            </a:r>
            <a:endParaRPr kumimoji="0" lang="en-US" sz="1100" b="0" i="0" u="none" strike="noStrike" kern="1200" cap="none" spc="0" normalizeH="0" baseline="0" noProof="0">
              <a:ln>
                <a:noFill/>
              </a:ln>
              <a:solidFill>
                <a:srgbClr val="FFFFFF"/>
              </a:solidFill>
              <a:effectLst/>
              <a:uLnTx/>
              <a:uFillTx/>
              <a:latin typeface="Segoe UI Semibold"/>
              <a:ea typeface="+mn-ea"/>
              <a:cs typeface="Segoe UI" pitchFamily="34" charset="0"/>
            </a:endParaRPr>
          </a:p>
        </p:txBody>
      </p:sp>
      <p:sp>
        <p:nvSpPr>
          <p:cNvPr id="20" name="TextBox 19">
            <a:extLst>
              <a:ext uri="{FF2B5EF4-FFF2-40B4-BE49-F238E27FC236}">
                <a16:creationId xmlns:a16="http://schemas.microsoft.com/office/drawing/2014/main" id="{4FBA86F9-7AFD-6F41-86A0-69737327B8C5}"/>
              </a:ext>
            </a:extLst>
          </p:cNvPr>
          <p:cNvSpPr txBox="1"/>
          <p:nvPr/>
        </p:nvSpPr>
        <p:spPr>
          <a:xfrm>
            <a:off x="7631226" y="5007178"/>
            <a:ext cx="3975734" cy="353943"/>
          </a:xfrm>
          <a:prstGeom prst="rect">
            <a:avLst/>
          </a:prstGeom>
          <a:noFill/>
        </p:spPr>
        <p:txBody>
          <a:bodyPr wrap="square" lIns="91440" tIns="45720" rIns="91440" bIns="4572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a:ln>
                  <a:noFill/>
                </a:ln>
                <a:solidFill>
                  <a:srgbClr val="000000"/>
                </a:solidFill>
                <a:effectLst/>
                <a:uLnTx/>
                <a:uFillTx/>
                <a:latin typeface="Segoe UI Semibold"/>
                <a:ea typeface="+mn-ea"/>
                <a:cs typeface="Segoe UI Semibold"/>
              </a:rPr>
              <a:t>Copilot Studio + Visual Studio/GitHub</a:t>
            </a:r>
            <a:endParaRPr kumimoji="0" lang="en-US" sz="1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p:txBody>
      </p:sp>
      <p:grpSp>
        <p:nvGrpSpPr>
          <p:cNvPr id="21" name="Group 20">
            <a:extLst>
              <a:ext uri="{FF2B5EF4-FFF2-40B4-BE49-F238E27FC236}">
                <a16:creationId xmlns:a16="http://schemas.microsoft.com/office/drawing/2014/main" id="{A52E2A7D-9148-DA30-553A-1DDC46F21ADB}"/>
              </a:ext>
            </a:extLst>
          </p:cNvPr>
          <p:cNvGrpSpPr/>
          <p:nvPr/>
        </p:nvGrpSpPr>
        <p:grpSpPr>
          <a:xfrm>
            <a:off x="8594928" y="4136333"/>
            <a:ext cx="991344" cy="991341"/>
            <a:chOff x="8442593" y="3745128"/>
            <a:chExt cx="991344" cy="991341"/>
          </a:xfrm>
        </p:grpSpPr>
        <p:sp>
          <p:nvSpPr>
            <p:cNvPr id="22" name="Oval 21">
              <a:extLst>
                <a:ext uri="{FF2B5EF4-FFF2-40B4-BE49-F238E27FC236}">
                  <a16:creationId xmlns:a16="http://schemas.microsoft.com/office/drawing/2014/main" id="{D2902AF9-261A-CC26-9950-23BAC86CB2A0}"/>
                </a:ext>
              </a:extLst>
            </p:cNvPr>
            <p:cNvSpPr/>
            <p:nvPr/>
          </p:nvSpPr>
          <p:spPr bwMode="auto">
            <a:xfrm>
              <a:off x="8442593" y="3745128"/>
              <a:ext cx="991344" cy="991341"/>
            </a:xfrm>
            <a:prstGeom prst="ellipse">
              <a:avLst/>
            </a:prstGeom>
            <a:solidFill>
              <a:schemeClr val="bg1">
                <a:lumMod val="95000"/>
                <a:alpha val="50000"/>
              </a:schemeClr>
            </a:solidFill>
            <a:ln w="63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3" name="Oval 22">
              <a:extLst>
                <a:ext uri="{FF2B5EF4-FFF2-40B4-BE49-F238E27FC236}">
                  <a16:creationId xmlns:a16="http://schemas.microsoft.com/office/drawing/2014/main" id="{BEE9F3AA-F9C3-58B7-4B7B-60D30DB8DD41}"/>
                </a:ext>
              </a:extLst>
            </p:cNvPr>
            <p:cNvSpPr/>
            <p:nvPr/>
          </p:nvSpPr>
          <p:spPr bwMode="auto">
            <a:xfrm>
              <a:off x="8539922" y="3842458"/>
              <a:ext cx="796686" cy="796680"/>
            </a:xfrm>
            <a:prstGeom prst="ellipse">
              <a:avLst/>
            </a:prstGeom>
            <a:solidFill>
              <a:schemeClr val="bg1"/>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alibri" panose="020F0502020204030204"/>
                <a:ea typeface="+mn-ea"/>
                <a:cs typeface="Segoe UI" pitchFamily="34" charset="0"/>
              </a:endParaRPr>
            </a:p>
          </p:txBody>
        </p:sp>
        <p:pic>
          <p:nvPicPr>
            <p:cNvPr id="24" name="Picture 23">
              <a:extLst>
                <a:ext uri="{FF2B5EF4-FFF2-40B4-BE49-F238E27FC236}">
                  <a16:creationId xmlns:a16="http://schemas.microsoft.com/office/drawing/2014/main" id="{934979A5-B0CE-CC69-59AC-EA2E59DB9A13}"/>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52611" y="4022364"/>
              <a:ext cx="748219" cy="467637"/>
            </a:xfrm>
            <a:prstGeom prst="rect">
              <a:avLst/>
            </a:prstGeom>
            <a:ln w="6657" cap="flat">
              <a:noFill/>
              <a:prstDash val="solid"/>
              <a:miter/>
            </a:ln>
            <a:effectLst>
              <a:outerShdw blurRad="63500" dist="127000" dir="2700000" algn="tl" rotWithShape="0">
                <a:prstClr val="black">
                  <a:alpha val="50000"/>
                </a:prstClr>
              </a:outerShdw>
            </a:effectLst>
          </p:spPr>
        </p:pic>
      </p:grpSp>
      <p:sp>
        <p:nvSpPr>
          <p:cNvPr id="25" name="TextBox 24">
            <a:extLst>
              <a:ext uri="{FF2B5EF4-FFF2-40B4-BE49-F238E27FC236}">
                <a16:creationId xmlns:a16="http://schemas.microsoft.com/office/drawing/2014/main" id="{0EF1C80B-2369-6BAA-7251-1EFB5BB919F5}"/>
              </a:ext>
            </a:extLst>
          </p:cNvPr>
          <p:cNvSpPr txBox="1"/>
          <p:nvPr/>
        </p:nvSpPr>
        <p:spPr>
          <a:xfrm>
            <a:off x="636344" y="4440340"/>
            <a:ext cx="1016512" cy="430887"/>
          </a:xfrm>
          <a:prstGeom prst="rect">
            <a:avLst/>
          </a:prstGeom>
          <a:noFill/>
        </p:spPr>
        <p:txBody>
          <a:bodyPr wrap="square" lIns="91440" tIns="0" rIns="9144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Headings)"/>
                <a:ea typeface="+mn-ea"/>
                <a:cs typeface="+mn-cs"/>
              </a:rPr>
              <a:t>Natural </a:t>
            </a:r>
            <a:br>
              <a:rPr kumimoji="0" lang="en-US" sz="1400" b="0" i="0" u="none" strike="noStrike" kern="1200" cap="none" spc="0" normalizeH="0" baseline="0" noProof="0">
                <a:ln>
                  <a:noFill/>
                </a:ln>
                <a:solidFill>
                  <a:srgbClr val="FFFFFF"/>
                </a:solidFill>
                <a:effectLst/>
                <a:uLnTx/>
                <a:uFillTx/>
                <a:latin typeface="Segoe UI Semibold (Headings)"/>
                <a:ea typeface="+mn-ea"/>
                <a:cs typeface="+mn-cs"/>
              </a:rPr>
            </a:br>
            <a:r>
              <a:rPr kumimoji="0" lang="en-US" sz="1400" b="0" i="0" u="none" strike="noStrike" kern="1200" cap="none" spc="0" normalizeH="0" baseline="0" noProof="0">
                <a:ln>
                  <a:noFill/>
                </a:ln>
                <a:solidFill>
                  <a:srgbClr val="FFFFFF"/>
                </a:solidFill>
                <a:effectLst/>
                <a:uLnTx/>
                <a:uFillTx/>
                <a:latin typeface="Segoe UI Semibold (Headings)"/>
                <a:ea typeface="+mn-ea"/>
                <a:cs typeface="+mn-cs"/>
              </a:rPr>
              <a:t>Language</a:t>
            </a:r>
          </a:p>
        </p:txBody>
      </p:sp>
      <p:sp>
        <p:nvSpPr>
          <p:cNvPr id="26" name="TextBox 25">
            <a:extLst>
              <a:ext uri="{FF2B5EF4-FFF2-40B4-BE49-F238E27FC236}">
                <a16:creationId xmlns:a16="http://schemas.microsoft.com/office/drawing/2014/main" id="{2EB9AB09-5AE0-D1C6-A13B-E2911357C65B}"/>
              </a:ext>
            </a:extLst>
          </p:cNvPr>
          <p:cNvSpPr txBox="1"/>
          <p:nvPr/>
        </p:nvSpPr>
        <p:spPr>
          <a:xfrm>
            <a:off x="10840927" y="4444119"/>
            <a:ext cx="715372" cy="430887"/>
          </a:xfrm>
          <a:prstGeom prst="rect">
            <a:avLst/>
          </a:prstGeom>
          <a:noFill/>
        </p:spPr>
        <p:txBody>
          <a:bodyPr wrap="square" lIns="91440" tIns="0" rIns="9144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Headings)"/>
                <a:ea typeface="+mn-ea"/>
                <a:cs typeface="+mn-cs"/>
              </a:rPr>
              <a:t>Code first</a:t>
            </a:r>
          </a:p>
        </p:txBody>
      </p:sp>
      <p:pic>
        <p:nvPicPr>
          <p:cNvPr id="27" name="Picture 26" descr="Image of Copilot Studio UI showing the agent building screen">
            <a:extLst>
              <a:ext uri="{FF2B5EF4-FFF2-40B4-BE49-F238E27FC236}">
                <a16:creationId xmlns:a16="http://schemas.microsoft.com/office/drawing/2014/main" id="{626023FA-3897-95E6-A099-1C90FD29AB92}"/>
              </a:ext>
            </a:extLst>
          </p:cNvPr>
          <p:cNvPicPr>
            <a:picLocks noChangeAspect="1"/>
          </p:cNvPicPr>
          <p:nvPr/>
        </p:nvPicPr>
        <p:blipFill>
          <a:blip r:embed="rId7"/>
          <a:srcRect l="2901" t="2767" r="3638" b="7946"/>
          <a:stretch/>
        </p:blipFill>
        <p:spPr>
          <a:xfrm>
            <a:off x="4571334" y="2211365"/>
            <a:ext cx="3049332" cy="1783080"/>
          </a:xfrm>
          <a:prstGeom prst="rect">
            <a:avLst/>
          </a:prstGeom>
        </p:spPr>
      </p:pic>
      <p:pic>
        <p:nvPicPr>
          <p:cNvPr id="28" name="Picture 27" descr="A screenshot of a computer&#10;&#10;Description automatically generated">
            <a:extLst>
              <a:ext uri="{FF2B5EF4-FFF2-40B4-BE49-F238E27FC236}">
                <a16:creationId xmlns:a16="http://schemas.microsoft.com/office/drawing/2014/main" id="{07616691-46C0-EBA9-4ABA-BCAC6B531883}"/>
              </a:ext>
            </a:extLst>
          </p:cNvPr>
          <p:cNvPicPr>
            <a:picLocks noChangeAspect="1"/>
          </p:cNvPicPr>
          <p:nvPr/>
        </p:nvPicPr>
        <p:blipFill>
          <a:blip r:embed="rId8">
            <a:extLst>
              <a:ext uri="{28A0092B-C50C-407E-A947-70E740481C1C}">
                <a14:useLocalDpi xmlns:a14="http://schemas.microsoft.com/office/drawing/2010/main" val="0"/>
              </a:ext>
            </a:extLst>
          </a:blip>
          <a:srcRect l="6718" t="9697" r="6597" b="10891"/>
          <a:stretch/>
        </p:blipFill>
        <p:spPr>
          <a:xfrm>
            <a:off x="1073922" y="2221419"/>
            <a:ext cx="3130547" cy="1783080"/>
          </a:xfrm>
          <a:prstGeom prst="rect">
            <a:avLst/>
          </a:prstGeom>
        </p:spPr>
      </p:pic>
      <p:pic>
        <p:nvPicPr>
          <p:cNvPr id="29" name="Picture 28">
            <a:extLst>
              <a:ext uri="{FF2B5EF4-FFF2-40B4-BE49-F238E27FC236}">
                <a16:creationId xmlns:a16="http://schemas.microsoft.com/office/drawing/2014/main" id="{907F61F6-2040-94AD-A19E-A29D39D598D7}"/>
              </a:ext>
            </a:extLst>
          </p:cNvPr>
          <p:cNvPicPr>
            <a:picLocks/>
          </p:cNvPicPr>
          <p:nvPr/>
        </p:nvPicPr>
        <p:blipFill rotWithShape="1">
          <a:blip r:embed="rId9"/>
          <a:srcRect l="69318" t="42052" r="16185" b="31464"/>
          <a:stretch/>
        </p:blipFill>
        <p:spPr>
          <a:xfrm>
            <a:off x="7987530" y="2216682"/>
            <a:ext cx="3136392" cy="1783080"/>
          </a:xfrm>
          <a:prstGeom prst="roundRect">
            <a:avLst>
              <a:gd name="adj" fmla="val 6800"/>
            </a:avLst>
          </a:prstGeom>
          <a:effectLst>
            <a:outerShdw blurRad="76200" sx="102000" sy="102000" algn="ctr" rotWithShape="0">
              <a:prstClr val="black">
                <a:alpha val="16000"/>
              </a:prstClr>
            </a:outerShdw>
          </a:effectLst>
        </p:spPr>
      </p:pic>
      <p:sp>
        <p:nvSpPr>
          <p:cNvPr id="30" name="Oval 29">
            <a:extLst>
              <a:ext uri="{FF2B5EF4-FFF2-40B4-BE49-F238E27FC236}">
                <a16:creationId xmlns:a16="http://schemas.microsoft.com/office/drawing/2014/main" id="{622E344D-3A9B-38F2-80A2-FC32E2AD8162}"/>
              </a:ext>
            </a:extLst>
          </p:cNvPr>
          <p:cNvSpPr/>
          <p:nvPr/>
        </p:nvSpPr>
        <p:spPr bwMode="auto">
          <a:xfrm>
            <a:off x="9466483" y="4133519"/>
            <a:ext cx="991344" cy="991341"/>
          </a:xfrm>
          <a:prstGeom prst="ellipse">
            <a:avLst/>
          </a:prstGeom>
          <a:solidFill>
            <a:schemeClr val="bg1">
              <a:lumMod val="95000"/>
              <a:alpha val="50000"/>
            </a:schemeClr>
          </a:solidFill>
          <a:ln w="63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1" name="Oval 30">
            <a:extLst>
              <a:ext uri="{FF2B5EF4-FFF2-40B4-BE49-F238E27FC236}">
                <a16:creationId xmlns:a16="http://schemas.microsoft.com/office/drawing/2014/main" id="{0E16858F-6A93-E8C5-8233-6CBA40BCD07D}"/>
              </a:ext>
            </a:extLst>
          </p:cNvPr>
          <p:cNvSpPr/>
          <p:nvPr/>
        </p:nvSpPr>
        <p:spPr bwMode="auto">
          <a:xfrm>
            <a:off x="9563812" y="4230849"/>
            <a:ext cx="796686" cy="796680"/>
          </a:xfrm>
          <a:prstGeom prst="ellipse">
            <a:avLst/>
          </a:prstGeom>
          <a:solidFill>
            <a:schemeClr val="bg1"/>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alibri" panose="020F0502020204030204"/>
              <a:ea typeface="+mn-ea"/>
              <a:cs typeface="Segoe UI" pitchFamily="34" charset="0"/>
            </a:endParaRPr>
          </a:p>
        </p:txBody>
      </p:sp>
      <p:pic>
        <p:nvPicPr>
          <p:cNvPr id="32" name="Picture 31" descr="A black cat in a circle&#10;&#10;Description automatically generated">
            <a:extLst>
              <a:ext uri="{FF2B5EF4-FFF2-40B4-BE49-F238E27FC236}">
                <a16:creationId xmlns:a16="http://schemas.microsoft.com/office/drawing/2014/main" id="{E72F3367-37CE-8416-BA4C-90718C94D7B8}"/>
              </a:ext>
            </a:extLst>
          </p:cNvPr>
          <p:cNvPicPr>
            <a:picLocks noChangeAspect="1"/>
          </p:cNvPicPr>
          <p:nvPr/>
        </p:nvPicPr>
        <p:blipFill>
          <a:blip r:embed="rId10"/>
          <a:stretch>
            <a:fillRect/>
          </a:stretch>
        </p:blipFill>
        <p:spPr>
          <a:xfrm>
            <a:off x="9698662" y="4379957"/>
            <a:ext cx="492674" cy="520561"/>
          </a:xfrm>
          <a:prstGeom prst="rect">
            <a:avLst/>
          </a:prstGeom>
        </p:spPr>
      </p:pic>
      <p:pic>
        <p:nvPicPr>
          <p:cNvPr id="33" name="Picture 32" descr="A colorful hexagon with stars&#10;&#10;Description automatically generated">
            <a:extLst>
              <a:ext uri="{FF2B5EF4-FFF2-40B4-BE49-F238E27FC236}">
                <a16:creationId xmlns:a16="http://schemas.microsoft.com/office/drawing/2014/main" id="{C406133B-91C1-15D1-DEC7-4D29A7093D6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141040" y="5350147"/>
            <a:ext cx="306373" cy="306373"/>
          </a:xfrm>
          <a:prstGeom prst="rect">
            <a:avLst/>
          </a:prstGeom>
        </p:spPr>
      </p:pic>
      <p:sp>
        <p:nvSpPr>
          <p:cNvPr id="34" name="TextBox 33">
            <a:extLst>
              <a:ext uri="{FF2B5EF4-FFF2-40B4-BE49-F238E27FC236}">
                <a16:creationId xmlns:a16="http://schemas.microsoft.com/office/drawing/2014/main" id="{AB1C21DA-3B5A-F499-70A5-FFAF04CF5C55}"/>
              </a:ext>
            </a:extLst>
          </p:cNvPr>
          <p:cNvSpPr txBox="1"/>
          <p:nvPr/>
        </p:nvSpPr>
        <p:spPr>
          <a:xfrm>
            <a:off x="8141041" y="5355045"/>
            <a:ext cx="2982882"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Powered by Azure AI Agent Service</a:t>
            </a:r>
          </a:p>
        </p:txBody>
      </p:sp>
    </p:spTree>
    <p:extLst>
      <p:ext uri="{BB962C8B-B14F-4D97-AF65-F5344CB8AC3E}">
        <p14:creationId xmlns:p14="http://schemas.microsoft.com/office/powerpoint/2010/main" val="1846602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64" presetClass="path" presetSubtype="0" accel="50000" decel="50000" fill="hold" nodeType="withEffect">
                                  <p:stCondLst>
                                    <p:cond delay="100"/>
                                  </p:stCondLst>
                                  <p:childTnLst>
                                    <p:animMotion origin="layout" path="M 4.16667E-6 0.06365 L 4.16667E-6 2.59259E-6 " pathEditMode="relative" rAng="0" ptsTypes="AA">
                                      <p:cBhvr>
                                        <p:cTn id="9" dur="700" fill="hold"/>
                                        <p:tgtEl>
                                          <p:spTgt spid="27"/>
                                        </p:tgtEl>
                                        <p:attrNameLst>
                                          <p:attrName>ppt_x</p:attrName>
                                          <p:attrName>ppt_y</p:attrName>
                                        </p:attrNameLst>
                                      </p:cBhvr>
                                      <p:rCtr x="0" y="-319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EC5AEB8-9015-707C-9FFC-1A9442B88F19}"/>
              </a:ext>
              <a:ext uri="{C183D7F6-B498-43B3-948B-1728B52AA6E4}">
                <adec:decorative xmlns:adec="http://schemas.microsoft.com/office/drawing/2017/decorative" val="1"/>
              </a:ext>
            </a:extLst>
          </p:cNvPr>
          <p:cNvSpPr/>
          <p:nvPr/>
        </p:nvSpPr>
        <p:spPr bwMode="auto">
          <a:xfrm>
            <a:off x="-9258" y="0"/>
            <a:ext cx="5519115" cy="6858000"/>
          </a:xfrm>
          <a:prstGeom prst="homePlate">
            <a:avLst>
              <a:gd name="adj" fmla="val 11432"/>
            </a:avLst>
          </a:prstGeom>
          <a:gradFill flip="none" rotWithShape="1">
            <a:gsLst>
              <a:gs pos="32000">
                <a:schemeClr val="accent4"/>
              </a:gs>
              <a:gs pos="68000">
                <a:schemeClr val="accent3"/>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91F2C"/>
              </a:solidFill>
              <a:effectLst/>
              <a:uLnTx/>
              <a:uFillTx/>
              <a:latin typeface="Segoe Sans Text" pitchFamily="2" charset="0"/>
              <a:ea typeface="Segoe UI" pitchFamily="34" charset="0"/>
              <a:cs typeface="Segoe Sans Text" pitchFamily="2" charset="0"/>
            </a:endParaRPr>
          </a:p>
        </p:txBody>
      </p:sp>
      <p:sp>
        <p:nvSpPr>
          <p:cNvPr id="5" name="TextBox 4">
            <a:extLst>
              <a:ext uri="{FF2B5EF4-FFF2-40B4-BE49-F238E27FC236}">
                <a16:creationId xmlns:a16="http://schemas.microsoft.com/office/drawing/2014/main" id="{3DE45644-B75A-0ED2-1782-4BF05267B7A8}"/>
              </a:ext>
            </a:extLst>
          </p:cNvPr>
          <p:cNvSpPr txBox="1"/>
          <p:nvPr/>
        </p:nvSpPr>
        <p:spPr>
          <a:xfrm>
            <a:off x="1205250" y="1142742"/>
            <a:ext cx="3944266"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Segoe Sans Text"/>
                <a:ea typeface="+mn-ea"/>
                <a:cs typeface="+mn-cs"/>
              </a:rPr>
              <a:t>Deploy agents with </a:t>
            </a:r>
            <a:r>
              <a:rPr kumimoji="0" lang="en-US" sz="2800" b="0" i="0" u="none" strike="noStrike" kern="1200" cap="none" spc="0" normalizeH="0" baseline="0" noProof="0">
                <a:ln>
                  <a:noFill/>
                </a:ln>
                <a:solidFill>
                  <a:srgbClr val="000000"/>
                </a:solidFill>
                <a:effectLst/>
                <a:uLnTx/>
                <a:uFillTx/>
                <a:latin typeface="Segoe Sans Text Semibold"/>
                <a:ea typeface="+mn-ea"/>
                <a:cs typeface="+mn-cs"/>
              </a:rPr>
              <a:t>Azure AI Agent Service</a:t>
            </a:r>
          </a:p>
        </p:txBody>
      </p:sp>
      <p:sp>
        <p:nvSpPr>
          <p:cNvPr id="6" name="TextBox 5">
            <a:extLst>
              <a:ext uri="{FF2B5EF4-FFF2-40B4-BE49-F238E27FC236}">
                <a16:creationId xmlns:a16="http://schemas.microsoft.com/office/drawing/2014/main" id="{8A9324EC-30D6-F3F1-CFC7-664DFF3F3E03}"/>
              </a:ext>
            </a:extLst>
          </p:cNvPr>
          <p:cNvSpPr txBox="1"/>
          <p:nvPr/>
        </p:nvSpPr>
        <p:spPr>
          <a:xfrm>
            <a:off x="5965924" y="1151969"/>
            <a:ext cx="5227318"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Segoe Sans Text"/>
                <a:ea typeface="+mn-ea"/>
                <a:cs typeface="+mn-cs"/>
              </a:rPr>
              <a:t>Orchestrate them together with </a:t>
            </a:r>
            <a:r>
              <a:rPr kumimoji="0" lang="en-US" sz="2800" b="0" i="0" u="none" strike="noStrike" kern="1200" cap="none" spc="0" normalizeH="0" baseline="0" noProof="0">
                <a:ln>
                  <a:noFill/>
                </a:ln>
                <a:solidFill>
                  <a:srgbClr val="000000"/>
                </a:solidFill>
                <a:effectLst/>
                <a:uLnTx/>
                <a:uFillTx/>
                <a:latin typeface="Segoe Sans Text Semibold"/>
                <a:ea typeface="+mn-ea"/>
                <a:cs typeface="+mn-cs"/>
              </a:rPr>
              <a:t>AutoGen</a:t>
            </a:r>
            <a:r>
              <a:rPr kumimoji="0" lang="en-US" sz="2800" b="0" i="0" u="none" strike="noStrike" kern="1200" cap="none" spc="0" normalizeH="0" baseline="0" noProof="0">
                <a:ln>
                  <a:noFill/>
                </a:ln>
                <a:solidFill>
                  <a:srgbClr val="000000"/>
                </a:solidFill>
                <a:effectLst/>
                <a:uLnTx/>
                <a:uFillTx/>
                <a:latin typeface="Segoe Sans Text"/>
                <a:ea typeface="+mn-ea"/>
                <a:cs typeface="+mn-cs"/>
              </a:rPr>
              <a:t> and </a:t>
            </a:r>
            <a:r>
              <a:rPr kumimoji="0" lang="en-US" sz="2800" b="0" i="0" u="none" strike="noStrike" kern="1200" cap="none" spc="0" normalizeH="0" baseline="0" noProof="0">
                <a:ln>
                  <a:noFill/>
                </a:ln>
                <a:solidFill>
                  <a:srgbClr val="000000"/>
                </a:solidFill>
                <a:effectLst/>
                <a:uLnTx/>
                <a:uFillTx/>
                <a:latin typeface="Segoe Sans Text Semibold"/>
                <a:ea typeface="+mn-ea"/>
                <a:cs typeface="+mn-cs"/>
              </a:rPr>
              <a:t>Semantic Kernel</a:t>
            </a:r>
          </a:p>
        </p:txBody>
      </p:sp>
      <p:sp>
        <p:nvSpPr>
          <p:cNvPr id="7" name="TextBox 6">
            <a:extLst>
              <a:ext uri="{FF2B5EF4-FFF2-40B4-BE49-F238E27FC236}">
                <a16:creationId xmlns:a16="http://schemas.microsoft.com/office/drawing/2014/main" id="{3E925EEA-CF80-7D07-D917-034DE1B55EC9}"/>
              </a:ext>
            </a:extLst>
          </p:cNvPr>
          <p:cNvSpPr txBox="1"/>
          <p:nvPr/>
        </p:nvSpPr>
        <p:spPr>
          <a:xfrm>
            <a:off x="1235730" y="844192"/>
            <a:ext cx="120738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Text Semibold"/>
                <a:ea typeface="+mn-ea"/>
                <a:cs typeface="Segoe UI" panose="020B0502040204020203" pitchFamily="34" charset="0"/>
              </a:rPr>
              <a:t>Single agent</a:t>
            </a:r>
          </a:p>
        </p:txBody>
      </p:sp>
      <p:sp>
        <p:nvSpPr>
          <p:cNvPr id="8" name="TextBox 7">
            <a:extLst>
              <a:ext uri="{FF2B5EF4-FFF2-40B4-BE49-F238E27FC236}">
                <a16:creationId xmlns:a16="http://schemas.microsoft.com/office/drawing/2014/main" id="{D620BA42-63B6-BC95-16F4-7F290F3A80F3}"/>
              </a:ext>
            </a:extLst>
          </p:cNvPr>
          <p:cNvSpPr txBox="1"/>
          <p:nvPr/>
        </p:nvSpPr>
        <p:spPr>
          <a:xfrm>
            <a:off x="5965924" y="867170"/>
            <a:ext cx="119455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Text Semibold"/>
                <a:ea typeface="+mn-ea"/>
                <a:cs typeface="Segoe UI" panose="020B0502040204020203" pitchFamily="34" charset="0"/>
              </a:rPr>
              <a:t>Multi-agent</a:t>
            </a:r>
          </a:p>
        </p:txBody>
      </p:sp>
      <p:pic>
        <p:nvPicPr>
          <p:cNvPr id="9" name="Picture 4" descr="Semantic Kernel's new icon and the art of teamwork ...">
            <a:extLst>
              <a:ext uri="{FF2B5EF4-FFF2-40B4-BE49-F238E27FC236}">
                <a16:creationId xmlns:a16="http://schemas.microsoft.com/office/drawing/2014/main" id="{F0985464-2C3B-4547-0F39-11E2FEE7E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5869" y="2533837"/>
            <a:ext cx="2191862" cy="219186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AutoGen - Reviews, Pros &amp; Cons | Companies using AutoGen">
            <a:extLst>
              <a:ext uri="{FF2B5EF4-FFF2-40B4-BE49-F238E27FC236}">
                <a16:creationId xmlns:a16="http://schemas.microsoft.com/office/drawing/2014/main" id="{BB6ACF97-D80A-867B-205C-0CC5B84E49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8882" y="2711841"/>
            <a:ext cx="1927295" cy="1927295"/>
          </a:xfrm>
          <a:prstGeom prst="roundRect">
            <a:avLst>
              <a:gd name="adj" fmla="val 10381"/>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ABFBBFC-5689-FFF5-5784-091FC877816D}"/>
              </a:ext>
            </a:extLst>
          </p:cNvPr>
          <p:cNvSpPr txBox="1"/>
          <p:nvPr/>
        </p:nvSpPr>
        <p:spPr>
          <a:xfrm>
            <a:off x="641370" y="728670"/>
            <a:ext cx="420308" cy="584775"/>
          </a:xfrm>
          <a:prstGeom prst="rect">
            <a:avLst/>
          </a:prstGeom>
          <a:solidFill>
            <a:schemeClr val="accent5">
              <a:lumMod val="60000"/>
              <a:lumOff val="4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1</a:t>
            </a:r>
          </a:p>
        </p:txBody>
      </p:sp>
      <p:sp>
        <p:nvSpPr>
          <p:cNvPr id="12" name="TextBox 11">
            <a:extLst>
              <a:ext uri="{FF2B5EF4-FFF2-40B4-BE49-F238E27FC236}">
                <a16:creationId xmlns:a16="http://schemas.microsoft.com/office/drawing/2014/main" id="{6F748861-2CB2-6E1C-603A-CFE2BECA81AA}"/>
              </a:ext>
            </a:extLst>
          </p:cNvPr>
          <p:cNvSpPr txBox="1"/>
          <p:nvPr/>
        </p:nvSpPr>
        <p:spPr>
          <a:xfrm>
            <a:off x="5374770" y="705692"/>
            <a:ext cx="420308" cy="584775"/>
          </a:xfrm>
          <a:prstGeom prst="rect">
            <a:avLst/>
          </a:prstGeom>
          <a:solidFill>
            <a:schemeClr val="accent5">
              <a:lumMod val="60000"/>
              <a:lumOff val="4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2</a:t>
            </a:r>
          </a:p>
        </p:txBody>
      </p:sp>
      <p:sp>
        <p:nvSpPr>
          <p:cNvPr id="13" name="TextBox 12">
            <a:extLst>
              <a:ext uri="{FF2B5EF4-FFF2-40B4-BE49-F238E27FC236}">
                <a16:creationId xmlns:a16="http://schemas.microsoft.com/office/drawing/2014/main" id="{4D83C910-DF7B-C4F5-1F0B-28E201EF0D46}"/>
              </a:ext>
            </a:extLst>
          </p:cNvPr>
          <p:cNvSpPr txBox="1"/>
          <p:nvPr/>
        </p:nvSpPr>
        <p:spPr>
          <a:xfrm>
            <a:off x="6240266" y="4977249"/>
            <a:ext cx="178452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Text"/>
                <a:ea typeface="+mn-ea"/>
                <a:cs typeface="+mn-cs"/>
              </a:rPr>
              <a:t>State-of-the-art</a:t>
            </a:r>
            <a:br>
              <a:rPr kumimoji="0" lang="en-US" sz="1800" b="0" i="0" u="none" strike="noStrike" kern="1200" cap="none" spc="0" normalizeH="0" baseline="0" noProof="0">
                <a:ln>
                  <a:noFill/>
                </a:ln>
                <a:solidFill>
                  <a:srgbClr val="000000"/>
                </a:solidFill>
                <a:effectLst/>
                <a:uLnTx/>
                <a:uFillTx/>
                <a:latin typeface="Segoe Sans Text"/>
                <a:ea typeface="+mn-ea"/>
                <a:cs typeface="+mn-cs"/>
              </a:rPr>
            </a:br>
            <a:r>
              <a:rPr kumimoji="0" lang="en-US" sz="1800" b="0" i="0" u="none" strike="noStrike" kern="1200" cap="none" spc="0" normalizeH="0" baseline="0" noProof="0">
                <a:ln>
                  <a:noFill/>
                </a:ln>
                <a:solidFill>
                  <a:srgbClr val="000000"/>
                </a:solidFill>
                <a:effectLst/>
                <a:uLnTx/>
                <a:uFillTx/>
                <a:latin typeface="Segoe Sans Text"/>
                <a:ea typeface="+mn-ea"/>
                <a:cs typeface="+mn-cs"/>
              </a:rPr>
              <a:t>research SDK</a:t>
            </a:r>
          </a:p>
        </p:txBody>
      </p:sp>
      <p:sp>
        <p:nvSpPr>
          <p:cNvPr id="14" name="TextBox 13">
            <a:extLst>
              <a:ext uri="{FF2B5EF4-FFF2-40B4-BE49-F238E27FC236}">
                <a16:creationId xmlns:a16="http://schemas.microsoft.com/office/drawing/2014/main" id="{8E2B0283-57F9-F601-B5D3-4CC18C2A10F4}"/>
              </a:ext>
            </a:extLst>
          </p:cNvPr>
          <p:cNvSpPr txBox="1"/>
          <p:nvPr/>
        </p:nvSpPr>
        <p:spPr>
          <a:xfrm>
            <a:off x="8551532" y="4977696"/>
            <a:ext cx="1960537"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Text"/>
                <a:ea typeface="+mn-ea"/>
                <a:cs typeface="+mn-cs"/>
              </a:rPr>
              <a:t>Production-ready</a:t>
            </a:r>
            <a:br>
              <a:rPr kumimoji="0" lang="en-US" sz="1800" b="0" i="0" u="none" strike="noStrike" kern="1200" cap="none" spc="0" normalizeH="0" baseline="0" noProof="0">
                <a:ln>
                  <a:noFill/>
                </a:ln>
                <a:solidFill>
                  <a:srgbClr val="000000"/>
                </a:solidFill>
                <a:effectLst/>
                <a:uLnTx/>
                <a:uFillTx/>
                <a:latin typeface="Segoe Sans Text"/>
                <a:ea typeface="+mn-ea"/>
                <a:cs typeface="+mn-cs"/>
              </a:rPr>
            </a:br>
            <a:r>
              <a:rPr kumimoji="0" lang="en-US" sz="1800" b="0" i="0" u="none" strike="noStrike" kern="1200" cap="none" spc="0" normalizeH="0" baseline="0" noProof="0">
                <a:ln>
                  <a:noFill/>
                </a:ln>
                <a:solidFill>
                  <a:srgbClr val="000000"/>
                </a:solidFill>
                <a:effectLst/>
                <a:uLnTx/>
                <a:uFillTx/>
                <a:latin typeface="Segoe Sans Text"/>
                <a:ea typeface="+mn-ea"/>
                <a:cs typeface="+mn-cs"/>
              </a:rPr>
              <a:t>and stable SDK</a:t>
            </a:r>
          </a:p>
        </p:txBody>
      </p:sp>
      <p:sp>
        <p:nvSpPr>
          <p:cNvPr id="15" name="TextBox 14">
            <a:extLst>
              <a:ext uri="{FF2B5EF4-FFF2-40B4-BE49-F238E27FC236}">
                <a16:creationId xmlns:a16="http://schemas.microsoft.com/office/drawing/2014/main" id="{5BC1DFA0-3C7C-1711-1957-FD18AC3711AB}"/>
              </a:ext>
            </a:extLst>
          </p:cNvPr>
          <p:cNvSpPr txBox="1"/>
          <p:nvPr/>
        </p:nvSpPr>
        <p:spPr>
          <a:xfrm>
            <a:off x="1679649" y="4977248"/>
            <a:ext cx="1792477"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Text"/>
                <a:ea typeface="+mn-ea"/>
                <a:cs typeface="+mn-cs"/>
              </a:rPr>
              <a:t>Managed agent</a:t>
            </a:r>
            <a:br>
              <a:rPr kumimoji="0" lang="en-US" sz="1800" b="0" i="0" u="none" strike="noStrike" kern="1200" cap="none" spc="0" normalizeH="0" baseline="0" noProof="0">
                <a:ln>
                  <a:noFill/>
                </a:ln>
                <a:solidFill>
                  <a:srgbClr val="000000"/>
                </a:solidFill>
                <a:effectLst/>
                <a:uLnTx/>
                <a:uFillTx/>
                <a:latin typeface="Segoe Sans Text"/>
                <a:ea typeface="+mn-ea"/>
                <a:cs typeface="+mn-cs"/>
              </a:rPr>
            </a:br>
            <a:r>
              <a:rPr kumimoji="0" lang="en-US" sz="1800" b="0" i="0" u="none" strike="noStrike" kern="1200" cap="none" spc="0" normalizeH="0" baseline="0" noProof="0">
                <a:ln>
                  <a:noFill/>
                </a:ln>
                <a:solidFill>
                  <a:srgbClr val="000000"/>
                </a:solidFill>
                <a:effectLst/>
                <a:uLnTx/>
                <a:uFillTx/>
                <a:latin typeface="Segoe Sans Text"/>
                <a:ea typeface="+mn-ea"/>
                <a:cs typeface="+mn-cs"/>
              </a:rPr>
              <a:t>micro-services</a:t>
            </a:r>
          </a:p>
        </p:txBody>
      </p:sp>
      <p:sp>
        <p:nvSpPr>
          <p:cNvPr id="16" name="Rectangle 15">
            <a:extLst>
              <a:ext uri="{FF2B5EF4-FFF2-40B4-BE49-F238E27FC236}">
                <a16:creationId xmlns:a16="http://schemas.microsoft.com/office/drawing/2014/main" id="{193CAC84-4B80-5D1B-C997-CD000C5514C2}"/>
              </a:ext>
            </a:extLst>
          </p:cNvPr>
          <p:cNvSpPr/>
          <p:nvPr/>
        </p:nvSpPr>
        <p:spPr>
          <a:xfrm>
            <a:off x="5546982" y="5891693"/>
            <a:ext cx="5227318" cy="421309"/>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a:ea typeface="+mn-ea"/>
              <a:cs typeface="+mn-cs"/>
            </a:endParaRPr>
          </a:p>
        </p:txBody>
      </p:sp>
      <p:sp>
        <p:nvSpPr>
          <p:cNvPr id="17" name="Right Arrow 16">
            <a:extLst>
              <a:ext uri="{FF2B5EF4-FFF2-40B4-BE49-F238E27FC236}">
                <a16:creationId xmlns:a16="http://schemas.microsoft.com/office/drawing/2014/main" id="{DB8A896F-3F50-D8E1-7281-F59C78B62347}"/>
              </a:ext>
            </a:extLst>
          </p:cNvPr>
          <p:cNvSpPr/>
          <p:nvPr/>
        </p:nvSpPr>
        <p:spPr>
          <a:xfrm>
            <a:off x="5546982" y="5891343"/>
            <a:ext cx="2782955" cy="421658"/>
          </a:xfrm>
          <a:prstGeom prst="rightArrow">
            <a:avLst>
              <a:gd name="adj1" fmla="val 100000"/>
              <a:gd name="adj2" fmla="val 25967"/>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a:ea typeface="+mn-ea"/>
              <a:cs typeface="+mn-cs"/>
            </a:endParaRPr>
          </a:p>
        </p:txBody>
      </p:sp>
      <p:sp>
        <p:nvSpPr>
          <p:cNvPr id="18" name="TextBox 17">
            <a:extLst>
              <a:ext uri="{FF2B5EF4-FFF2-40B4-BE49-F238E27FC236}">
                <a16:creationId xmlns:a16="http://schemas.microsoft.com/office/drawing/2014/main" id="{8EA598AB-186E-95BC-F318-E7DE386BE997}"/>
              </a:ext>
            </a:extLst>
          </p:cNvPr>
          <p:cNvSpPr txBox="1"/>
          <p:nvPr/>
        </p:nvSpPr>
        <p:spPr>
          <a:xfrm>
            <a:off x="6302306" y="5942373"/>
            <a:ext cx="856325" cy="307777"/>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bold"/>
                <a:ea typeface="+mn-ea"/>
                <a:cs typeface="+mn-cs"/>
              </a:rPr>
              <a:t>Ideation</a:t>
            </a:r>
          </a:p>
        </p:txBody>
      </p:sp>
      <p:sp>
        <p:nvSpPr>
          <p:cNvPr id="19" name="TextBox 18">
            <a:extLst>
              <a:ext uri="{FF2B5EF4-FFF2-40B4-BE49-F238E27FC236}">
                <a16:creationId xmlns:a16="http://schemas.microsoft.com/office/drawing/2014/main" id="{FD17E700-7934-1EE0-B498-CB8E4D98F032}"/>
              </a:ext>
            </a:extLst>
          </p:cNvPr>
          <p:cNvSpPr txBox="1"/>
          <p:nvPr/>
        </p:nvSpPr>
        <p:spPr>
          <a:xfrm>
            <a:off x="9014710" y="5942582"/>
            <a:ext cx="1079142" cy="307777"/>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bold"/>
                <a:ea typeface="+mn-ea"/>
                <a:cs typeface="+mn-cs"/>
              </a:rPr>
              <a:t>Production</a:t>
            </a:r>
          </a:p>
        </p:txBody>
      </p:sp>
      <p:grpSp>
        <p:nvGrpSpPr>
          <p:cNvPr id="20" name="Group 19">
            <a:extLst>
              <a:ext uri="{FF2B5EF4-FFF2-40B4-BE49-F238E27FC236}">
                <a16:creationId xmlns:a16="http://schemas.microsoft.com/office/drawing/2014/main" id="{9B68EF42-C750-ABA3-CFB7-940C916A4890}"/>
              </a:ext>
            </a:extLst>
          </p:cNvPr>
          <p:cNvGrpSpPr/>
          <p:nvPr/>
        </p:nvGrpSpPr>
        <p:grpSpPr>
          <a:xfrm>
            <a:off x="9576154" y="4462464"/>
            <a:ext cx="320214" cy="320214"/>
            <a:chOff x="10246651" y="4517738"/>
            <a:chExt cx="320214" cy="320214"/>
          </a:xfrm>
        </p:grpSpPr>
        <p:sp>
          <p:nvSpPr>
            <p:cNvPr id="21" name="Oval 20">
              <a:extLst>
                <a:ext uri="{FF2B5EF4-FFF2-40B4-BE49-F238E27FC236}">
                  <a16:creationId xmlns:a16="http://schemas.microsoft.com/office/drawing/2014/main" id="{E14CC077-4F0D-01EC-F06A-2628E2FCD8A0}"/>
                </a:ext>
              </a:extLst>
            </p:cNvPr>
            <p:cNvSpPr/>
            <p:nvPr/>
          </p:nvSpPr>
          <p:spPr>
            <a:xfrm>
              <a:off x="10246651" y="4517738"/>
              <a:ext cx="320214" cy="320214"/>
            </a:xfrm>
            <a:prstGeom prst="ellipse">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a:ea typeface="+mn-ea"/>
                <a:cs typeface="+mn-cs"/>
              </a:endParaRPr>
            </a:p>
          </p:txBody>
        </p:sp>
        <p:pic>
          <p:nvPicPr>
            <p:cNvPr id="22" name="Picture 6" descr="Python (programming language) - Wikipedia">
              <a:extLst>
                <a:ext uri="{FF2B5EF4-FFF2-40B4-BE49-F238E27FC236}">
                  <a16:creationId xmlns:a16="http://schemas.microsoft.com/office/drawing/2014/main" id="{D60AF9F7-30F3-3194-BBFF-169E89C55A2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4059"/>
            <a:stretch/>
          </p:blipFill>
          <p:spPr bwMode="auto">
            <a:xfrm>
              <a:off x="10315652" y="4583391"/>
              <a:ext cx="212992" cy="20105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 name="Group 22">
            <a:extLst>
              <a:ext uri="{FF2B5EF4-FFF2-40B4-BE49-F238E27FC236}">
                <a16:creationId xmlns:a16="http://schemas.microsoft.com/office/drawing/2014/main" id="{F8E3B811-F9BE-7399-8AEC-120F3F4CAD56}"/>
              </a:ext>
            </a:extLst>
          </p:cNvPr>
          <p:cNvGrpSpPr/>
          <p:nvPr/>
        </p:nvGrpSpPr>
        <p:grpSpPr>
          <a:xfrm>
            <a:off x="9900101" y="4435086"/>
            <a:ext cx="374971" cy="374971"/>
            <a:chOff x="10570598" y="4492224"/>
            <a:chExt cx="374971" cy="374971"/>
          </a:xfrm>
        </p:grpSpPr>
        <p:sp>
          <p:nvSpPr>
            <p:cNvPr id="24" name="Oval 23">
              <a:extLst>
                <a:ext uri="{FF2B5EF4-FFF2-40B4-BE49-F238E27FC236}">
                  <a16:creationId xmlns:a16="http://schemas.microsoft.com/office/drawing/2014/main" id="{2CE87AA7-ABBE-7023-98AC-58B9DE5FBBC3}"/>
                </a:ext>
              </a:extLst>
            </p:cNvPr>
            <p:cNvSpPr/>
            <p:nvPr/>
          </p:nvSpPr>
          <p:spPr>
            <a:xfrm>
              <a:off x="10597645" y="4517738"/>
              <a:ext cx="320214" cy="320214"/>
            </a:xfrm>
            <a:prstGeom prst="ellipse">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a:ea typeface="+mn-ea"/>
                <a:cs typeface="+mn-cs"/>
              </a:endParaRPr>
            </a:p>
          </p:txBody>
        </p:sp>
        <p:pic>
          <p:nvPicPr>
            <p:cNvPr id="25" name="Picture 2">
              <a:extLst>
                <a:ext uri="{FF2B5EF4-FFF2-40B4-BE49-F238E27FC236}">
                  <a16:creationId xmlns:a16="http://schemas.microsoft.com/office/drawing/2014/main" id="{4F8DE3EB-4D02-5B20-7081-CF63702CDA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70598" y="4492224"/>
              <a:ext cx="374971" cy="37497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6ED8C655-69AD-0CF4-5E51-00699AC2BA4D}"/>
              </a:ext>
            </a:extLst>
          </p:cNvPr>
          <p:cNvGrpSpPr/>
          <p:nvPr/>
        </p:nvGrpSpPr>
        <p:grpSpPr>
          <a:xfrm>
            <a:off x="10274869" y="4462464"/>
            <a:ext cx="320214" cy="320214"/>
            <a:chOff x="10945366" y="4517738"/>
            <a:chExt cx="320214" cy="320214"/>
          </a:xfrm>
        </p:grpSpPr>
        <p:sp>
          <p:nvSpPr>
            <p:cNvPr id="27" name="Oval 26">
              <a:extLst>
                <a:ext uri="{FF2B5EF4-FFF2-40B4-BE49-F238E27FC236}">
                  <a16:creationId xmlns:a16="http://schemas.microsoft.com/office/drawing/2014/main" id="{0862007F-2D95-B74B-3A26-C1F41F845569}"/>
                </a:ext>
              </a:extLst>
            </p:cNvPr>
            <p:cNvSpPr/>
            <p:nvPr/>
          </p:nvSpPr>
          <p:spPr>
            <a:xfrm>
              <a:off x="10945366" y="4517738"/>
              <a:ext cx="320214" cy="320214"/>
            </a:xfrm>
            <a:prstGeom prst="ellipse">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a:ea typeface="+mn-ea"/>
                <a:cs typeface="+mn-cs"/>
              </a:endParaRPr>
            </a:p>
          </p:txBody>
        </p:sp>
        <p:pic>
          <p:nvPicPr>
            <p:cNvPr id="28" name="Picture 2">
              <a:extLst>
                <a:ext uri="{FF2B5EF4-FFF2-40B4-BE49-F238E27FC236}">
                  <a16:creationId xmlns:a16="http://schemas.microsoft.com/office/drawing/2014/main" id="{A992C61D-9CEC-00E7-696E-E3E16D4574F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8290" r="13720" b="6295"/>
            <a:stretch/>
          </p:blipFill>
          <p:spPr bwMode="auto">
            <a:xfrm>
              <a:off x="11028790" y="4550726"/>
              <a:ext cx="155186" cy="23899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9" name="Group 28">
            <a:extLst>
              <a:ext uri="{FF2B5EF4-FFF2-40B4-BE49-F238E27FC236}">
                <a16:creationId xmlns:a16="http://schemas.microsoft.com/office/drawing/2014/main" id="{CD1653AA-4499-0ED9-B4B3-AB09989F031A}"/>
              </a:ext>
            </a:extLst>
          </p:cNvPr>
          <p:cNvGrpSpPr/>
          <p:nvPr/>
        </p:nvGrpSpPr>
        <p:grpSpPr>
          <a:xfrm>
            <a:off x="7888186" y="4462464"/>
            <a:ext cx="320214" cy="320214"/>
            <a:chOff x="10246651" y="4517738"/>
            <a:chExt cx="320214" cy="320214"/>
          </a:xfrm>
        </p:grpSpPr>
        <p:sp>
          <p:nvSpPr>
            <p:cNvPr id="30" name="Oval 29">
              <a:extLst>
                <a:ext uri="{FF2B5EF4-FFF2-40B4-BE49-F238E27FC236}">
                  <a16:creationId xmlns:a16="http://schemas.microsoft.com/office/drawing/2014/main" id="{8359A51B-941F-46F3-057A-82979D942974}"/>
                </a:ext>
              </a:extLst>
            </p:cNvPr>
            <p:cNvSpPr/>
            <p:nvPr/>
          </p:nvSpPr>
          <p:spPr>
            <a:xfrm>
              <a:off x="10246651" y="4517738"/>
              <a:ext cx="320214" cy="320214"/>
            </a:xfrm>
            <a:prstGeom prst="ellipse">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a:ea typeface="+mn-ea"/>
                <a:cs typeface="+mn-cs"/>
              </a:endParaRPr>
            </a:p>
          </p:txBody>
        </p:sp>
        <p:pic>
          <p:nvPicPr>
            <p:cNvPr id="31" name="Picture 6" descr="Python (programming language) - Wikipedia">
              <a:extLst>
                <a:ext uri="{FF2B5EF4-FFF2-40B4-BE49-F238E27FC236}">
                  <a16:creationId xmlns:a16="http://schemas.microsoft.com/office/drawing/2014/main" id="{7D13C233-5FE1-68FF-B596-8C81C0E80B3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4059"/>
            <a:stretch/>
          </p:blipFill>
          <p:spPr bwMode="auto">
            <a:xfrm>
              <a:off x="10315652" y="4583391"/>
              <a:ext cx="212992" cy="201058"/>
            </a:xfrm>
            <a:prstGeom prst="rect">
              <a:avLst/>
            </a:prstGeom>
            <a:noFill/>
            <a:extLst>
              <a:ext uri="{909E8E84-426E-40DD-AFC4-6F175D3DCCD1}">
                <a14:hiddenFill xmlns:a14="http://schemas.microsoft.com/office/drawing/2010/main">
                  <a:solidFill>
                    <a:srgbClr val="FFFFFF"/>
                  </a:solidFill>
                </a14:hiddenFill>
              </a:ext>
            </a:extLst>
          </p:spPr>
        </p:pic>
      </p:grpSp>
      <p:pic>
        <p:nvPicPr>
          <p:cNvPr id="32" name="Picture 31" descr="A colorful hexagon with stars&#10;&#10;Description automatically generated">
            <a:extLst>
              <a:ext uri="{FF2B5EF4-FFF2-40B4-BE49-F238E27FC236}">
                <a16:creationId xmlns:a16="http://schemas.microsoft.com/office/drawing/2014/main" id="{6E0DA662-F3F2-0633-E04D-F2753F42810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92151" y="2587438"/>
            <a:ext cx="2051698" cy="2051698"/>
          </a:xfrm>
          <a:prstGeom prst="rect">
            <a:avLst/>
          </a:prstGeom>
        </p:spPr>
      </p:pic>
      <p:grpSp>
        <p:nvGrpSpPr>
          <p:cNvPr id="33" name="Group 32">
            <a:extLst>
              <a:ext uri="{FF2B5EF4-FFF2-40B4-BE49-F238E27FC236}">
                <a16:creationId xmlns:a16="http://schemas.microsoft.com/office/drawing/2014/main" id="{9C933C1B-CBB3-FE77-37C1-72631856A933}"/>
              </a:ext>
            </a:extLst>
          </p:cNvPr>
          <p:cNvGrpSpPr/>
          <p:nvPr/>
        </p:nvGrpSpPr>
        <p:grpSpPr>
          <a:xfrm>
            <a:off x="7541232" y="4468539"/>
            <a:ext cx="320214" cy="320214"/>
            <a:chOff x="10945366" y="4517738"/>
            <a:chExt cx="320214" cy="320214"/>
          </a:xfrm>
        </p:grpSpPr>
        <p:sp>
          <p:nvSpPr>
            <p:cNvPr id="34" name="Oval 33">
              <a:extLst>
                <a:ext uri="{FF2B5EF4-FFF2-40B4-BE49-F238E27FC236}">
                  <a16:creationId xmlns:a16="http://schemas.microsoft.com/office/drawing/2014/main" id="{B7D2BB18-5946-204B-FFAA-B9738B5E287D}"/>
                </a:ext>
              </a:extLst>
            </p:cNvPr>
            <p:cNvSpPr/>
            <p:nvPr/>
          </p:nvSpPr>
          <p:spPr>
            <a:xfrm>
              <a:off x="10945366" y="4517738"/>
              <a:ext cx="320214" cy="320214"/>
            </a:xfrm>
            <a:prstGeom prst="ellipse">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a:ea typeface="+mn-ea"/>
                <a:cs typeface="+mn-cs"/>
              </a:endParaRPr>
            </a:p>
          </p:txBody>
        </p:sp>
        <p:pic>
          <p:nvPicPr>
            <p:cNvPr id="35" name="Picture 2">
              <a:extLst>
                <a:ext uri="{FF2B5EF4-FFF2-40B4-BE49-F238E27FC236}">
                  <a16:creationId xmlns:a16="http://schemas.microsoft.com/office/drawing/2014/main" id="{8E5D0A21-28FA-802A-ADFB-405AC861826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8290" r="13720" b="6295"/>
            <a:stretch/>
          </p:blipFill>
          <p:spPr bwMode="auto">
            <a:xfrm>
              <a:off x="11028790" y="4550726"/>
              <a:ext cx="155186" cy="23899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3615883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B40B5-AB3C-DF16-1FB8-1EB07E5956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4F7F4-94BB-889A-036B-457EF7B80B28}"/>
              </a:ext>
            </a:extLst>
          </p:cNvPr>
          <p:cNvSpPr>
            <a:spLocks noGrp="1"/>
          </p:cNvSpPr>
          <p:nvPr>
            <p:ph type="title"/>
          </p:nvPr>
        </p:nvSpPr>
        <p:spPr>
          <a:xfrm>
            <a:off x="0" y="2457488"/>
            <a:ext cx="10563606" cy="1495794"/>
          </a:xfrm>
        </p:spPr>
        <p:txBody>
          <a:bodyPr/>
          <a:lstStyle/>
          <a:p>
            <a:pPr algn="ctr"/>
            <a:r>
              <a:rPr lang="en-US" sz="5400" dirty="0">
                <a:solidFill>
                  <a:srgbClr val="000000"/>
                </a:solidFill>
                <a:latin typeface="+mn-lt"/>
              </a:rPr>
              <a:t>But how do you make</a:t>
            </a:r>
            <a:br>
              <a:rPr lang="en-US" sz="5400" dirty="0">
                <a:solidFill>
                  <a:srgbClr val="000000"/>
                </a:solidFill>
                <a:latin typeface="+mn-lt"/>
              </a:rPr>
            </a:br>
            <a:r>
              <a:rPr lang="en-US" sz="5400" b="1" dirty="0">
                <a:solidFill>
                  <a:srgbClr val="000000"/>
                </a:solidFill>
                <a:latin typeface="+mn-lt"/>
              </a:rPr>
              <a:t>good</a:t>
            </a:r>
            <a:r>
              <a:rPr lang="en-US" sz="5400" dirty="0">
                <a:solidFill>
                  <a:srgbClr val="000000"/>
                </a:solidFill>
                <a:latin typeface="+mn-lt"/>
              </a:rPr>
              <a:t> AI agents?</a:t>
            </a:r>
          </a:p>
        </p:txBody>
      </p:sp>
    </p:spTree>
    <p:extLst>
      <p:ext uri="{BB962C8B-B14F-4D97-AF65-F5344CB8AC3E}">
        <p14:creationId xmlns:p14="http://schemas.microsoft.com/office/powerpoint/2010/main" val="732603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1249F-5DD9-BA2A-8E3D-35BCEF082EA4}"/>
              </a:ext>
            </a:extLst>
          </p:cNvPr>
          <p:cNvSpPr>
            <a:spLocks noGrp="1"/>
          </p:cNvSpPr>
          <p:nvPr>
            <p:ph type="title"/>
          </p:nvPr>
        </p:nvSpPr>
        <p:spPr/>
        <p:txBody>
          <a:bodyPr/>
          <a:lstStyle/>
          <a:p>
            <a:r>
              <a:rPr lang="en-US"/>
              <a:t>Agentic design principles</a:t>
            </a:r>
          </a:p>
        </p:txBody>
      </p:sp>
      <p:grpSp>
        <p:nvGrpSpPr>
          <p:cNvPr id="4" name="Group 3">
            <a:extLst>
              <a:ext uri="{FF2B5EF4-FFF2-40B4-BE49-F238E27FC236}">
                <a16:creationId xmlns:a16="http://schemas.microsoft.com/office/drawing/2014/main" id="{EDD41156-EDCC-D12B-A61E-FB9535205B4C}"/>
              </a:ext>
            </a:extLst>
          </p:cNvPr>
          <p:cNvGrpSpPr/>
          <p:nvPr/>
        </p:nvGrpSpPr>
        <p:grpSpPr>
          <a:xfrm>
            <a:off x="588264" y="1777454"/>
            <a:ext cx="3086100" cy="3303091"/>
            <a:chOff x="0" y="-57150"/>
            <a:chExt cx="812800" cy="869950"/>
          </a:xfrm>
        </p:grpSpPr>
        <p:sp>
          <p:nvSpPr>
            <p:cNvPr id="5" name="Freeform 4">
              <a:extLst>
                <a:ext uri="{FF2B5EF4-FFF2-40B4-BE49-F238E27FC236}">
                  <a16:creationId xmlns:a16="http://schemas.microsoft.com/office/drawing/2014/main" id="{B5BEF47B-41C7-F02A-251A-824002DD30EF}"/>
                </a:ext>
              </a:extLst>
            </p:cNvPr>
            <p:cNvSpPr/>
            <p:nvPr/>
          </p:nvSpPr>
          <p:spPr>
            <a:xfrm>
              <a:off x="0" y="0"/>
              <a:ext cx="812800" cy="6804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217CE9"/>
            </a:solidFill>
          </p:spPr>
          <p:txBody>
            <a:bodyPr/>
            <a:lstStyle/>
            <a:p>
              <a:endParaRPr lang="en-US"/>
            </a:p>
          </p:txBody>
        </p:sp>
        <p:sp>
          <p:nvSpPr>
            <p:cNvPr id="6" name="TextBox 5">
              <a:extLst>
                <a:ext uri="{FF2B5EF4-FFF2-40B4-BE49-F238E27FC236}">
                  <a16:creationId xmlns:a16="http://schemas.microsoft.com/office/drawing/2014/main" id="{DB7273A9-8CC3-C6C7-71BC-E99A2DDF4D2D}"/>
                </a:ext>
              </a:extLst>
            </p:cNvPr>
            <p:cNvSpPr txBox="1"/>
            <p:nvPr/>
          </p:nvSpPr>
          <p:spPr>
            <a:xfrm>
              <a:off x="0" y="-57150"/>
              <a:ext cx="812800" cy="869950"/>
            </a:xfrm>
            <a:prstGeom prst="rect">
              <a:avLst/>
            </a:prstGeom>
          </p:spPr>
          <p:txBody>
            <a:bodyPr lIns="50800" tIns="50800" rIns="50800" bIns="50800" rtlCol="0" anchor="ctr"/>
            <a:lstStyle/>
            <a:p>
              <a:pPr algn="ctr">
                <a:lnSpc>
                  <a:spcPts val="3500"/>
                </a:lnSpc>
              </a:pPr>
              <a:endParaRPr/>
            </a:p>
          </p:txBody>
        </p:sp>
      </p:grpSp>
      <p:sp>
        <p:nvSpPr>
          <p:cNvPr id="7" name="TextBox 6">
            <a:extLst>
              <a:ext uri="{FF2B5EF4-FFF2-40B4-BE49-F238E27FC236}">
                <a16:creationId xmlns:a16="http://schemas.microsoft.com/office/drawing/2014/main" id="{945BDB24-7058-E678-9D91-421FF385B5F0}"/>
              </a:ext>
            </a:extLst>
          </p:cNvPr>
          <p:cNvSpPr txBox="1"/>
          <p:nvPr/>
        </p:nvSpPr>
        <p:spPr>
          <a:xfrm>
            <a:off x="588263" y="2852906"/>
            <a:ext cx="3086101" cy="641201"/>
          </a:xfrm>
          <a:prstGeom prst="rect">
            <a:avLst/>
          </a:prstGeom>
        </p:spPr>
        <p:txBody>
          <a:bodyPr wrap="square" lIns="0" tIns="0" rIns="0" bIns="0" rtlCol="0" anchor="t">
            <a:spAutoFit/>
          </a:bodyPr>
          <a:lstStyle/>
          <a:p>
            <a:pPr algn="ctr">
              <a:lnSpc>
                <a:spcPts val="5035"/>
              </a:lnSpc>
            </a:pPr>
            <a:r>
              <a:rPr lang="en-US" sz="4400">
                <a:solidFill>
                  <a:srgbClr val="FFFFFF"/>
                </a:solidFill>
                <a:latin typeface="+mj-lt"/>
                <a:ea typeface="Poppins"/>
                <a:cs typeface="Poppins"/>
                <a:sym typeface="Poppins"/>
              </a:rPr>
              <a:t>Space</a:t>
            </a:r>
          </a:p>
        </p:txBody>
      </p:sp>
      <p:grpSp>
        <p:nvGrpSpPr>
          <p:cNvPr id="8" name="Group 7">
            <a:extLst>
              <a:ext uri="{FF2B5EF4-FFF2-40B4-BE49-F238E27FC236}">
                <a16:creationId xmlns:a16="http://schemas.microsoft.com/office/drawing/2014/main" id="{1C56EFAE-10ED-98DF-8E70-CE70CDE83FAE}"/>
              </a:ext>
            </a:extLst>
          </p:cNvPr>
          <p:cNvGrpSpPr/>
          <p:nvPr/>
        </p:nvGrpSpPr>
        <p:grpSpPr>
          <a:xfrm>
            <a:off x="4788230" y="1777454"/>
            <a:ext cx="3086100" cy="3303091"/>
            <a:chOff x="0" y="-57150"/>
            <a:chExt cx="812800" cy="869950"/>
          </a:xfrm>
        </p:grpSpPr>
        <p:sp>
          <p:nvSpPr>
            <p:cNvPr id="9" name="Freeform 8">
              <a:extLst>
                <a:ext uri="{FF2B5EF4-FFF2-40B4-BE49-F238E27FC236}">
                  <a16:creationId xmlns:a16="http://schemas.microsoft.com/office/drawing/2014/main" id="{CE9D2F05-4B64-7374-C083-A0445BBBCF7D}"/>
                </a:ext>
              </a:extLst>
            </p:cNvPr>
            <p:cNvSpPr/>
            <p:nvPr/>
          </p:nvSpPr>
          <p:spPr>
            <a:xfrm>
              <a:off x="0" y="0"/>
              <a:ext cx="812800" cy="6804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chemeClr val="accent2"/>
            </a:solidFill>
          </p:spPr>
          <p:txBody>
            <a:bodyPr/>
            <a:lstStyle/>
            <a:p>
              <a:endParaRPr lang="en-US"/>
            </a:p>
          </p:txBody>
        </p:sp>
        <p:sp>
          <p:nvSpPr>
            <p:cNvPr id="10" name="TextBox 9">
              <a:extLst>
                <a:ext uri="{FF2B5EF4-FFF2-40B4-BE49-F238E27FC236}">
                  <a16:creationId xmlns:a16="http://schemas.microsoft.com/office/drawing/2014/main" id="{0DD146CC-EEA7-C9B5-9C02-86093C7AE03B}"/>
                </a:ext>
              </a:extLst>
            </p:cNvPr>
            <p:cNvSpPr txBox="1"/>
            <p:nvPr/>
          </p:nvSpPr>
          <p:spPr>
            <a:xfrm>
              <a:off x="0" y="-57150"/>
              <a:ext cx="812800" cy="869950"/>
            </a:xfrm>
            <a:prstGeom prst="rect">
              <a:avLst/>
            </a:prstGeom>
          </p:spPr>
          <p:txBody>
            <a:bodyPr lIns="50800" tIns="50800" rIns="50800" bIns="50800" rtlCol="0" anchor="ctr"/>
            <a:lstStyle/>
            <a:p>
              <a:pPr algn="ctr">
                <a:lnSpc>
                  <a:spcPts val="3500"/>
                </a:lnSpc>
              </a:pPr>
              <a:endParaRPr/>
            </a:p>
          </p:txBody>
        </p:sp>
      </p:grpSp>
      <p:sp>
        <p:nvSpPr>
          <p:cNvPr id="11" name="TextBox 10">
            <a:extLst>
              <a:ext uri="{FF2B5EF4-FFF2-40B4-BE49-F238E27FC236}">
                <a16:creationId xmlns:a16="http://schemas.microsoft.com/office/drawing/2014/main" id="{43D33988-6325-81BF-7F6F-F4482D8EAE4C}"/>
              </a:ext>
            </a:extLst>
          </p:cNvPr>
          <p:cNvSpPr txBox="1"/>
          <p:nvPr/>
        </p:nvSpPr>
        <p:spPr>
          <a:xfrm>
            <a:off x="4788229" y="2852906"/>
            <a:ext cx="3086101" cy="641201"/>
          </a:xfrm>
          <a:prstGeom prst="rect">
            <a:avLst/>
          </a:prstGeom>
        </p:spPr>
        <p:txBody>
          <a:bodyPr wrap="square" lIns="0" tIns="0" rIns="0" bIns="0" rtlCol="0" anchor="t">
            <a:spAutoFit/>
          </a:bodyPr>
          <a:lstStyle/>
          <a:p>
            <a:pPr algn="ctr">
              <a:lnSpc>
                <a:spcPts val="5035"/>
              </a:lnSpc>
            </a:pPr>
            <a:r>
              <a:rPr lang="en-US" sz="4400">
                <a:solidFill>
                  <a:srgbClr val="FFFFFF"/>
                </a:solidFill>
                <a:latin typeface="+mj-lt"/>
                <a:ea typeface="Poppins"/>
                <a:cs typeface="Poppins"/>
                <a:sym typeface="Poppins"/>
              </a:rPr>
              <a:t>Time</a:t>
            </a:r>
          </a:p>
        </p:txBody>
      </p:sp>
      <p:grpSp>
        <p:nvGrpSpPr>
          <p:cNvPr id="12" name="Group 11">
            <a:extLst>
              <a:ext uri="{FF2B5EF4-FFF2-40B4-BE49-F238E27FC236}">
                <a16:creationId xmlns:a16="http://schemas.microsoft.com/office/drawing/2014/main" id="{9B7EA2DA-6344-843F-60A6-0A66B7FA874E}"/>
              </a:ext>
            </a:extLst>
          </p:cNvPr>
          <p:cNvGrpSpPr/>
          <p:nvPr/>
        </p:nvGrpSpPr>
        <p:grpSpPr>
          <a:xfrm>
            <a:off x="8538884" y="1777454"/>
            <a:ext cx="3347150" cy="3303091"/>
            <a:chOff x="-68754" y="-57150"/>
            <a:chExt cx="881554" cy="869950"/>
          </a:xfrm>
        </p:grpSpPr>
        <p:sp>
          <p:nvSpPr>
            <p:cNvPr id="13" name="Freeform 12">
              <a:extLst>
                <a:ext uri="{FF2B5EF4-FFF2-40B4-BE49-F238E27FC236}">
                  <a16:creationId xmlns:a16="http://schemas.microsoft.com/office/drawing/2014/main" id="{6259C0F1-2577-AF4C-3830-F7E0D826F239}"/>
                </a:ext>
              </a:extLst>
            </p:cNvPr>
            <p:cNvSpPr/>
            <p:nvPr/>
          </p:nvSpPr>
          <p:spPr>
            <a:xfrm>
              <a:off x="-68754" y="0"/>
              <a:ext cx="881554" cy="6804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chemeClr val="accent3"/>
            </a:solidFill>
          </p:spPr>
          <p:txBody>
            <a:bodyPr/>
            <a:lstStyle/>
            <a:p>
              <a:endParaRPr lang="en-US"/>
            </a:p>
          </p:txBody>
        </p:sp>
        <p:sp>
          <p:nvSpPr>
            <p:cNvPr id="14" name="TextBox 13">
              <a:extLst>
                <a:ext uri="{FF2B5EF4-FFF2-40B4-BE49-F238E27FC236}">
                  <a16:creationId xmlns:a16="http://schemas.microsoft.com/office/drawing/2014/main" id="{EFF5AFA8-9E46-75FE-3B03-551DECAA683C}"/>
                </a:ext>
              </a:extLst>
            </p:cNvPr>
            <p:cNvSpPr txBox="1"/>
            <p:nvPr/>
          </p:nvSpPr>
          <p:spPr>
            <a:xfrm>
              <a:off x="0" y="-57150"/>
              <a:ext cx="812800" cy="869950"/>
            </a:xfrm>
            <a:prstGeom prst="rect">
              <a:avLst/>
            </a:prstGeom>
          </p:spPr>
          <p:txBody>
            <a:bodyPr lIns="50800" tIns="50800" rIns="50800" bIns="50800" rtlCol="0" anchor="ctr"/>
            <a:lstStyle/>
            <a:p>
              <a:pPr algn="ctr">
                <a:lnSpc>
                  <a:spcPts val="3500"/>
                </a:lnSpc>
              </a:pPr>
              <a:endParaRPr/>
            </a:p>
          </p:txBody>
        </p:sp>
      </p:grpSp>
      <p:sp>
        <p:nvSpPr>
          <p:cNvPr id="15" name="TextBox 14">
            <a:extLst>
              <a:ext uri="{FF2B5EF4-FFF2-40B4-BE49-F238E27FC236}">
                <a16:creationId xmlns:a16="http://schemas.microsoft.com/office/drawing/2014/main" id="{F8C8A996-75ED-9753-8ACF-BC861E9AA012}"/>
              </a:ext>
            </a:extLst>
          </p:cNvPr>
          <p:cNvSpPr txBox="1"/>
          <p:nvPr/>
        </p:nvSpPr>
        <p:spPr>
          <a:xfrm>
            <a:off x="8538885" y="2852906"/>
            <a:ext cx="3347150" cy="641201"/>
          </a:xfrm>
          <a:prstGeom prst="rect">
            <a:avLst/>
          </a:prstGeom>
        </p:spPr>
        <p:txBody>
          <a:bodyPr wrap="square" lIns="0" tIns="0" rIns="0" bIns="0" rtlCol="0" anchor="t">
            <a:spAutoFit/>
          </a:bodyPr>
          <a:lstStyle/>
          <a:p>
            <a:pPr algn="ctr">
              <a:lnSpc>
                <a:spcPts val="5035"/>
              </a:lnSpc>
            </a:pPr>
            <a:r>
              <a:rPr lang="en-US" sz="4400">
                <a:solidFill>
                  <a:srgbClr val="FFFFFF"/>
                </a:solidFill>
                <a:latin typeface="+mj-lt"/>
                <a:ea typeface="Poppins"/>
                <a:cs typeface="Poppins"/>
                <a:sym typeface="Poppins"/>
              </a:rPr>
              <a:t>Core</a:t>
            </a:r>
          </a:p>
        </p:txBody>
      </p:sp>
    </p:spTree>
    <p:extLst>
      <p:ext uri="{BB962C8B-B14F-4D97-AF65-F5344CB8AC3E}">
        <p14:creationId xmlns:p14="http://schemas.microsoft.com/office/powerpoint/2010/main" val="91091295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9B247-A46C-1E29-A446-877ED4213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79A84-613B-615D-C793-0AA3AD1DBDE1}"/>
              </a:ext>
            </a:extLst>
          </p:cNvPr>
          <p:cNvSpPr>
            <a:spLocks noGrp="1"/>
          </p:cNvSpPr>
          <p:nvPr>
            <p:ph type="title"/>
          </p:nvPr>
        </p:nvSpPr>
        <p:spPr>
          <a:xfrm>
            <a:off x="0" y="2210387"/>
            <a:ext cx="10528808" cy="1495794"/>
          </a:xfrm>
        </p:spPr>
        <p:txBody>
          <a:bodyPr/>
          <a:lstStyle/>
          <a:p>
            <a:pPr algn="ctr"/>
            <a:r>
              <a:rPr lang="en-US" sz="5400" dirty="0">
                <a:solidFill>
                  <a:srgbClr val="000000"/>
                </a:solidFill>
              </a:rPr>
              <a:t>What are</a:t>
            </a:r>
            <a:br>
              <a:rPr lang="en-US" sz="5400" dirty="0">
                <a:solidFill>
                  <a:srgbClr val="000000"/>
                </a:solidFill>
              </a:rPr>
            </a:br>
            <a:r>
              <a:rPr lang="en-US" sz="5400" dirty="0">
                <a:solidFill>
                  <a:srgbClr val="000000"/>
                </a:solidFill>
              </a:rPr>
              <a:t>agentic design patterns?</a:t>
            </a:r>
          </a:p>
        </p:txBody>
      </p:sp>
    </p:spTree>
    <p:extLst>
      <p:ext uri="{BB962C8B-B14F-4D97-AF65-F5344CB8AC3E}">
        <p14:creationId xmlns:p14="http://schemas.microsoft.com/office/powerpoint/2010/main" val="4204774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B07B1-CA6F-6195-436C-A85F7FAD0D2E}"/>
              </a:ext>
            </a:extLst>
          </p:cNvPr>
          <p:cNvSpPr txBox="1">
            <a:spLocks/>
          </p:cNvSpPr>
          <p:nvPr/>
        </p:nvSpPr>
        <p:spPr>
          <a:xfrm>
            <a:off x="588263" y="457200"/>
            <a:ext cx="11018520" cy="677108"/>
          </a:xfrm>
          <a:prstGeom prst="rect">
            <a:avLst/>
          </a:prstGeom>
        </p:spPr>
        <p:txBody>
          <a:bodyPr lIns="91440" tIns="45720" rIns="91440" bIns="45720" anchor="t"/>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r>
              <a:rPr lang="en-US">
                <a:solidFill>
                  <a:schemeClr val="tx1"/>
                </a:solidFill>
                <a:cs typeface="Segoe UI"/>
              </a:rPr>
              <a:t>Tool integration in conversational agents</a:t>
            </a:r>
            <a:endParaRPr lang="en-US">
              <a:solidFill>
                <a:schemeClr val="tx1"/>
              </a:solidFill>
            </a:endParaRPr>
          </a:p>
        </p:txBody>
      </p:sp>
      <p:sp>
        <p:nvSpPr>
          <p:cNvPr id="4" name="Rectangle: Rounded Corners 3"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3D338BAA-2C3D-F0D9-8EAA-D30FA9C0952B}"/>
              </a:ext>
              <a:ext uri="{C183D7F6-B498-43B3-948B-1728B52AA6E4}">
                <adec:decorative xmlns:adec="http://schemas.microsoft.com/office/drawing/2017/decorative" val="0"/>
              </a:ext>
            </a:extLst>
          </p:cNvPr>
          <p:cNvSpPr/>
          <p:nvPr/>
        </p:nvSpPr>
        <p:spPr bwMode="auto">
          <a:xfrm>
            <a:off x="588263" y="1302464"/>
            <a:ext cx="5799955" cy="5213654"/>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endParaRPr lang="en-US" sz="1200">
              <a:solidFill>
                <a:schemeClr val="tx1"/>
              </a:solidFill>
              <a:latin typeface="Segoe Sans Text"/>
              <a:cs typeface="Segoe Sans Text" pitchFamily="2" charset="0"/>
            </a:endParaRPr>
          </a:p>
        </p:txBody>
      </p:sp>
      <p:sp>
        <p:nvSpPr>
          <p:cNvPr id="6" name="Rectangle: Rounded Corners 5"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92B8BD76-A6F5-EE46-1EFB-3F87AAA76E51}"/>
              </a:ext>
              <a:ext uri="{C183D7F6-B498-43B3-948B-1728B52AA6E4}">
                <adec:decorative xmlns:adec="http://schemas.microsoft.com/office/drawing/2017/decorative" val="0"/>
              </a:ext>
            </a:extLst>
          </p:cNvPr>
          <p:cNvSpPr/>
          <p:nvPr/>
        </p:nvSpPr>
        <p:spPr bwMode="auto">
          <a:xfrm>
            <a:off x="6567455" y="1302463"/>
            <a:ext cx="2313154" cy="5213654"/>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solidFill>
                <a:schemeClr val="tx1"/>
              </a:solidFill>
              <a:latin typeface="Segoe Sans Text"/>
              <a:cs typeface="Segoe Sans Text" pitchFamily="2" charset="0"/>
            </a:endParaRPr>
          </a:p>
        </p:txBody>
      </p:sp>
      <p:sp>
        <p:nvSpPr>
          <p:cNvPr id="7" name="Rectangle: Rounded Corners 8"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AD74F21C-CB9E-D206-07C0-809D11937FC1}"/>
              </a:ext>
              <a:ext uri="{C183D7F6-B498-43B3-948B-1728B52AA6E4}">
                <adec:decorative xmlns:adec="http://schemas.microsoft.com/office/drawing/2017/decorative" val="0"/>
              </a:ext>
            </a:extLst>
          </p:cNvPr>
          <p:cNvSpPr/>
          <p:nvPr/>
        </p:nvSpPr>
        <p:spPr bwMode="auto">
          <a:xfrm>
            <a:off x="9025488" y="1302463"/>
            <a:ext cx="2443268" cy="2463390"/>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400">
              <a:solidFill>
                <a:schemeClr val="tx1"/>
              </a:solidFill>
              <a:latin typeface="Segoe Sans Text"/>
              <a:cs typeface="Segoe Sans Text" pitchFamily="2" charset="0"/>
            </a:endParaRPr>
          </a:p>
        </p:txBody>
      </p:sp>
      <p:sp>
        <p:nvSpPr>
          <p:cNvPr id="8" name="Rectangle: Rounded Corners 9"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904578AA-EF55-F24D-B91A-C9CF108585E3}"/>
              </a:ext>
              <a:ext uri="{C183D7F6-B498-43B3-948B-1728B52AA6E4}">
                <adec:decorative xmlns:adec="http://schemas.microsoft.com/office/drawing/2017/decorative" val="0"/>
              </a:ext>
            </a:extLst>
          </p:cNvPr>
          <p:cNvSpPr/>
          <p:nvPr/>
        </p:nvSpPr>
        <p:spPr bwMode="auto">
          <a:xfrm>
            <a:off x="9025486" y="4177593"/>
            <a:ext cx="2431493" cy="2338524"/>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en-US" sz="1400" b="1">
                <a:solidFill>
                  <a:schemeClr val="tx1"/>
                </a:solidFill>
                <a:latin typeface="Segoe Sans Text"/>
                <a:cs typeface="Segoe Sans Text" pitchFamily="2" charset="0"/>
              </a:rPr>
              <a:t>Run #2</a:t>
            </a:r>
            <a:endParaRPr lang="en-US" sz="1400">
              <a:solidFill>
                <a:schemeClr val="tx1"/>
              </a:solidFill>
              <a:latin typeface="Segoe Sans Text"/>
              <a:cs typeface="Segoe Sans Text" pitchFamily="2" charset="0"/>
            </a:endParaRPr>
          </a:p>
        </p:txBody>
      </p:sp>
      <p:sp>
        <p:nvSpPr>
          <p:cNvPr id="11" name="Rectangle: Rounded Corners 12"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9FED11DA-4D10-1053-72C7-B367EA17838C}"/>
              </a:ext>
              <a:ext uri="{C183D7F6-B498-43B3-948B-1728B52AA6E4}">
                <adec:decorative xmlns:adec="http://schemas.microsoft.com/office/drawing/2017/decorative" val="0"/>
              </a:ext>
            </a:extLst>
          </p:cNvPr>
          <p:cNvSpPr/>
          <p:nvPr/>
        </p:nvSpPr>
        <p:spPr bwMode="auto">
          <a:xfrm>
            <a:off x="6708586" y="1938444"/>
            <a:ext cx="2090523" cy="911806"/>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r>
              <a:rPr lang="en-US" sz="1200" b="1">
                <a:solidFill>
                  <a:schemeClr val="tx1"/>
                </a:solidFill>
                <a:latin typeface="+mj-lt"/>
                <a:cs typeface="Segoe Sans Text" pitchFamily="2" charset="0"/>
              </a:rPr>
              <a:t>User message</a:t>
            </a:r>
          </a:p>
          <a:p>
            <a:pPr defTabSz="932472" fontAlgn="base">
              <a:spcBef>
                <a:spcPct val="0"/>
              </a:spcBef>
              <a:spcAft>
                <a:spcPct val="0"/>
              </a:spcAft>
            </a:pPr>
            <a:r>
              <a:rPr lang="en-US" sz="1200">
                <a:solidFill>
                  <a:schemeClr val="tx1"/>
                </a:solidFill>
                <a:latin typeface="Segoe UI" panose="020B0502040204020203" pitchFamily="34" charset="0"/>
                <a:cs typeface="Segoe UI" panose="020B0502040204020203" pitchFamily="34" charset="0"/>
              </a:rPr>
              <a:t>Tell me the total sales </a:t>
            </a:r>
          </a:p>
          <a:p>
            <a:pPr defTabSz="932472" fontAlgn="base">
              <a:spcBef>
                <a:spcPct val="0"/>
              </a:spcBef>
              <a:spcAft>
                <a:spcPct val="0"/>
              </a:spcAft>
            </a:pPr>
            <a:r>
              <a:rPr lang="en-US" sz="1200">
                <a:solidFill>
                  <a:schemeClr val="tx1"/>
                </a:solidFill>
                <a:latin typeface="Segoe UI" panose="020B0502040204020203" pitchFamily="34" charset="0"/>
                <a:cs typeface="Segoe UI" panose="020B0502040204020203" pitchFamily="34" charset="0"/>
              </a:rPr>
              <a:t>by region</a:t>
            </a:r>
          </a:p>
        </p:txBody>
      </p:sp>
      <p:sp>
        <p:nvSpPr>
          <p:cNvPr id="12" name="Rectangle: Rounded Corners 14"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2EB8AED9-25E4-7CC6-3BFA-300B7D6D975B}"/>
              </a:ext>
              <a:ext uri="{C183D7F6-B498-43B3-948B-1728B52AA6E4}">
                <adec:decorative xmlns:adec="http://schemas.microsoft.com/office/drawing/2017/decorative" val="0"/>
              </a:ext>
            </a:extLst>
          </p:cNvPr>
          <p:cNvSpPr/>
          <p:nvPr/>
        </p:nvSpPr>
        <p:spPr bwMode="auto">
          <a:xfrm>
            <a:off x="6708586" y="3006316"/>
            <a:ext cx="2090524" cy="771186"/>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r>
              <a:rPr lang="en-US" sz="1200" b="1">
                <a:solidFill>
                  <a:schemeClr val="tx1"/>
                </a:solidFill>
                <a:latin typeface="+mj-lt"/>
                <a:cs typeface="Segoe Sans Text" pitchFamily="2" charset="0"/>
              </a:rPr>
              <a:t>Agent message</a:t>
            </a:r>
          </a:p>
          <a:p>
            <a:pPr defTabSz="932472" fontAlgn="base">
              <a:spcBef>
                <a:spcPct val="0"/>
              </a:spcBef>
              <a:spcAft>
                <a:spcPct val="0"/>
              </a:spcAft>
            </a:pPr>
            <a:r>
              <a:rPr lang="en-US" sz="1100">
                <a:solidFill>
                  <a:schemeClr val="tx1"/>
                </a:solidFill>
                <a:latin typeface="Segoe Sans Text"/>
                <a:cs typeface="Segoe Sans Text" pitchFamily="2" charset="0"/>
              </a:rPr>
              <a:t>Here is the sales:</a:t>
            </a:r>
          </a:p>
          <a:p>
            <a:pPr defTabSz="932472" fontAlgn="base">
              <a:spcBef>
                <a:spcPct val="0"/>
              </a:spcBef>
              <a:spcAft>
                <a:spcPct val="0"/>
              </a:spcAft>
            </a:pPr>
            <a:r>
              <a:rPr lang="en-US" sz="1100">
                <a:solidFill>
                  <a:schemeClr val="tx1"/>
                </a:solidFill>
                <a:latin typeface="Segoe Sans Text"/>
                <a:cs typeface="Segoe Sans Text" pitchFamily="2" charset="0"/>
              </a:rPr>
              <a:t>Europe: $15478.00</a:t>
            </a:r>
          </a:p>
          <a:p>
            <a:pPr defTabSz="932472" fontAlgn="base">
              <a:spcBef>
                <a:spcPct val="0"/>
              </a:spcBef>
              <a:spcAft>
                <a:spcPct val="0"/>
              </a:spcAft>
            </a:pPr>
            <a:r>
              <a:rPr lang="en-US" sz="1100">
                <a:solidFill>
                  <a:schemeClr val="tx1"/>
                </a:solidFill>
                <a:latin typeface="Segoe Sans Text"/>
                <a:cs typeface="Segoe Sans Text" pitchFamily="2" charset="0"/>
              </a:rPr>
              <a:t>America: $78792.00</a:t>
            </a:r>
          </a:p>
        </p:txBody>
      </p:sp>
      <p:sp>
        <p:nvSpPr>
          <p:cNvPr id="13" name="Rectangle: Rounded Corners 15"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B0A3B4FB-B3CB-4699-27EF-E97CA2205140}"/>
              </a:ext>
              <a:ext uri="{C183D7F6-B498-43B3-948B-1728B52AA6E4}">
                <adec:decorative xmlns:adec="http://schemas.microsoft.com/office/drawing/2017/decorative" val="0"/>
              </a:ext>
            </a:extLst>
          </p:cNvPr>
          <p:cNvSpPr/>
          <p:nvPr/>
        </p:nvSpPr>
        <p:spPr bwMode="auto">
          <a:xfrm>
            <a:off x="9038337" y="1415700"/>
            <a:ext cx="2255271" cy="911806"/>
          </a:xfrm>
          <a:prstGeom prst="roundRect">
            <a:avLst>
              <a:gd name="adj" fmla="val 6998"/>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r>
              <a:rPr lang="en-US" sz="1600" b="1">
                <a:solidFill>
                  <a:schemeClr val="tx1"/>
                </a:solidFill>
                <a:effectLst/>
                <a:latin typeface="Segoe Sans Text"/>
                <a:cs typeface="Segoe Sans Text" pitchFamily="2" charset="0"/>
              </a:rPr>
              <a:t>Run #1</a:t>
            </a:r>
            <a:endParaRPr lang="en-US" sz="1600">
              <a:solidFill>
                <a:schemeClr val="tx1"/>
              </a:solidFill>
              <a:latin typeface="Segoe Sans Text"/>
              <a:cs typeface="Segoe Sans Text" pitchFamily="2" charset="0"/>
            </a:endParaRPr>
          </a:p>
        </p:txBody>
      </p:sp>
      <p:sp>
        <p:nvSpPr>
          <p:cNvPr id="14" name="Flowchart: Connector 17">
            <a:extLst>
              <a:ext uri="{FF2B5EF4-FFF2-40B4-BE49-F238E27FC236}">
                <a16:creationId xmlns:a16="http://schemas.microsoft.com/office/drawing/2014/main" id="{92F96693-5D45-7EA0-C045-AAE113F70AE7}"/>
              </a:ext>
            </a:extLst>
          </p:cNvPr>
          <p:cNvSpPr>
            <a:spLocks noChangeAspect="1"/>
          </p:cNvSpPr>
          <p:nvPr/>
        </p:nvSpPr>
        <p:spPr bwMode="auto">
          <a:xfrm>
            <a:off x="9198108" y="2238552"/>
            <a:ext cx="295497" cy="296011"/>
          </a:xfrm>
          <a:prstGeom prst="flowChartConnector">
            <a:avLst/>
          </a:prstGeom>
          <a:solidFill>
            <a:srgbClr val="C03BC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a:solidFill>
                  <a:schemeClr val="bg1"/>
                </a:solidFill>
                <a:ea typeface="Segoe UI" pitchFamily="34" charset="0"/>
                <a:cs typeface="Segoe UI" pitchFamily="34" charset="0"/>
              </a:rPr>
              <a:t>1</a:t>
            </a:r>
          </a:p>
        </p:txBody>
      </p:sp>
      <p:sp>
        <p:nvSpPr>
          <p:cNvPr id="15" name="Rectangle: Rounded Corners 19"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D1700AA3-7D21-9857-2C15-EE0C3594E69B}"/>
              </a:ext>
              <a:ext uri="{C183D7F6-B498-43B3-948B-1728B52AA6E4}">
                <adec:decorative xmlns:adec="http://schemas.microsoft.com/office/drawing/2017/decorative" val="0"/>
              </a:ext>
            </a:extLst>
          </p:cNvPr>
          <p:cNvSpPr/>
          <p:nvPr/>
        </p:nvSpPr>
        <p:spPr bwMode="auto">
          <a:xfrm>
            <a:off x="9410582" y="2393697"/>
            <a:ext cx="2378542" cy="569139"/>
          </a:xfrm>
          <a:prstGeom prst="roundRect">
            <a:avLst>
              <a:gd name="adj" fmla="val 6998"/>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defTabSz="932472" fontAlgn="base">
              <a:spcBef>
                <a:spcPct val="0"/>
              </a:spcBef>
              <a:spcAft>
                <a:spcPct val="0"/>
              </a:spcAft>
            </a:pPr>
            <a:endParaRPr lang="en-US" sz="1400" b="1">
              <a:solidFill>
                <a:schemeClr val="tx1"/>
              </a:solidFill>
              <a:latin typeface="Segoe Sans Text"/>
              <a:cs typeface="Segoe Sans Text" pitchFamily="2" charset="0"/>
            </a:endParaRPr>
          </a:p>
          <a:p>
            <a:pPr defTabSz="932472" fontAlgn="base">
              <a:spcBef>
                <a:spcPct val="0"/>
              </a:spcBef>
              <a:spcAft>
                <a:spcPct val="0"/>
              </a:spcAft>
            </a:pPr>
            <a:r>
              <a:rPr lang="en-US" sz="1400" b="1">
                <a:solidFill>
                  <a:schemeClr val="tx1"/>
                </a:solidFill>
                <a:latin typeface="Segoe Sans Text"/>
                <a:cs typeface="Segoe Sans Text" pitchFamily="2" charset="0"/>
              </a:rPr>
              <a:t>Query SQLite DB</a:t>
            </a:r>
          </a:p>
          <a:p>
            <a:pPr defTabSz="932472" fontAlgn="base">
              <a:spcBef>
                <a:spcPct val="0"/>
              </a:spcBef>
              <a:spcAft>
                <a:spcPct val="0"/>
              </a:spcAft>
            </a:pPr>
            <a:r>
              <a:rPr lang="en-US" sz="1000">
                <a:solidFill>
                  <a:schemeClr val="tx1"/>
                </a:solidFill>
                <a:latin typeface="Segoe Sans Text"/>
                <a:cs typeface="Segoe Sans Text" pitchFamily="2" charset="0"/>
              </a:rPr>
              <a:t>SELECT * FROM</a:t>
            </a:r>
          </a:p>
          <a:p>
            <a:pPr defTabSz="932472" fontAlgn="base">
              <a:spcBef>
                <a:spcPct val="0"/>
              </a:spcBef>
              <a:spcAft>
                <a:spcPct val="0"/>
              </a:spcAft>
            </a:pPr>
            <a:r>
              <a:rPr lang="en-US" sz="1000">
                <a:solidFill>
                  <a:schemeClr val="tx1"/>
                </a:solidFill>
                <a:latin typeface="Segoe Sans Text"/>
                <a:cs typeface="Segoe Sans Text" pitchFamily="2" charset="0"/>
              </a:rPr>
              <a:t>sales GROUP BY region</a:t>
            </a:r>
          </a:p>
        </p:txBody>
      </p:sp>
      <p:sp>
        <p:nvSpPr>
          <p:cNvPr id="16" name="Rectangle: Rounded Corners 20"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E274AB88-8606-A705-BF0C-92C646AA3BB1}"/>
              </a:ext>
              <a:ext uri="{C183D7F6-B498-43B3-948B-1728B52AA6E4}">
                <adec:decorative xmlns:adec="http://schemas.microsoft.com/office/drawing/2017/decorative" val="0"/>
              </a:ext>
            </a:extLst>
          </p:cNvPr>
          <p:cNvSpPr/>
          <p:nvPr/>
        </p:nvSpPr>
        <p:spPr bwMode="auto">
          <a:xfrm>
            <a:off x="9401045" y="3059905"/>
            <a:ext cx="1880108" cy="381827"/>
          </a:xfrm>
          <a:prstGeom prst="roundRect">
            <a:avLst>
              <a:gd name="adj" fmla="val 6998"/>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r>
              <a:rPr lang="en-US" sz="1200">
                <a:solidFill>
                  <a:schemeClr val="tx1"/>
                </a:solidFill>
                <a:latin typeface="Segoe Sans Text"/>
                <a:cs typeface="Segoe Sans Text" pitchFamily="2" charset="0"/>
              </a:rPr>
              <a:t>Create message</a:t>
            </a:r>
          </a:p>
        </p:txBody>
      </p:sp>
      <p:cxnSp>
        <p:nvCxnSpPr>
          <p:cNvPr id="17" name="Straight Arrow Connector 16">
            <a:extLst>
              <a:ext uri="{FF2B5EF4-FFF2-40B4-BE49-F238E27FC236}">
                <a16:creationId xmlns:a16="http://schemas.microsoft.com/office/drawing/2014/main" id="{32F96A2D-6629-C28B-4C4E-A782C302ADE6}"/>
              </a:ext>
            </a:extLst>
          </p:cNvPr>
          <p:cNvCxnSpPr>
            <a:cxnSpLocks/>
            <a:stCxn id="11" idx="3"/>
          </p:cNvCxnSpPr>
          <p:nvPr/>
        </p:nvCxnSpPr>
        <p:spPr>
          <a:xfrm flipV="1">
            <a:off x="8799109" y="2393697"/>
            <a:ext cx="386545" cy="65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8" name="Flowchart: Connector 18">
            <a:extLst>
              <a:ext uri="{FF2B5EF4-FFF2-40B4-BE49-F238E27FC236}">
                <a16:creationId xmlns:a16="http://schemas.microsoft.com/office/drawing/2014/main" id="{F3D9CAC0-C37D-FCC3-274B-9D617C580A49}"/>
              </a:ext>
            </a:extLst>
          </p:cNvPr>
          <p:cNvSpPr>
            <a:spLocks noChangeAspect="1"/>
          </p:cNvSpPr>
          <p:nvPr/>
        </p:nvSpPr>
        <p:spPr bwMode="auto">
          <a:xfrm>
            <a:off x="9201505" y="3074409"/>
            <a:ext cx="295497" cy="296011"/>
          </a:xfrm>
          <a:prstGeom prst="flowChartConnector">
            <a:avLst/>
          </a:prstGeom>
          <a:solidFill>
            <a:srgbClr val="C03BC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a:solidFill>
                  <a:schemeClr val="bg1"/>
                </a:solidFill>
                <a:ea typeface="Segoe UI" pitchFamily="34" charset="0"/>
                <a:cs typeface="Segoe UI" pitchFamily="34" charset="0"/>
              </a:rPr>
              <a:t>2</a:t>
            </a:r>
          </a:p>
        </p:txBody>
      </p:sp>
      <p:sp>
        <p:nvSpPr>
          <p:cNvPr id="20" name="Rectangle: Rounded Corners 7"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E60CB355-BF41-3D0C-8F0C-1A8223224843}"/>
              </a:ext>
              <a:ext uri="{C183D7F6-B498-43B3-948B-1728B52AA6E4}">
                <adec:decorative xmlns:adec="http://schemas.microsoft.com/office/drawing/2017/decorative" val="0"/>
              </a:ext>
            </a:extLst>
          </p:cNvPr>
          <p:cNvSpPr/>
          <p:nvPr/>
        </p:nvSpPr>
        <p:spPr bwMode="auto">
          <a:xfrm>
            <a:off x="6666710" y="4139598"/>
            <a:ext cx="2078362" cy="887484"/>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r>
              <a:rPr lang="en-US" sz="1200" b="1">
                <a:solidFill>
                  <a:schemeClr val="tx1"/>
                </a:solidFill>
                <a:latin typeface="+mj-lt"/>
                <a:cs typeface="Segoe Sans Text" pitchFamily="2" charset="0"/>
              </a:rPr>
              <a:t>User message</a:t>
            </a:r>
          </a:p>
          <a:p>
            <a:pPr defTabSz="932472" fontAlgn="base">
              <a:spcBef>
                <a:spcPct val="0"/>
              </a:spcBef>
              <a:spcAft>
                <a:spcPct val="0"/>
              </a:spcAft>
            </a:pPr>
            <a:r>
              <a:rPr lang="en-US" sz="1200">
                <a:solidFill>
                  <a:schemeClr val="tx1"/>
                </a:solidFill>
                <a:latin typeface="Segoe Sans Text"/>
                <a:cs typeface="Segoe Sans Text" pitchFamily="2" charset="0"/>
              </a:rPr>
              <a:t>Show as a pie chart</a:t>
            </a:r>
          </a:p>
        </p:txBody>
      </p:sp>
      <p:sp>
        <p:nvSpPr>
          <p:cNvPr id="21" name="Rectangle: Rounded Corners 13"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2C840F82-4FFF-C572-A7D4-680FDBE85BAD}"/>
              </a:ext>
              <a:ext uri="{C183D7F6-B498-43B3-948B-1728B52AA6E4}">
                <adec:decorative xmlns:adec="http://schemas.microsoft.com/office/drawing/2017/decorative" val="0"/>
              </a:ext>
            </a:extLst>
          </p:cNvPr>
          <p:cNvSpPr/>
          <p:nvPr/>
        </p:nvSpPr>
        <p:spPr bwMode="auto">
          <a:xfrm>
            <a:off x="6666709" y="5072226"/>
            <a:ext cx="2090524" cy="1375049"/>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en-US" sz="1200" b="1">
                <a:solidFill>
                  <a:schemeClr val="tx1"/>
                </a:solidFill>
                <a:latin typeface="+mj-lt"/>
                <a:cs typeface="Segoe Sans Text" pitchFamily="2" charset="0"/>
              </a:rPr>
              <a:t>Agent message</a:t>
            </a:r>
          </a:p>
          <a:p>
            <a:pPr defTabSz="932472" fontAlgn="base">
              <a:spcBef>
                <a:spcPct val="0"/>
              </a:spcBef>
              <a:spcAft>
                <a:spcPct val="0"/>
              </a:spcAft>
            </a:pPr>
            <a:endParaRPr lang="en-US" sz="1200" b="1">
              <a:solidFill>
                <a:schemeClr val="tx1"/>
              </a:solidFill>
              <a:latin typeface="Segoe Sans Text"/>
              <a:cs typeface="Segoe Sans Text" pitchFamily="2" charset="0"/>
            </a:endParaRPr>
          </a:p>
        </p:txBody>
      </p:sp>
      <p:sp>
        <p:nvSpPr>
          <p:cNvPr id="22" name="Rectangle: Rounded Corners 21"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7E0ABD8F-45C6-1A33-0FC0-FD78E5C75A1E}"/>
              </a:ext>
              <a:ext uri="{C183D7F6-B498-43B3-948B-1728B52AA6E4}">
                <adec:decorative xmlns:adec="http://schemas.microsoft.com/office/drawing/2017/decorative" val="0"/>
              </a:ext>
            </a:extLst>
          </p:cNvPr>
          <p:cNvSpPr/>
          <p:nvPr/>
        </p:nvSpPr>
        <p:spPr bwMode="auto">
          <a:xfrm>
            <a:off x="9422361" y="4409580"/>
            <a:ext cx="2046395" cy="1131476"/>
          </a:xfrm>
          <a:prstGeom prst="roundRect">
            <a:avLst>
              <a:gd name="adj" fmla="val 6998"/>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defTabSz="932472" fontAlgn="base">
              <a:spcBef>
                <a:spcPct val="0"/>
              </a:spcBef>
              <a:spcAft>
                <a:spcPct val="0"/>
              </a:spcAft>
            </a:pPr>
            <a:endParaRPr lang="en-US" sz="1400" b="1">
              <a:solidFill>
                <a:schemeClr val="tx1"/>
              </a:solidFill>
              <a:latin typeface="Segoe Sans Text"/>
              <a:cs typeface="Segoe Sans Text" pitchFamily="2" charset="0"/>
            </a:endParaRPr>
          </a:p>
          <a:p>
            <a:pPr defTabSz="932472" fontAlgn="base">
              <a:spcBef>
                <a:spcPct val="0"/>
              </a:spcBef>
              <a:spcAft>
                <a:spcPct val="0"/>
              </a:spcAft>
            </a:pPr>
            <a:r>
              <a:rPr lang="en-US" sz="1400" b="1">
                <a:solidFill>
                  <a:schemeClr val="tx1"/>
                </a:solidFill>
                <a:latin typeface="Segoe Sans Text"/>
                <a:cs typeface="Segoe Sans Text" pitchFamily="2" charset="0"/>
              </a:rPr>
              <a:t>Code Interpreter Tool</a:t>
            </a:r>
          </a:p>
          <a:p>
            <a:pPr defTabSz="932472" fontAlgn="base">
              <a:spcBef>
                <a:spcPct val="0"/>
              </a:spcBef>
              <a:spcAft>
                <a:spcPct val="0"/>
              </a:spcAft>
            </a:pPr>
            <a:r>
              <a:rPr lang="en-US" sz="1200">
                <a:solidFill>
                  <a:schemeClr val="tx1"/>
                </a:solidFill>
                <a:latin typeface="Segoe Sans Text"/>
                <a:cs typeface="Segoe Sans Text" pitchFamily="2" charset="0"/>
              </a:rPr>
              <a:t>Create a pie chart</a:t>
            </a:r>
          </a:p>
        </p:txBody>
      </p:sp>
      <p:sp>
        <p:nvSpPr>
          <p:cNvPr id="23" name="Rectangle: Rounded Corners 22"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441C518B-3FBD-7A09-A0BF-4BE5C5E99C1C}"/>
              </a:ext>
              <a:ext uri="{C183D7F6-B498-43B3-948B-1728B52AA6E4}">
                <adec:decorative xmlns:adec="http://schemas.microsoft.com/office/drawing/2017/decorative" val="0"/>
              </a:ext>
            </a:extLst>
          </p:cNvPr>
          <p:cNvSpPr/>
          <p:nvPr/>
        </p:nvSpPr>
        <p:spPr bwMode="auto">
          <a:xfrm>
            <a:off x="9401046" y="5854814"/>
            <a:ext cx="1707479" cy="484915"/>
          </a:xfrm>
          <a:prstGeom prst="roundRect">
            <a:avLst>
              <a:gd name="adj" fmla="val 6998"/>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defTabSz="932472" fontAlgn="base">
              <a:spcBef>
                <a:spcPct val="0"/>
              </a:spcBef>
              <a:spcAft>
                <a:spcPct val="0"/>
              </a:spcAft>
            </a:pPr>
            <a:endParaRPr lang="en-US" sz="1400" b="1">
              <a:solidFill>
                <a:schemeClr val="tx1"/>
              </a:solidFill>
              <a:latin typeface="Segoe Sans Text"/>
              <a:cs typeface="Segoe Sans Text" pitchFamily="2" charset="0"/>
            </a:endParaRPr>
          </a:p>
          <a:p>
            <a:pPr defTabSz="932472" fontAlgn="base">
              <a:spcBef>
                <a:spcPct val="0"/>
              </a:spcBef>
              <a:spcAft>
                <a:spcPct val="0"/>
              </a:spcAft>
            </a:pPr>
            <a:endParaRPr lang="en-US" sz="1400" b="1">
              <a:solidFill>
                <a:schemeClr val="tx1"/>
              </a:solidFill>
              <a:latin typeface="Segoe Sans Text"/>
              <a:cs typeface="Segoe Sans Text" pitchFamily="2" charset="0"/>
            </a:endParaRPr>
          </a:p>
          <a:p>
            <a:pPr defTabSz="932472" fontAlgn="base">
              <a:spcBef>
                <a:spcPct val="0"/>
              </a:spcBef>
              <a:spcAft>
                <a:spcPct val="0"/>
              </a:spcAft>
            </a:pPr>
            <a:r>
              <a:rPr lang="en-US" sz="1400">
                <a:solidFill>
                  <a:schemeClr val="tx1"/>
                </a:solidFill>
                <a:latin typeface="Segoe Sans Text"/>
                <a:cs typeface="Segoe Sans Text" pitchFamily="2" charset="0"/>
              </a:rPr>
              <a:t>Create message</a:t>
            </a:r>
          </a:p>
        </p:txBody>
      </p:sp>
      <p:sp>
        <p:nvSpPr>
          <p:cNvPr id="24" name="Flowchart: Connector 25">
            <a:extLst>
              <a:ext uri="{FF2B5EF4-FFF2-40B4-BE49-F238E27FC236}">
                <a16:creationId xmlns:a16="http://schemas.microsoft.com/office/drawing/2014/main" id="{1C94A010-11C1-197F-47C1-E4CC86092AC0}"/>
              </a:ext>
            </a:extLst>
          </p:cNvPr>
          <p:cNvSpPr>
            <a:spLocks noChangeAspect="1"/>
          </p:cNvSpPr>
          <p:nvPr/>
        </p:nvSpPr>
        <p:spPr bwMode="auto">
          <a:xfrm>
            <a:off x="9201506" y="5869318"/>
            <a:ext cx="295497" cy="296011"/>
          </a:xfrm>
          <a:prstGeom prst="flowChartConnector">
            <a:avLst/>
          </a:prstGeom>
          <a:solidFill>
            <a:srgbClr val="C03BC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a:solidFill>
                  <a:schemeClr val="bg1"/>
                </a:solidFill>
                <a:ea typeface="Segoe UI" pitchFamily="34" charset="0"/>
                <a:cs typeface="Segoe UI" pitchFamily="34" charset="0"/>
              </a:rPr>
              <a:t>2</a:t>
            </a:r>
          </a:p>
        </p:txBody>
      </p:sp>
      <p:sp>
        <p:nvSpPr>
          <p:cNvPr id="25" name="Flowchart: Connector 27">
            <a:extLst>
              <a:ext uri="{FF2B5EF4-FFF2-40B4-BE49-F238E27FC236}">
                <a16:creationId xmlns:a16="http://schemas.microsoft.com/office/drawing/2014/main" id="{0192616C-74BB-FB69-BE1D-3B567F32616D}"/>
              </a:ext>
            </a:extLst>
          </p:cNvPr>
          <p:cNvSpPr>
            <a:spLocks noChangeAspect="1"/>
          </p:cNvSpPr>
          <p:nvPr/>
        </p:nvSpPr>
        <p:spPr bwMode="auto">
          <a:xfrm>
            <a:off x="9224211" y="4714736"/>
            <a:ext cx="295497" cy="296011"/>
          </a:xfrm>
          <a:prstGeom prst="flowChartConnector">
            <a:avLst/>
          </a:prstGeom>
          <a:solidFill>
            <a:srgbClr val="C03BC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a:solidFill>
                  <a:schemeClr val="bg1"/>
                </a:solidFill>
                <a:ea typeface="Segoe UI" pitchFamily="34" charset="0"/>
                <a:cs typeface="Segoe UI" pitchFamily="34" charset="0"/>
              </a:rPr>
              <a:t>1</a:t>
            </a:r>
          </a:p>
        </p:txBody>
      </p:sp>
      <p:sp>
        <p:nvSpPr>
          <p:cNvPr id="26" name="Rectangle: Rounded Corners 29"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F920BD8E-6DA3-E226-DD78-DC7C397D1E33}"/>
              </a:ext>
              <a:ext uri="{C183D7F6-B498-43B3-948B-1728B52AA6E4}">
                <adec:decorative xmlns:adec="http://schemas.microsoft.com/office/drawing/2017/decorative" val="0"/>
              </a:ext>
            </a:extLst>
          </p:cNvPr>
          <p:cNvSpPr/>
          <p:nvPr/>
        </p:nvSpPr>
        <p:spPr bwMode="auto">
          <a:xfrm>
            <a:off x="6637599" y="1302463"/>
            <a:ext cx="2255271" cy="935818"/>
          </a:xfrm>
          <a:prstGeom prst="roundRect">
            <a:avLst>
              <a:gd name="adj" fmla="val 6998"/>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r>
              <a:rPr lang="en-US" sz="2000" b="1">
                <a:solidFill>
                  <a:schemeClr val="tx1"/>
                </a:solidFill>
                <a:latin typeface="+mj-lt"/>
                <a:cs typeface="Segoe Sans Text" pitchFamily="2" charset="0"/>
              </a:rPr>
              <a:t>Thread</a:t>
            </a: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endParaRPr lang="en-US" sz="1200">
              <a:solidFill>
                <a:schemeClr val="tx1"/>
              </a:solidFill>
              <a:latin typeface="Segoe Sans Text"/>
              <a:cs typeface="Segoe Sans Text" pitchFamily="2" charset="0"/>
            </a:endParaRPr>
          </a:p>
        </p:txBody>
      </p:sp>
      <p:pic>
        <p:nvPicPr>
          <p:cNvPr id="27" name="Picture 26" descr="A blue square with a black star&#10;&#10;Description automatically generated">
            <a:extLst>
              <a:ext uri="{FF2B5EF4-FFF2-40B4-BE49-F238E27FC236}">
                <a16:creationId xmlns:a16="http://schemas.microsoft.com/office/drawing/2014/main" id="{53D8B229-9F72-F670-D8BF-2C6380BD563C}"/>
              </a:ext>
            </a:extLst>
          </p:cNvPr>
          <p:cNvPicPr>
            <a:picLocks noChangeAspect="1"/>
          </p:cNvPicPr>
          <p:nvPr/>
        </p:nvPicPr>
        <p:blipFill>
          <a:blip r:embed="rId3"/>
          <a:stretch>
            <a:fillRect/>
          </a:stretch>
        </p:blipFill>
        <p:spPr>
          <a:xfrm>
            <a:off x="769922" y="3704208"/>
            <a:ext cx="506697" cy="506697"/>
          </a:xfrm>
          <a:prstGeom prst="rect">
            <a:avLst/>
          </a:prstGeom>
        </p:spPr>
      </p:pic>
      <p:pic>
        <p:nvPicPr>
          <p:cNvPr id="28" name="Picture 2" descr="Meta for Work">
            <a:extLst>
              <a:ext uri="{FF2B5EF4-FFF2-40B4-BE49-F238E27FC236}">
                <a16:creationId xmlns:a16="http://schemas.microsoft.com/office/drawing/2014/main" id="{1296CBB8-D90D-7C0A-08F3-C6DB3AE7DBEB}"/>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76619" y="3663525"/>
            <a:ext cx="564448" cy="56444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Mistral AI logo">
            <a:extLst>
              <a:ext uri="{FF2B5EF4-FFF2-40B4-BE49-F238E27FC236}">
                <a16:creationId xmlns:a16="http://schemas.microsoft.com/office/drawing/2014/main" id="{E9D6CE6C-9892-363D-129F-8418C7226B33}"/>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18499" y="3765853"/>
            <a:ext cx="352249" cy="352249"/>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A black and green logo&#10;&#10;Description automatically generated">
            <a:extLst>
              <a:ext uri="{FF2B5EF4-FFF2-40B4-BE49-F238E27FC236}">
                <a16:creationId xmlns:a16="http://schemas.microsoft.com/office/drawing/2014/main" id="{F74EFB0B-EB25-C930-D487-9283377FF5D5}"/>
              </a:ext>
            </a:extLst>
          </p:cNvPr>
          <p:cNvPicPr>
            <a:picLocks noChangeAspect="1"/>
          </p:cNvPicPr>
          <p:nvPr/>
        </p:nvPicPr>
        <p:blipFill rotWithShape="1">
          <a:blip r:embed="rId6">
            <a:extLst>
              <a:ext uri="{28A0092B-C50C-407E-A947-70E740481C1C}">
                <a14:useLocalDpi xmlns:a14="http://schemas.microsoft.com/office/drawing/2010/main" val="0"/>
              </a:ext>
            </a:extLst>
          </a:blip>
          <a:srcRect t="-7491" r="80121"/>
          <a:stretch/>
        </p:blipFill>
        <p:spPr>
          <a:xfrm>
            <a:off x="2393125" y="3791504"/>
            <a:ext cx="348381" cy="307149"/>
          </a:xfrm>
          <a:prstGeom prst="rect">
            <a:avLst/>
          </a:prstGeom>
        </p:spPr>
      </p:pic>
      <p:grpSp>
        <p:nvGrpSpPr>
          <p:cNvPr id="31" name="Group 30">
            <a:extLst>
              <a:ext uri="{FF2B5EF4-FFF2-40B4-BE49-F238E27FC236}">
                <a16:creationId xmlns:a16="http://schemas.microsoft.com/office/drawing/2014/main" id="{02C498C4-277D-FCCD-DE0B-3102303B4609}"/>
              </a:ext>
            </a:extLst>
          </p:cNvPr>
          <p:cNvGrpSpPr/>
          <p:nvPr/>
        </p:nvGrpSpPr>
        <p:grpSpPr>
          <a:xfrm>
            <a:off x="723147" y="5218253"/>
            <a:ext cx="2478294" cy="400110"/>
            <a:chOff x="8025078" y="4037355"/>
            <a:chExt cx="2478294" cy="400110"/>
          </a:xfrm>
        </p:grpSpPr>
        <p:pic>
          <p:nvPicPr>
            <p:cNvPr id="32" name="Picture 4" descr="Pricing - Azure AI Search | Microsoft Azure">
              <a:extLst>
                <a:ext uri="{FF2B5EF4-FFF2-40B4-BE49-F238E27FC236}">
                  <a16:creationId xmlns:a16="http://schemas.microsoft.com/office/drawing/2014/main" id="{CBE89817-0028-E311-A32B-92A39670FA3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25078" y="4047919"/>
              <a:ext cx="553472" cy="290573"/>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27DA1BC7-4B07-727E-FEE7-562810AEED9E}"/>
                </a:ext>
              </a:extLst>
            </p:cNvPr>
            <p:cNvSpPr txBox="1"/>
            <p:nvPr/>
          </p:nvSpPr>
          <p:spPr>
            <a:xfrm>
              <a:off x="8477881" y="4037355"/>
              <a:ext cx="2025491" cy="400110"/>
            </a:xfrm>
            <a:prstGeom prst="rect">
              <a:avLst/>
            </a:prstGeom>
            <a:noFill/>
          </p:spPr>
          <p:txBody>
            <a:bodyPr wrap="none" rtlCol="0">
              <a:spAutoFit/>
            </a:bodyPr>
            <a:lstStyle/>
            <a:p>
              <a:pPr marR="0" lvl="0" defTabSz="932742" rtl="0" eaLnBrk="1" fontAlgn="auto" latinLnBrk="0" hangingPunct="1">
                <a:lnSpc>
                  <a:spcPct val="100000"/>
                </a:lnSpc>
                <a:spcBef>
                  <a:spcPts val="600"/>
                </a:spcBef>
                <a:spcAft>
                  <a:spcPts val="0"/>
                </a:spcAft>
                <a:buClrTx/>
                <a:buSzPct val="90000"/>
                <a:tabLst/>
                <a:defRPr/>
              </a:pPr>
              <a:r>
                <a:rPr kumimoji="0" lang="en-US" sz="2000" i="0" u="none" strike="noStrike" kern="1200" cap="none" spc="0" normalizeH="0" baseline="0" noProof="0">
                  <a:ln>
                    <a:noFill/>
                  </a:ln>
                  <a:effectLst/>
                  <a:uLnTx/>
                  <a:uFillTx/>
                  <a:ea typeface="+mn-ea"/>
                  <a:cs typeface="Segoe Sans Text" pitchFamily="2" charset="0"/>
                </a:rPr>
                <a:t>Azure AI Search</a:t>
              </a:r>
            </a:p>
          </p:txBody>
        </p:sp>
      </p:grpSp>
      <p:sp>
        <p:nvSpPr>
          <p:cNvPr id="34" name="TextBox 33">
            <a:extLst>
              <a:ext uri="{FF2B5EF4-FFF2-40B4-BE49-F238E27FC236}">
                <a16:creationId xmlns:a16="http://schemas.microsoft.com/office/drawing/2014/main" id="{C57073B4-FC72-4F07-FAA9-63920DD6E521}"/>
              </a:ext>
            </a:extLst>
          </p:cNvPr>
          <p:cNvSpPr txBox="1"/>
          <p:nvPr/>
        </p:nvSpPr>
        <p:spPr>
          <a:xfrm>
            <a:off x="1178468" y="5517105"/>
            <a:ext cx="2132122" cy="400110"/>
          </a:xfrm>
          <a:prstGeom prst="rect">
            <a:avLst/>
          </a:prstGeom>
          <a:noFill/>
        </p:spPr>
        <p:txBody>
          <a:bodyPr wrap="none" lIns="91440" tIns="45720" rIns="91440" bIns="45720" rtlCol="0" anchor="t">
            <a:spAutoFit/>
          </a:bodyPr>
          <a:lstStyle/>
          <a:p>
            <a:pPr defTabSz="932742">
              <a:spcBef>
                <a:spcPts val="600"/>
              </a:spcBef>
              <a:defRPr/>
            </a:pPr>
            <a:r>
              <a:rPr lang="en-US" sz="2000">
                <a:latin typeface="Segoe UI" panose="020B0502040204020203" pitchFamily="34" charset="0"/>
                <a:cs typeface="Segoe UI" panose="020B0502040204020203" pitchFamily="34" charset="0"/>
              </a:rPr>
              <a:t>Files (Azure Blob)</a:t>
            </a:r>
          </a:p>
        </p:txBody>
      </p:sp>
      <p:pic>
        <p:nvPicPr>
          <p:cNvPr id="35" name="Picture 34" descr="A blue and white rectangular object with white stripes&#10;&#10;Description automatically generated">
            <a:extLst>
              <a:ext uri="{FF2B5EF4-FFF2-40B4-BE49-F238E27FC236}">
                <a16:creationId xmlns:a16="http://schemas.microsoft.com/office/drawing/2014/main" id="{7EAEAB95-C14A-992C-DB7B-66BC9A1D6800}"/>
              </a:ext>
            </a:extLst>
          </p:cNvPr>
          <p:cNvPicPr>
            <a:picLocks noChangeAspect="1"/>
          </p:cNvPicPr>
          <p:nvPr/>
        </p:nvPicPr>
        <p:blipFill>
          <a:blip r:embed="rId8"/>
          <a:stretch>
            <a:fillRect/>
          </a:stretch>
        </p:blipFill>
        <p:spPr>
          <a:xfrm>
            <a:off x="869975" y="5552784"/>
            <a:ext cx="263332" cy="271528"/>
          </a:xfrm>
          <a:prstGeom prst="rect">
            <a:avLst/>
          </a:prstGeom>
        </p:spPr>
      </p:pic>
      <p:cxnSp>
        <p:nvCxnSpPr>
          <p:cNvPr id="36" name="Straight Arrow Connector 35">
            <a:extLst>
              <a:ext uri="{FF2B5EF4-FFF2-40B4-BE49-F238E27FC236}">
                <a16:creationId xmlns:a16="http://schemas.microsoft.com/office/drawing/2014/main" id="{BE1AC87B-E703-DBA3-8679-9B9909A46193}"/>
              </a:ext>
            </a:extLst>
          </p:cNvPr>
          <p:cNvCxnSpPr>
            <a:cxnSpLocks/>
          </p:cNvCxnSpPr>
          <p:nvPr/>
        </p:nvCxnSpPr>
        <p:spPr>
          <a:xfrm flipH="1">
            <a:off x="8745071" y="3209744"/>
            <a:ext cx="440583"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BF4CA9A-57AD-D600-51F6-2C0BBA3F28DF}"/>
              </a:ext>
            </a:extLst>
          </p:cNvPr>
          <p:cNvCxnSpPr>
            <a:endCxn id="18" idx="0"/>
          </p:cNvCxnSpPr>
          <p:nvPr/>
        </p:nvCxnSpPr>
        <p:spPr>
          <a:xfrm>
            <a:off x="9345856" y="2534563"/>
            <a:ext cx="3398" cy="539846"/>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DEA73E4-EEC1-8D16-5625-CBD18C5F7EBC}"/>
              </a:ext>
            </a:extLst>
          </p:cNvPr>
          <p:cNvCxnSpPr>
            <a:cxnSpLocks/>
          </p:cNvCxnSpPr>
          <p:nvPr/>
        </p:nvCxnSpPr>
        <p:spPr>
          <a:xfrm flipV="1">
            <a:off x="8758269" y="4862742"/>
            <a:ext cx="452744" cy="65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898DD51-0F5A-FC3C-F05C-01C49F213C37}"/>
              </a:ext>
            </a:extLst>
          </p:cNvPr>
          <p:cNvCxnSpPr>
            <a:cxnSpLocks/>
          </p:cNvCxnSpPr>
          <p:nvPr/>
        </p:nvCxnSpPr>
        <p:spPr>
          <a:xfrm flipH="1">
            <a:off x="8756356" y="5993877"/>
            <a:ext cx="440583"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B698D3C-F95A-8DD0-3DE1-29DF1953953E}"/>
              </a:ext>
            </a:extLst>
          </p:cNvPr>
          <p:cNvCxnSpPr>
            <a:cxnSpLocks/>
          </p:cNvCxnSpPr>
          <p:nvPr/>
        </p:nvCxnSpPr>
        <p:spPr>
          <a:xfrm>
            <a:off x="9367330" y="4997800"/>
            <a:ext cx="0" cy="863985"/>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83BF7DB2-2B85-1F10-6243-C17E820B0A7F}"/>
              </a:ext>
            </a:extLst>
          </p:cNvPr>
          <p:cNvPicPr>
            <a:picLocks noChangeAspect="1"/>
          </p:cNvPicPr>
          <p:nvPr/>
        </p:nvPicPr>
        <p:blipFill>
          <a:blip r:embed="rId9"/>
          <a:stretch>
            <a:fillRect/>
          </a:stretch>
        </p:blipFill>
        <p:spPr>
          <a:xfrm>
            <a:off x="7111858" y="5499880"/>
            <a:ext cx="1043327" cy="872961"/>
          </a:xfrm>
          <a:prstGeom prst="rect">
            <a:avLst/>
          </a:prstGeom>
        </p:spPr>
      </p:pic>
      <p:sp>
        <p:nvSpPr>
          <p:cNvPr id="43" name="TextBox 42">
            <a:extLst>
              <a:ext uri="{FF2B5EF4-FFF2-40B4-BE49-F238E27FC236}">
                <a16:creationId xmlns:a16="http://schemas.microsoft.com/office/drawing/2014/main" id="{F8B9BCB7-1CA0-4879-5CC7-41B1B7873EB9}"/>
              </a:ext>
            </a:extLst>
          </p:cNvPr>
          <p:cNvSpPr txBox="1"/>
          <p:nvPr/>
        </p:nvSpPr>
        <p:spPr>
          <a:xfrm>
            <a:off x="723147" y="1560713"/>
            <a:ext cx="5372853" cy="400110"/>
          </a:xfrm>
          <a:prstGeom prst="rect">
            <a:avLst/>
          </a:prstGeom>
          <a:noFill/>
        </p:spPr>
        <p:txBody>
          <a:bodyPr wrap="square">
            <a:spAutoFit/>
          </a:bodyPr>
          <a:lstStyle/>
          <a:p>
            <a:pPr defTabSz="932472" fontAlgn="base">
              <a:spcBef>
                <a:spcPct val="0"/>
              </a:spcBef>
              <a:spcAft>
                <a:spcPct val="0"/>
              </a:spcAft>
            </a:pPr>
            <a:r>
              <a:rPr lang="en-US" sz="2000" b="1">
                <a:solidFill>
                  <a:schemeClr val="tx1"/>
                </a:solidFill>
                <a:latin typeface="Segoe UI" panose="020B0502040204020203" pitchFamily="34" charset="0"/>
                <a:cs typeface="Segoe UI" panose="020B0502040204020203" pitchFamily="34" charset="0"/>
              </a:rPr>
              <a:t>Sales agent</a:t>
            </a:r>
            <a:endParaRPr lang="en-US" sz="1800" b="1">
              <a:solidFill>
                <a:schemeClr val="tx1"/>
              </a:solidFill>
              <a:latin typeface="Segoe UI" panose="020B0502040204020203" pitchFamily="34" charset="0"/>
              <a:cs typeface="Segoe UI" panose="020B0502040204020203" pitchFamily="34" charset="0"/>
            </a:endParaRPr>
          </a:p>
        </p:txBody>
      </p:sp>
      <p:sp>
        <p:nvSpPr>
          <p:cNvPr id="45" name="TextBox 44">
            <a:extLst>
              <a:ext uri="{FF2B5EF4-FFF2-40B4-BE49-F238E27FC236}">
                <a16:creationId xmlns:a16="http://schemas.microsoft.com/office/drawing/2014/main" id="{CAD6F2DC-AE22-6E29-B04A-BFA56B395F13}"/>
              </a:ext>
            </a:extLst>
          </p:cNvPr>
          <p:cNvSpPr txBox="1"/>
          <p:nvPr/>
        </p:nvSpPr>
        <p:spPr>
          <a:xfrm>
            <a:off x="723147" y="2147863"/>
            <a:ext cx="5726399" cy="923330"/>
          </a:xfrm>
          <a:prstGeom prst="rect">
            <a:avLst/>
          </a:prstGeom>
          <a:noFill/>
        </p:spPr>
        <p:txBody>
          <a:bodyPr wrap="square">
            <a:spAutoFit/>
          </a:bodyPr>
          <a:lstStyle/>
          <a:p>
            <a:pPr defTabSz="932472" fontAlgn="base">
              <a:spcBef>
                <a:spcPct val="0"/>
              </a:spcBef>
              <a:spcAft>
                <a:spcPct val="0"/>
              </a:spcAft>
            </a:pPr>
            <a:r>
              <a:rPr lang="en-US" sz="1800" b="1">
                <a:solidFill>
                  <a:schemeClr val="tx1"/>
                </a:solidFill>
                <a:latin typeface="Segoe Sans Text"/>
                <a:cs typeface="Segoe Sans Text" pitchFamily="2" charset="0"/>
              </a:rPr>
              <a:t>Instructions: </a:t>
            </a:r>
            <a:r>
              <a:rPr lang="en-US" sz="1800">
                <a:solidFill>
                  <a:schemeClr val="tx1"/>
                </a:solidFill>
                <a:latin typeface="Segoe Sans Text"/>
                <a:cs typeface="Segoe Sans Text" pitchFamily="2" charset="0"/>
              </a:rPr>
              <a:t>You are an advanced sales analysis agent for Contoso, specializing in assisting users with sales data inquiries.</a:t>
            </a:r>
          </a:p>
        </p:txBody>
      </p:sp>
      <p:sp>
        <p:nvSpPr>
          <p:cNvPr id="47" name="TextBox 46">
            <a:extLst>
              <a:ext uri="{FF2B5EF4-FFF2-40B4-BE49-F238E27FC236}">
                <a16:creationId xmlns:a16="http://schemas.microsoft.com/office/drawing/2014/main" id="{FFAF03D9-396A-8CBC-BB92-CD4068D1CF13}"/>
              </a:ext>
            </a:extLst>
          </p:cNvPr>
          <p:cNvSpPr txBox="1"/>
          <p:nvPr/>
        </p:nvSpPr>
        <p:spPr>
          <a:xfrm>
            <a:off x="723147" y="4790652"/>
            <a:ext cx="2397878" cy="369332"/>
          </a:xfrm>
          <a:prstGeom prst="rect">
            <a:avLst/>
          </a:prstGeom>
          <a:noFill/>
        </p:spPr>
        <p:txBody>
          <a:bodyPr wrap="square">
            <a:spAutoFit/>
          </a:bodyPr>
          <a:lstStyle/>
          <a:p>
            <a:pPr defTabSz="932472" fontAlgn="base">
              <a:spcBef>
                <a:spcPct val="0"/>
              </a:spcBef>
              <a:spcAft>
                <a:spcPct val="0"/>
              </a:spcAft>
            </a:pPr>
            <a:r>
              <a:rPr lang="en-US" sz="1800" b="1">
                <a:solidFill>
                  <a:schemeClr val="tx1"/>
                </a:solidFill>
                <a:latin typeface="Segoe Sans Text"/>
                <a:cs typeface="Segoe Sans Text" pitchFamily="2" charset="0"/>
              </a:rPr>
              <a:t>Data</a:t>
            </a:r>
            <a:endParaRPr lang="en-US" sz="1100" b="1">
              <a:solidFill>
                <a:schemeClr val="tx1"/>
              </a:solidFill>
              <a:latin typeface="Segoe Sans Text"/>
              <a:cs typeface="Segoe Sans Text" pitchFamily="2" charset="0"/>
            </a:endParaRPr>
          </a:p>
        </p:txBody>
      </p:sp>
      <p:sp>
        <p:nvSpPr>
          <p:cNvPr id="49" name="TextBox 48">
            <a:extLst>
              <a:ext uri="{FF2B5EF4-FFF2-40B4-BE49-F238E27FC236}">
                <a16:creationId xmlns:a16="http://schemas.microsoft.com/office/drawing/2014/main" id="{311D8DCB-F239-A31B-31BC-633C145400A1}"/>
              </a:ext>
            </a:extLst>
          </p:cNvPr>
          <p:cNvSpPr txBox="1"/>
          <p:nvPr/>
        </p:nvSpPr>
        <p:spPr>
          <a:xfrm>
            <a:off x="723147" y="3258233"/>
            <a:ext cx="2023534" cy="369332"/>
          </a:xfrm>
          <a:prstGeom prst="rect">
            <a:avLst/>
          </a:prstGeom>
          <a:noFill/>
        </p:spPr>
        <p:txBody>
          <a:bodyPr wrap="square">
            <a:spAutoFit/>
          </a:bodyPr>
          <a:lstStyle/>
          <a:p>
            <a:pPr defTabSz="932472" fontAlgn="base">
              <a:spcBef>
                <a:spcPct val="0"/>
              </a:spcBef>
              <a:spcAft>
                <a:spcPct val="0"/>
              </a:spcAft>
            </a:pPr>
            <a:r>
              <a:rPr lang="en-US" sz="1800" b="1">
                <a:solidFill>
                  <a:schemeClr val="tx1"/>
                </a:solidFill>
                <a:latin typeface="Segoe Sans Text"/>
                <a:cs typeface="Segoe Sans Text" pitchFamily="2" charset="0"/>
              </a:rPr>
              <a:t>Model</a:t>
            </a:r>
          </a:p>
        </p:txBody>
      </p:sp>
      <p:sp>
        <p:nvSpPr>
          <p:cNvPr id="51" name="TextBox 50">
            <a:extLst>
              <a:ext uri="{FF2B5EF4-FFF2-40B4-BE49-F238E27FC236}">
                <a16:creationId xmlns:a16="http://schemas.microsoft.com/office/drawing/2014/main" id="{41F44E58-6C0F-C07D-9B0A-EDE6DEF93FC8}"/>
              </a:ext>
            </a:extLst>
          </p:cNvPr>
          <p:cNvSpPr txBox="1"/>
          <p:nvPr/>
        </p:nvSpPr>
        <p:spPr>
          <a:xfrm>
            <a:off x="3820884" y="3222414"/>
            <a:ext cx="2549255" cy="2800767"/>
          </a:xfrm>
          <a:prstGeom prst="rect">
            <a:avLst/>
          </a:prstGeom>
          <a:noFill/>
        </p:spPr>
        <p:txBody>
          <a:bodyPr wrap="square">
            <a:spAutoFit/>
          </a:bodyPr>
          <a:lstStyle/>
          <a:p>
            <a:pPr defTabSz="932472" fontAlgn="base">
              <a:spcBef>
                <a:spcPct val="0"/>
              </a:spcBef>
              <a:spcAft>
                <a:spcPct val="0"/>
              </a:spcAft>
            </a:pPr>
            <a:r>
              <a:rPr lang="en-US" sz="2000" b="1">
                <a:latin typeface="Segoe Sans Text"/>
                <a:cs typeface="Segoe Sans Text" pitchFamily="2" charset="0"/>
              </a:rPr>
              <a:t>Tools</a:t>
            </a:r>
          </a:p>
          <a:p>
            <a:pPr defTabSz="932472" fontAlgn="base">
              <a:spcBef>
                <a:spcPct val="0"/>
              </a:spcBef>
              <a:spcAft>
                <a:spcPct val="0"/>
              </a:spcAft>
            </a:pPr>
            <a:endParaRPr lang="en-US" sz="1200" b="1">
              <a:solidFill>
                <a:schemeClr val="tx1"/>
              </a:solidFill>
              <a:latin typeface="Segoe Sans Text"/>
              <a:cs typeface="Segoe Sans Text" pitchFamily="2" charset="0"/>
            </a:endParaRPr>
          </a:p>
          <a:p>
            <a:pPr defTabSz="932472" fontAlgn="base">
              <a:spcBef>
                <a:spcPct val="0"/>
              </a:spcBef>
              <a:spcAft>
                <a:spcPct val="0"/>
              </a:spcAft>
            </a:pPr>
            <a:r>
              <a:rPr lang="en-US" sz="1800">
                <a:solidFill>
                  <a:schemeClr val="tx1"/>
                </a:solidFill>
                <a:latin typeface="Segoe Sans Text"/>
                <a:cs typeface="Segoe Sans Text" pitchFamily="2" charset="0"/>
              </a:rPr>
              <a:t>File Search</a:t>
            </a:r>
            <a:br>
              <a:rPr lang="en-US" sz="1800">
                <a:solidFill>
                  <a:schemeClr val="tx1"/>
                </a:solidFill>
                <a:latin typeface="Segoe Sans Text"/>
                <a:cs typeface="Segoe Sans Text" pitchFamily="2" charset="0"/>
              </a:rPr>
            </a:br>
            <a:r>
              <a:rPr lang="en-US" sz="1800">
                <a:solidFill>
                  <a:schemeClr val="tx1"/>
                </a:solidFill>
                <a:latin typeface="Segoe Sans Text"/>
                <a:cs typeface="Segoe Sans Text" pitchFamily="2" charset="0"/>
              </a:rPr>
              <a:t>Code Interpreter</a:t>
            </a:r>
          </a:p>
          <a:p>
            <a:pPr defTabSz="932472" fontAlgn="base">
              <a:spcBef>
                <a:spcPct val="0"/>
              </a:spcBef>
              <a:spcAft>
                <a:spcPct val="0"/>
              </a:spcAft>
            </a:pPr>
            <a:r>
              <a:rPr lang="en-US" sz="1800">
                <a:solidFill>
                  <a:schemeClr val="tx1"/>
                </a:solidFill>
                <a:latin typeface="Segoe Sans Text"/>
                <a:cs typeface="Segoe Sans Text" pitchFamily="2" charset="0"/>
              </a:rPr>
              <a:t>Query SQLite</a:t>
            </a:r>
            <a:br>
              <a:rPr lang="en-US" sz="1800">
                <a:solidFill>
                  <a:schemeClr val="tx1"/>
                </a:solidFill>
                <a:latin typeface="Segoe Sans Text"/>
                <a:cs typeface="Segoe Sans Text" pitchFamily="2" charset="0"/>
              </a:rPr>
            </a:br>
            <a:r>
              <a:rPr lang="en-US" sz="1800">
                <a:solidFill>
                  <a:schemeClr val="tx1"/>
                </a:solidFill>
                <a:latin typeface="Segoe Sans Text"/>
                <a:cs typeface="Segoe Sans Text" pitchFamily="2" charset="0"/>
              </a:rPr>
              <a:t>Bing Search</a:t>
            </a:r>
            <a:br>
              <a:rPr lang="en-US" sz="1800">
                <a:solidFill>
                  <a:schemeClr val="tx1"/>
                </a:solidFill>
                <a:latin typeface="Segoe Sans Text"/>
                <a:cs typeface="Segoe Sans Text" pitchFamily="2" charset="0"/>
              </a:rPr>
            </a:br>
            <a:r>
              <a:rPr lang="en-US" sz="1800">
                <a:solidFill>
                  <a:schemeClr val="tx1"/>
                </a:solidFill>
                <a:latin typeface="Segoe Sans Text"/>
                <a:cs typeface="Segoe Sans Text" pitchFamily="2" charset="0"/>
              </a:rPr>
              <a:t>Microsoft SharePoint</a:t>
            </a:r>
          </a:p>
          <a:p>
            <a:pPr defTabSz="932472" fontAlgn="base">
              <a:spcBef>
                <a:spcPct val="0"/>
              </a:spcBef>
              <a:spcAft>
                <a:spcPct val="0"/>
              </a:spcAft>
            </a:pPr>
            <a:r>
              <a:rPr lang="en-US" sz="1800">
                <a:solidFill>
                  <a:schemeClr val="tx1"/>
                </a:solidFill>
                <a:latin typeface="Segoe Sans Text"/>
                <a:cs typeface="Segoe Sans Text" pitchFamily="2" charset="0"/>
              </a:rPr>
              <a:t>Microsoft Fabric</a:t>
            </a:r>
            <a:br>
              <a:rPr lang="en-US" sz="1800">
                <a:solidFill>
                  <a:schemeClr val="tx1"/>
                </a:solidFill>
                <a:latin typeface="Segoe Sans Text"/>
                <a:cs typeface="Segoe Sans Text" pitchFamily="2" charset="0"/>
              </a:rPr>
            </a:br>
            <a:r>
              <a:rPr lang="en-US" sz="1800">
                <a:solidFill>
                  <a:schemeClr val="tx1"/>
                </a:solidFill>
                <a:latin typeface="Segoe Sans Text"/>
                <a:cs typeface="Segoe Sans Text" pitchFamily="2" charset="0"/>
              </a:rPr>
              <a:t>Azure Logic Apps</a:t>
            </a:r>
          </a:p>
          <a:p>
            <a:pPr defTabSz="932472" fontAlgn="base">
              <a:spcBef>
                <a:spcPct val="0"/>
              </a:spcBef>
              <a:spcAft>
                <a:spcPct val="0"/>
              </a:spcAft>
            </a:pPr>
            <a:r>
              <a:rPr lang="en-US" sz="1800">
                <a:solidFill>
                  <a:schemeClr val="tx1"/>
                </a:solidFill>
                <a:latin typeface="Segoe Sans Text"/>
                <a:cs typeface="Segoe Sans Text" pitchFamily="2" charset="0"/>
              </a:rPr>
              <a:t>Azure Functions</a:t>
            </a:r>
          </a:p>
        </p:txBody>
      </p:sp>
    </p:spTree>
    <p:extLst>
      <p:ext uri="{BB962C8B-B14F-4D97-AF65-F5344CB8AC3E}">
        <p14:creationId xmlns:p14="http://schemas.microsoft.com/office/powerpoint/2010/main" val="19535872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1" grpId="0" animBg="1"/>
      <p:bldP spid="12" grpId="0" animBg="1"/>
      <p:bldP spid="13" grpId="0"/>
      <p:bldP spid="14" grpId="0" animBg="1"/>
      <p:bldP spid="15" grpId="0"/>
      <p:bldP spid="16" grpId="0"/>
      <p:bldP spid="18" grpId="0" animBg="1"/>
      <p:bldP spid="20" grpId="0" animBg="1"/>
      <p:bldP spid="21" grpId="0" animBg="1"/>
      <p:bldP spid="22" grpId="0"/>
      <p:bldP spid="23" grpId="0"/>
      <p:bldP spid="24" grpId="0" animBg="1"/>
      <p:bldP spid="25" grpId="0" animBg="1"/>
      <p:bldP spid="26" grpId="0"/>
      <p:bldP spid="3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23862-9942-8B75-2431-4261184A4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7A612F-A877-8605-2E2E-4420F1D658B9}"/>
              </a:ext>
            </a:extLst>
          </p:cNvPr>
          <p:cNvSpPr>
            <a:spLocks noGrp="1"/>
          </p:cNvSpPr>
          <p:nvPr>
            <p:ph type="title"/>
          </p:nvPr>
        </p:nvSpPr>
        <p:spPr/>
        <p:txBody>
          <a:bodyPr/>
          <a:lstStyle/>
          <a:p>
            <a:r>
              <a:rPr lang="en-US" sz="3600" dirty="0">
                <a:solidFill>
                  <a:srgbClr val="000000"/>
                </a:solidFill>
              </a:rPr>
              <a:t>Tool integration in Agentic RAG</a:t>
            </a:r>
            <a:endParaRPr lang="en-US"/>
          </a:p>
        </p:txBody>
      </p:sp>
      <p:grpSp>
        <p:nvGrpSpPr>
          <p:cNvPr id="6" name="Group 3">
            <a:extLst>
              <a:ext uri="{FF2B5EF4-FFF2-40B4-BE49-F238E27FC236}">
                <a16:creationId xmlns:a16="http://schemas.microsoft.com/office/drawing/2014/main" id="{6F0EA510-8463-C91D-CCA6-61E7378999D2}"/>
              </a:ext>
            </a:extLst>
          </p:cNvPr>
          <p:cNvGrpSpPr/>
          <p:nvPr/>
        </p:nvGrpSpPr>
        <p:grpSpPr>
          <a:xfrm>
            <a:off x="101788" y="2648549"/>
            <a:ext cx="2397679" cy="1541983"/>
            <a:chOff x="0" y="-57150"/>
            <a:chExt cx="694382" cy="446568"/>
          </a:xfrm>
        </p:grpSpPr>
        <p:sp>
          <p:nvSpPr>
            <p:cNvPr id="7" name="Freeform 4">
              <a:extLst>
                <a:ext uri="{FF2B5EF4-FFF2-40B4-BE49-F238E27FC236}">
                  <a16:creationId xmlns:a16="http://schemas.microsoft.com/office/drawing/2014/main" id="{3D173E45-AC21-1FC3-38EF-975BA36388BD}"/>
                </a:ext>
              </a:extLst>
            </p:cNvPr>
            <p:cNvSpPr/>
            <p:nvPr/>
          </p:nvSpPr>
          <p:spPr>
            <a:xfrm>
              <a:off x="29392" y="-3283"/>
              <a:ext cx="540951" cy="389418"/>
            </a:xfrm>
            <a:custGeom>
              <a:avLst/>
              <a:gdLst/>
              <a:ahLst/>
              <a:cxnLst/>
              <a:rect l="l" t="t" r="r" b="b"/>
              <a:pathLst>
                <a:path w="694382" h="389418">
                  <a:moveTo>
                    <a:pt x="164675" y="0"/>
                  </a:moveTo>
                  <a:lnTo>
                    <a:pt x="529707" y="0"/>
                  </a:lnTo>
                  <a:cubicBezTo>
                    <a:pt x="573381" y="0"/>
                    <a:pt x="615267" y="17350"/>
                    <a:pt x="646150" y="48232"/>
                  </a:cubicBezTo>
                  <a:cubicBezTo>
                    <a:pt x="677032" y="79115"/>
                    <a:pt x="694382" y="121001"/>
                    <a:pt x="694382" y="164675"/>
                  </a:cubicBezTo>
                  <a:lnTo>
                    <a:pt x="694382" y="224742"/>
                  </a:lnTo>
                  <a:cubicBezTo>
                    <a:pt x="694382" y="268417"/>
                    <a:pt x="677032" y="310303"/>
                    <a:pt x="646150" y="341185"/>
                  </a:cubicBezTo>
                  <a:cubicBezTo>
                    <a:pt x="615267" y="372068"/>
                    <a:pt x="573381" y="389418"/>
                    <a:pt x="529707" y="389418"/>
                  </a:cubicBezTo>
                  <a:lnTo>
                    <a:pt x="164675" y="389418"/>
                  </a:lnTo>
                  <a:cubicBezTo>
                    <a:pt x="121001" y="389418"/>
                    <a:pt x="79115" y="372068"/>
                    <a:pt x="48232" y="341185"/>
                  </a:cubicBezTo>
                  <a:cubicBezTo>
                    <a:pt x="17350" y="310303"/>
                    <a:pt x="0" y="268417"/>
                    <a:pt x="0" y="224742"/>
                  </a:cubicBezTo>
                  <a:lnTo>
                    <a:pt x="0" y="164675"/>
                  </a:lnTo>
                  <a:cubicBezTo>
                    <a:pt x="0" y="121001"/>
                    <a:pt x="17350" y="79115"/>
                    <a:pt x="48232" y="48232"/>
                  </a:cubicBezTo>
                  <a:cubicBezTo>
                    <a:pt x="79115" y="17350"/>
                    <a:pt x="121001" y="0"/>
                    <a:pt x="164675" y="0"/>
                  </a:cubicBezTo>
                  <a:close/>
                </a:path>
              </a:pathLst>
            </a:custGeom>
            <a:solidFill>
              <a:srgbClr val="217CE9"/>
            </a:solidFill>
          </p:spPr>
          <p:txBody>
            <a:bodyPr/>
            <a:lstStyle/>
            <a:p>
              <a:endParaRPr lang="en-US"/>
            </a:p>
          </p:txBody>
        </p:sp>
        <p:sp>
          <p:nvSpPr>
            <p:cNvPr id="8" name="TextBox 5">
              <a:extLst>
                <a:ext uri="{FF2B5EF4-FFF2-40B4-BE49-F238E27FC236}">
                  <a16:creationId xmlns:a16="http://schemas.microsoft.com/office/drawing/2014/main" id="{4BDA5622-E4AD-46F7-095D-45F815C802FB}"/>
                </a:ext>
              </a:extLst>
            </p:cNvPr>
            <p:cNvSpPr txBox="1"/>
            <p:nvPr/>
          </p:nvSpPr>
          <p:spPr>
            <a:xfrm>
              <a:off x="0" y="-57150"/>
              <a:ext cx="694382" cy="446568"/>
            </a:xfrm>
            <a:prstGeom prst="rect">
              <a:avLst/>
            </a:prstGeom>
          </p:spPr>
          <p:txBody>
            <a:bodyPr lIns="50800" tIns="50800" rIns="50800" bIns="50800" rtlCol="0" anchor="ctr"/>
            <a:lstStyle/>
            <a:p>
              <a:pPr algn="ctr">
                <a:lnSpc>
                  <a:spcPts val="3500"/>
                </a:lnSpc>
              </a:pPr>
              <a:endParaRPr/>
            </a:p>
          </p:txBody>
        </p:sp>
      </p:grpSp>
      <p:sp>
        <p:nvSpPr>
          <p:cNvPr id="9" name="TextBox 6">
            <a:extLst>
              <a:ext uri="{FF2B5EF4-FFF2-40B4-BE49-F238E27FC236}">
                <a16:creationId xmlns:a16="http://schemas.microsoft.com/office/drawing/2014/main" id="{FC102710-8A5C-C8E3-8F10-0DC04A44482B}"/>
              </a:ext>
            </a:extLst>
          </p:cNvPr>
          <p:cNvSpPr txBox="1"/>
          <p:nvPr/>
        </p:nvSpPr>
        <p:spPr>
          <a:xfrm>
            <a:off x="312956" y="2946680"/>
            <a:ext cx="1561534" cy="945131"/>
          </a:xfrm>
          <a:prstGeom prst="rect">
            <a:avLst/>
          </a:prstGeom>
        </p:spPr>
        <p:txBody>
          <a:bodyPr wrap="square" lIns="0" tIns="0" rIns="0" bIns="0" rtlCol="0" anchor="t">
            <a:spAutoFit/>
          </a:bodyPr>
          <a:lstStyle/>
          <a:p>
            <a:pPr algn="ctr">
              <a:lnSpc>
                <a:spcPts val="3819"/>
              </a:lnSpc>
            </a:pPr>
            <a:r>
              <a:rPr lang="en-US" sz="2728" b="1">
                <a:solidFill>
                  <a:srgbClr val="FFFFFF"/>
                </a:solidFill>
                <a:latin typeface="Poppins Bold"/>
                <a:ea typeface="Poppins Bold"/>
                <a:cs typeface="Poppins Bold"/>
                <a:sym typeface="Poppins Bold"/>
              </a:rPr>
              <a:t>LLM</a:t>
            </a:r>
          </a:p>
          <a:p>
            <a:pPr algn="ctr">
              <a:lnSpc>
                <a:spcPts val="3819"/>
              </a:lnSpc>
            </a:pPr>
            <a:r>
              <a:rPr lang="en-US" sz="2728" b="1">
                <a:solidFill>
                  <a:srgbClr val="FFFFFF"/>
                </a:solidFill>
                <a:latin typeface="Poppins Bold"/>
                <a:ea typeface="Poppins Bold"/>
                <a:cs typeface="Poppins Bold"/>
                <a:sym typeface="Poppins Bold"/>
              </a:rPr>
              <a:t>Analysis</a:t>
            </a:r>
          </a:p>
        </p:txBody>
      </p:sp>
      <p:grpSp>
        <p:nvGrpSpPr>
          <p:cNvPr id="14" name="Group 11">
            <a:extLst>
              <a:ext uri="{FF2B5EF4-FFF2-40B4-BE49-F238E27FC236}">
                <a16:creationId xmlns:a16="http://schemas.microsoft.com/office/drawing/2014/main" id="{1428FC21-6BBC-9E1A-551E-87FED6246E0D}"/>
              </a:ext>
            </a:extLst>
          </p:cNvPr>
          <p:cNvGrpSpPr/>
          <p:nvPr/>
        </p:nvGrpSpPr>
        <p:grpSpPr>
          <a:xfrm>
            <a:off x="3205686" y="1364473"/>
            <a:ext cx="3291551" cy="774840"/>
            <a:chOff x="0" y="-135160"/>
            <a:chExt cx="4388735" cy="1033121"/>
          </a:xfrm>
        </p:grpSpPr>
        <p:grpSp>
          <p:nvGrpSpPr>
            <p:cNvPr id="15" name="Group 12">
              <a:extLst>
                <a:ext uri="{FF2B5EF4-FFF2-40B4-BE49-F238E27FC236}">
                  <a16:creationId xmlns:a16="http://schemas.microsoft.com/office/drawing/2014/main" id="{43F9D732-2209-3AC8-CA28-0BA323F8C788}"/>
                </a:ext>
              </a:extLst>
            </p:cNvPr>
            <p:cNvGrpSpPr/>
            <p:nvPr/>
          </p:nvGrpSpPr>
          <p:grpSpPr>
            <a:xfrm>
              <a:off x="0" y="-135160"/>
              <a:ext cx="4388735" cy="1033121"/>
              <a:chOff x="0" y="-57150"/>
              <a:chExt cx="1855706" cy="436838"/>
            </a:xfrm>
          </p:grpSpPr>
          <p:sp>
            <p:nvSpPr>
              <p:cNvPr id="17" name="Freeform 13">
                <a:extLst>
                  <a:ext uri="{FF2B5EF4-FFF2-40B4-BE49-F238E27FC236}">
                    <a16:creationId xmlns:a16="http://schemas.microsoft.com/office/drawing/2014/main" id="{C4ED6435-CB70-CBFC-B849-C2CB44E410D2}"/>
                  </a:ext>
                </a:extLst>
              </p:cNvPr>
              <p:cNvSpPr/>
              <p:nvPr/>
            </p:nvSpPr>
            <p:spPr>
              <a:xfrm>
                <a:off x="1" y="0"/>
                <a:ext cx="1412250" cy="379688"/>
              </a:xfrm>
              <a:custGeom>
                <a:avLst/>
                <a:gdLst/>
                <a:ahLst/>
                <a:cxnLst/>
                <a:rect l="l" t="t" r="r" b="b"/>
                <a:pathLst>
                  <a:path w="1855706" h="379688">
                    <a:moveTo>
                      <a:pt x="81604" y="0"/>
                    </a:moveTo>
                    <a:lnTo>
                      <a:pt x="1774102" y="0"/>
                    </a:lnTo>
                    <a:cubicBezTo>
                      <a:pt x="1819171" y="0"/>
                      <a:pt x="1855706" y="36535"/>
                      <a:pt x="1855706" y="81604"/>
                    </a:cubicBezTo>
                    <a:lnTo>
                      <a:pt x="1855706" y="298085"/>
                    </a:lnTo>
                    <a:cubicBezTo>
                      <a:pt x="1855706" y="343153"/>
                      <a:pt x="1819171" y="379688"/>
                      <a:pt x="1774102" y="379688"/>
                    </a:cubicBezTo>
                    <a:lnTo>
                      <a:pt x="81604" y="379688"/>
                    </a:lnTo>
                    <a:cubicBezTo>
                      <a:pt x="36535" y="379688"/>
                      <a:pt x="0" y="343153"/>
                      <a:pt x="0" y="298085"/>
                    </a:cubicBezTo>
                    <a:lnTo>
                      <a:pt x="0" y="81604"/>
                    </a:lnTo>
                    <a:cubicBezTo>
                      <a:pt x="0" y="36535"/>
                      <a:pt x="36535" y="0"/>
                      <a:pt x="81604" y="0"/>
                    </a:cubicBezTo>
                    <a:close/>
                  </a:path>
                </a:pathLst>
              </a:custGeom>
              <a:solidFill>
                <a:srgbClr val="217CE9"/>
              </a:solidFill>
            </p:spPr>
            <p:txBody>
              <a:bodyPr/>
              <a:lstStyle/>
              <a:p>
                <a:endParaRPr lang="en-US"/>
              </a:p>
            </p:txBody>
          </p:sp>
          <p:sp>
            <p:nvSpPr>
              <p:cNvPr id="18" name="TextBox 14">
                <a:extLst>
                  <a:ext uri="{FF2B5EF4-FFF2-40B4-BE49-F238E27FC236}">
                    <a16:creationId xmlns:a16="http://schemas.microsoft.com/office/drawing/2014/main" id="{498024B0-7990-4C21-113A-1318A10303AE}"/>
                  </a:ext>
                </a:extLst>
              </p:cNvPr>
              <p:cNvSpPr txBox="1"/>
              <p:nvPr/>
            </p:nvSpPr>
            <p:spPr>
              <a:xfrm>
                <a:off x="0" y="-57150"/>
                <a:ext cx="1855706" cy="436838"/>
              </a:xfrm>
              <a:prstGeom prst="rect">
                <a:avLst/>
              </a:prstGeom>
            </p:spPr>
            <p:txBody>
              <a:bodyPr lIns="50800" tIns="50800" rIns="50800" bIns="50800" rtlCol="0" anchor="ctr"/>
              <a:lstStyle/>
              <a:p>
                <a:pPr algn="ctr">
                  <a:lnSpc>
                    <a:spcPts val="3500"/>
                  </a:lnSpc>
                </a:pPr>
                <a:endParaRPr/>
              </a:p>
            </p:txBody>
          </p:sp>
        </p:grpSp>
        <p:sp>
          <p:nvSpPr>
            <p:cNvPr id="16" name="TextBox 15">
              <a:extLst>
                <a:ext uri="{FF2B5EF4-FFF2-40B4-BE49-F238E27FC236}">
                  <a16:creationId xmlns:a16="http://schemas.microsoft.com/office/drawing/2014/main" id="{25C1DA3C-CF80-3607-CE9D-CD7C54070E16}"/>
                </a:ext>
              </a:extLst>
            </p:cNvPr>
            <p:cNvSpPr txBox="1"/>
            <p:nvPr/>
          </p:nvSpPr>
          <p:spPr>
            <a:xfrm>
              <a:off x="187129" y="125474"/>
              <a:ext cx="2801350" cy="546475"/>
            </a:xfrm>
            <a:prstGeom prst="rect">
              <a:avLst/>
            </a:prstGeom>
          </p:spPr>
          <p:txBody>
            <a:bodyPr wrap="square" lIns="0" tIns="0" rIns="0" bIns="0" rtlCol="0" anchor="t">
              <a:spAutoFit/>
            </a:bodyPr>
            <a:lstStyle/>
            <a:p>
              <a:pPr algn="ctr">
                <a:lnSpc>
                  <a:spcPts val="3425"/>
                </a:lnSpc>
                <a:spcBef>
                  <a:spcPct val="0"/>
                </a:spcBef>
              </a:pPr>
              <a:r>
                <a:rPr lang="en-US" sz="2446" b="1">
                  <a:solidFill>
                    <a:srgbClr val="FFFFFF"/>
                  </a:solidFill>
                  <a:latin typeface="Poppins Bold"/>
                  <a:ea typeface="Poppins Bold"/>
                  <a:cs typeface="Poppins Bold"/>
                  <a:sym typeface="Poppins Bold"/>
                </a:rPr>
                <a:t>Documents</a:t>
              </a:r>
            </a:p>
          </p:txBody>
        </p:sp>
      </p:grpSp>
      <p:sp>
        <p:nvSpPr>
          <p:cNvPr id="19" name="AutoShape 16">
            <a:extLst>
              <a:ext uri="{FF2B5EF4-FFF2-40B4-BE49-F238E27FC236}">
                <a16:creationId xmlns:a16="http://schemas.microsoft.com/office/drawing/2014/main" id="{597DD0B2-AC64-8315-8BE8-08A12A6C20BD}"/>
              </a:ext>
            </a:extLst>
          </p:cNvPr>
          <p:cNvSpPr/>
          <p:nvPr/>
        </p:nvSpPr>
        <p:spPr>
          <a:xfrm flipV="1">
            <a:off x="2071165" y="1810555"/>
            <a:ext cx="1115373" cy="1677589"/>
          </a:xfrm>
          <a:prstGeom prst="line">
            <a:avLst/>
          </a:prstGeom>
          <a:ln w="38100" cap="flat">
            <a:solidFill>
              <a:srgbClr val="000000"/>
            </a:solidFill>
            <a:prstDash val="solid"/>
            <a:headEnd type="none" w="sm" len="sm"/>
            <a:tailEnd type="triangle" w="lg" len="med"/>
          </a:ln>
        </p:spPr>
        <p:txBody>
          <a:bodyPr/>
          <a:lstStyle/>
          <a:p>
            <a:endParaRPr lang="en-US"/>
          </a:p>
        </p:txBody>
      </p:sp>
      <p:grpSp>
        <p:nvGrpSpPr>
          <p:cNvPr id="20" name="Group 17">
            <a:extLst>
              <a:ext uri="{FF2B5EF4-FFF2-40B4-BE49-F238E27FC236}">
                <a16:creationId xmlns:a16="http://schemas.microsoft.com/office/drawing/2014/main" id="{DB65F0E4-D7E3-27C6-C15D-44304A16F478}"/>
              </a:ext>
            </a:extLst>
          </p:cNvPr>
          <p:cNvGrpSpPr/>
          <p:nvPr/>
        </p:nvGrpSpPr>
        <p:grpSpPr>
          <a:xfrm>
            <a:off x="3238852" y="2352268"/>
            <a:ext cx="3291551" cy="774840"/>
            <a:chOff x="0" y="-135160"/>
            <a:chExt cx="4388735" cy="1033121"/>
          </a:xfrm>
        </p:grpSpPr>
        <p:grpSp>
          <p:nvGrpSpPr>
            <p:cNvPr id="21" name="Group 18">
              <a:extLst>
                <a:ext uri="{FF2B5EF4-FFF2-40B4-BE49-F238E27FC236}">
                  <a16:creationId xmlns:a16="http://schemas.microsoft.com/office/drawing/2014/main" id="{7C9641D6-FA49-A558-668C-D8013B255F4A}"/>
                </a:ext>
              </a:extLst>
            </p:cNvPr>
            <p:cNvGrpSpPr/>
            <p:nvPr/>
          </p:nvGrpSpPr>
          <p:grpSpPr>
            <a:xfrm>
              <a:off x="0" y="-135160"/>
              <a:ext cx="4388735" cy="1033121"/>
              <a:chOff x="0" y="-57150"/>
              <a:chExt cx="1855706" cy="436838"/>
            </a:xfrm>
          </p:grpSpPr>
          <p:sp>
            <p:nvSpPr>
              <p:cNvPr id="23" name="Freeform 19">
                <a:extLst>
                  <a:ext uri="{FF2B5EF4-FFF2-40B4-BE49-F238E27FC236}">
                    <a16:creationId xmlns:a16="http://schemas.microsoft.com/office/drawing/2014/main" id="{4A97B675-DE2B-7CAD-9235-82FE53945A35}"/>
                  </a:ext>
                </a:extLst>
              </p:cNvPr>
              <p:cNvSpPr/>
              <p:nvPr/>
            </p:nvSpPr>
            <p:spPr>
              <a:xfrm>
                <a:off x="1" y="0"/>
                <a:ext cx="1393552" cy="379688"/>
              </a:xfrm>
              <a:custGeom>
                <a:avLst/>
                <a:gdLst/>
                <a:ahLst/>
                <a:cxnLst/>
                <a:rect l="l" t="t" r="r" b="b"/>
                <a:pathLst>
                  <a:path w="1855706" h="379688">
                    <a:moveTo>
                      <a:pt x="81604" y="0"/>
                    </a:moveTo>
                    <a:lnTo>
                      <a:pt x="1774102" y="0"/>
                    </a:lnTo>
                    <a:cubicBezTo>
                      <a:pt x="1819171" y="0"/>
                      <a:pt x="1855706" y="36535"/>
                      <a:pt x="1855706" y="81604"/>
                    </a:cubicBezTo>
                    <a:lnTo>
                      <a:pt x="1855706" y="298085"/>
                    </a:lnTo>
                    <a:cubicBezTo>
                      <a:pt x="1855706" y="343153"/>
                      <a:pt x="1819171" y="379688"/>
                      <a:pt x="1774102" y="379688"/>
                    </a:cubicBezTo>
                    <a:lnTo>
                      <a:pt x="81604" y="379688"/>
                    </a:lnTo>
                    <a:cubicBezTo>
                      <a:pt x="36535" y="379688"/>
                      <a:pt x="0" y="343153"/>
                      <a:pt x="0" y="298085"/>
                    </a:cubicBezTo>
                    <a:lnTo>
                      <a:pt x="0" y="81604"/>
                    </a:lnTo>
                    <a:cubicBezTo>
                      <a:pt x="0" y="36535"/>
                      <a:pt x="36535" y="0"/>
                      <a:pt x="81604" y="0"/>
                    </a:cubicBezTo>
                    <a:close/>
                  </a:path>
                </a:pathLst>
              </a:custGeom>
              <a:solidFill>
                <a:srgbClr val="217CE9"/>
              </a:solidFill>
            </p:spPr>
            <p:txBody>
              <a:bodyPr/>
              <a:lstStyle/>
              <a:p>
                <a:endParaRPr lang="en-US"/>
              </a:p>
            </p:txBody>
          </p:sp>
          <p:sp>
            <p:nvSpPr>
              <p:cNvPr id="24" name="TextBox 20">
                <a:extLst>
                  <a:ext uri="{FF2B5EF4-FFF2-40B4-BE49-F238E27FC236}">
                    <a16:creationId xmlns:a16="http://schemas.microsoft.com/office/drawing/2014/main" id="{139181A1-A9C0-1767-A704-8CDAEF4800D1}"/>
                  </a:ext>
                </a:extLst>
              </p:cNvPr>
              <p:cNvSpPr txBox="1"/>
              <p:nvPr/>
            </p:nvSpPr>
            <p:spPr>
              <a:xfrm>
                <a:off x="0" y="-57150"/>
                <a:ext cx="1855706" cy="436838"/>
              </a:xfrm>
              <a:prstGeom prst="rect">
                <a:avLst/>
              </a:prstGeom>
            </p:spPr>
            <p:txBody>
              <a:bodyPr lIns="50800" tIns="50800" rIns="50800" bIns="50800" rtlCol="0" anchor="ctr"/>
              <a:lstStyle/>
              <a:p>
                <a:pPr algn="ctr">
                  <a:lnSpc>
                    <a:spcPts val="3500"/>
                  </a:lnSpc>
                </a:pPr>
                <a:endParaRPr/>
              </a:p>
            </p:txBody>
          </p:sp>
        </p:grpSp>
        <p:sp>
          <p:nvSpPr>
            <p:cNvPr id="22" name="TextBox 21">
              <a:extLst>
                <a:ext uri="{FF2B5EF4-FFF2-40B4-BE49-F238E27FC236}">
                  <a16:creationId xmlns:a16="http://schemas.microsoft.com/office/drawing/2014/main" id="{5076DCD8-2754-CFDD-6F15-276DE56E839A}"/>
                </a:ext>
              </a:extLst>
            </p:cNvPr>
            <p:cNvSpPr txBox="1"/>
            <p:nvPr/>
          </p:nvSpPr>
          <p:spPr>
            <a:xfrm>
              <a:off x="187131" y="125474"/>
              <a:ext cx="2757127" cy="546475"/>
            </a:xfrm>
            <a:prstGeom prst="rect">
              <a:avLst/>
            </a:prstGeom>
          </p:spPr>
          <p:txBody>
            <a:bodyPr wrap="square" lIns="0" tIns="0" rIns="0" bIns="0" rtlCol="0" anchor="t">
              <a:spAutoFit/>
            </a:bodyPr>
            <a:lstStyle/>
            <a:p>
              <a:pPr algn="ctr">
                <a:lnSpc>
                  <a:spcPts val="3425"/>
                </a:lnSpc>
                <a:spcBef>
                  <a:spcPct val="0"/>
                </a:spcBef>
              </a:pPr>
              <a:r>
                <a:rPr lang="en-US" sz="2446" b="1">
                  <a:solidFill>
                    <a:srgbClr val="FFFFFF"/>
                  </a:solidFill>
                  <a:latin typeface="Poppins Bold"/>
                  <a:ea typeface="Poppins Bold"/>
                  <a:cs typeface="Poppins Bold"/>
                  <a:sym typeface="Poppins Bold"/>
                </a:rPr>
                <a:t>Database</a:t>
              </a:r>
            </a:p>
          </p:txBody>
        </p:sp>
      </p:grpSp>
      <p:grpSp>
        <p:nvGrpSpPr>
          <p:cNvPr id="25" name="Group 22">
            <a:extLst>
              <a:ext uri="{FF2B5EF4-FFF2-40B4-BE49-F238E27FC236}">
                <a16:creationId xmlns:a16="http://schemas.microsoft.com/office/drawing/2014/main" id="{A396843B-F8C2-9A3A-4881-B1291A5F132F}"/>
              </a:ext>
            </a:extLst>
          </p:cNvPr>
          <p:cNvGrpSpPr/>
          <p:nvPr/>
        </p:nvGrpSpPr>
        <p:grpSpPr>
          <a:xfrm>
            <a:off x="3301044" y="3337580"/>
            <a:ext cx="3291551" cy="774840"/>
            <a:chOff x="0" y="-135160"/>
            <a:chExt cx="4388735" cy="1033121"/>
          </a:xfrm>
        </p:grpSpPr>
        <p:grpSp>
          <p:nvGrpSpPr>
            <p:cNvPr id="26" name="Group 23">
              <a:extLst>
                <a:ext uri="{FF2B5EF4-FFF2-40B4-BE49-F238E27FC236}">
                  <a16:creationId xmlns:a16="http://schemas.microsoft.com/office/drawing/2014/main" id="{E32BB569-9518-AC4D-9145-BF3EB9DCB8A8}"/>
                </a:ext>
              </a:extLst>
            </p:cNvPr>
            <p:cNvGrpSpPr/>
            <p:nvPr/>
          </p:nvGrpSpPr>
          <p:grpSpPr>
            <a:xfrm>
              <a:off x="0" y="-135160"/>
              <a:ext cx="4388735" cy="1033121"/>
              <a:chOff x="0" y="-57150"/>
              <a:chExt cx="1855706" cy="436838"/>
            </a:xfrm>
          </p:grpSpPr>
          <p:sp>
            <p:nvSpPr>
              <p:cNvPr id="28" name="Freeform 24">
                <a:extLst>
                  <a:ext uri="{FF2B5EF4-FFF2-40B4-BE49-F238E27FC236}">
                    <a16:creationId xmlns:a16="http://schemas.microsoft.com/office/drawing/2014/main" id="{EBFD83B3-0615-2A91-D349-A0C8C3048BAE}"/>
                  </a:ext>
                </a:extLst>
              </p:cNvPr>
              <p:cNvSpPr/>
              <p:nvPr/>
            </p:nvSpPr>
            <p:spPr>
              <a:xfrm>
                <a:off x="1" y="0"/>
                <a:ext cx="1358490" cy="379688"/>
              </a:xfrm>
              <a:custGeom>
                <a:avLst/>
                <a:gdLst/>
                <a:ahLst/>
                <a:cxnLst/>
                <a:rect l="l" t="t" r="r" b="b"/>
                <a:pathLst>
                  <a:path w="1855706" h="379688">
                    <a:moveTo>
                      <a:pt x="81604" y="0"/>
                    </a:moveTo>
                    <a:lnTo>
                      <a:pt x="1774102" y="0"/>
                    </a:lnTo>
                    <a:cubicBezTo>
                      <a:pt x="1819171" y="0"/>
                      <a:pt x="1855706" y="36535"/>
                      <a:pt x="1855706" y="81604"/>
                    </a:cubicBezTo>
                    <a:lnTo>
                      <a:pt x="1855706" y="298085"/>
                    </a:lnTo>
                    <a:cubicBezTo>
                      <a:pt x="1855706" y="343153"/>
                      <a:pt x="1819171" y="379688"/>
                      <a:pt x="1774102" y="379688"/>
                    </a:cubicBezTo>
                    <a:lnTo>
                      <a:pt x="81604" y="379688"/>
                    </a:lnTo>
                    <a:cubicBezTo>
                      <a:pt x="36535" y="379688"/>
                      <a:pt x="0" y="343153"/>
                      <a:pt x="0" y="298085"/>
                    </a:cubicBezTo>
                    <a:lnTo>
                      <a:pt x="0" y="81604"/>
                    </a:lnTo>
                    <a:cubicBezTo>
                      <a:pt x="0" y="36535"/>
                      <a:pt x="36535" y="0"/>
                      <a:pt x="81604" y="0"/>
                    </a:cubicBezTo>
                    <a:close/>
                  </a:path>
                </a:pathLst>
              </a:custGeom>
              <a:solidFill>
                <a:srgbClr val="217CE9"/>
              </a:solidFill>
            </p:spPr>
            <p:txBody>
              <a:bodyPr/>
              <a:lstStyle/>
              <a:p>
                <a:endParaRPr lang="en-US"/>
              </a:p>
            </p:txBody>
          </p:sp>
          <p:sp>
            <p:nvSpPr>
              <p:cNvPr id="29" name="TextBox 25">
                <a:extLst>
                  <a:ext uri="{FF2B5EF4-FFF2-40B4-BE49-F238E27FC236}">
                    <a16:creationId xmlns:a16="http://schemas.microsoft.com/office/drawing/2014/main" id="{575967DD-806E-D2B2-73F0-F498EB3CA20F}"/>
                  </a:ext>
                </a:extLst>
              </p:cNvPr>
              <p:cNvSpPr txBox="1"/>
              <p:nvPr/>
            </p:nvSpPr>
            <p:spPr>
              <a:xfrm>
                <a:off x="0" y="-57150"/>
                <a:ext cx="1855706" cy="436838"/>
              </a:xfrm>
              <a:prstGeom prst="rect">
                <a:avLst/>
              </a:prstGeom>
            </p:spPr>
            <p:txBody>
              <a:bodyPr lIns="50800" tIns="50800" rIns="50800" bIns="50800" rtlCol="0" anchor="ctr"/>
              <a:lstStyle/>
              <a:p>
                <a:pPr algn="ctr">
                  <a:lnSpc>
                    <a:spcPts val="3500"/>
                  </a:lnSpc>
                </a:pPr>
                <a:endParaRPr/>
              </a:p>
            </p:txBody>
          </p:sp>
        </p:grpSp>
        <p:sp>
          <p:nvSpPr>
            <p:cNvPr id="27" name="TextBox 26">
              <a:extLst>
                <a:ext uri="{FF2B5EF4-FFF2-40B4-BE49-F238E27FC236}">
                  <a16:creationId xmlns:a16="http://schemas.microsoft.com/office/drawing/2014/main" id="{6DD1C14C-FDA4-5645-1F86-1387F86D875C}"/>
                </a:ext>
              </a:extLst>
            </p:cNvPr>
            <p:cNvSpPr txBox="1"/>
            <p:nvPr/>
          </p:nvSpPr>
          <p:spPr>
            <a:xfrm>
              <a:off x="187131" y="125474"/>
              <a:ext cx="2887464" cy="546475"/>
            </a:xfrm>
            <a:prstGeom prst="rect">
              <a:avLst/>
            </a:prstGeom>
          </p:spPr>
          <p:txBody>
            <a:bodyPr wrap="square" lIns="0" tIns="0" rIns="0" bIns="0" rtlCol="0" anchor="t">
              <a:spAutoFit/>
            </a:bodyPr>
            <a:lstStyle/>
            <a:p>
              <a:pPr algn="ctr">
                <a:lnSpc>
                  <a:spcPts val="3425"/>
                </a:lnSpc>
                <a:spcBef>
                  <a:spcPct val="0"/>
                </a:spcBef>
              </a:pPr>
              <a:r>
                <a:rPr lang="en-US" sz="2446" b="1">
                  <a:solidFill>
                    <a:srgbClr val="FFFFFF"/>
                  </a:solidFill>
                  <a:latin typeface="Poppins Bold"/>
                  <a:ea typeface="Poppins Bold"/>
                  <a:cs typeface="Poppins Bold"/>
                  <a:sym typeface="Poppins Bold"/>
                </a:rPr>
                <a:t>Custom APIs</a:t>
              </a:r>
            </a:p>
          </p:txBody>
        </p:sp>
      </p:grpSp>
      <p:grpSp>
        <p:nvGrpSpPr>
          <p:cNvPr id="30" name="Group 27">
            <a:extLst>
              <a:ext uri="{FF2B5EF4-FFF2-40B4-BE49-F238E27FC236}">
                <a16:creationId xmlns:a16="http://schemas.microsoft.com/office/drawing/2014/main" id="{B045DEDF-B4D9-94E5-797A-C5EF2175E25F}"/>
              </a:ext>
            </a:extLst>
          </p:cNvPr>
          <p:cNvGrpSpPr/>
          <p:nvPr/>
        </p:nvGrpSpPr>
        <p:grpSpPr>
          <a:xfrm>
            <a:off x="3301045" y="4411180"/>
            <a:ext cx="2879801" cy="774840"/>
            <a:chOff x="2" y="-135160"/>
            <a:chExt cx="3839735" cy="1033121"/>
          </a:xfrm>
        </p:grpSpPr>
        <p:grpSp>
          <p:nvGrpSpPr>
            <p:cNvPr id="31" name="Group 28">
              <a:extLst>
                <a:ext uri="{FF2B5EF4-FFF2-40B4-BE49-F238E27FC236}">
                  <a16:creationId xmlns:a16="http://schemas.microsoft.com/office/drawing/2014/main" id="{3FC2CE5E-EC6F-8DBD-D5CE-5932878E3CDF}"/>
                </a:ext>
              </a:extLst>
            </p:cNvPr>
            <p:cNvGrpSpPr/>
            <p:nvPr/>
          </p:nvGrpSpPr>
          <p:grpSpPr>
            <a:xfrm>
              <a:off x="2" y="-135160"/>
              <a:ext cx="3839735" cy="1033121"/>
              <a:chOff x="1" y="-57150"/>
              <a:chExt cx="1623570" cy="436838"/>
            </a:xfrm>
          </p:grpSpPr>
          <p:sp>
            <p:nvSpPr>
              <p:cNvPr id="33" name="Freeform 29">
                <a:extLst>
                  <a:ext uri="{FF2B5EF4-FFF2-40B4-BE49-F238E27FC236}">
                    <a16:creationId xmlns:a16="http://schemas.microsoft.com/office/drawing/2014/main" id="{4EE59ACE-EDEA-7C23-2394-785486EE74D1}"/>
                  </a:ext>
                </a:extLst>
              </p:cNvPr>
              <p:cNvSpPr/>
              <p:nvPr/>
            </p:nvSpPr>
            <p:spPr>
              <a:xfrm>
                <a:off x="2" y="0"/>
                <a:ext cx="1358492" cy="379688"/>
              </a:xfrm>
              <a:custGeom>
                <a:avLst/>
                <a:gdLst/>
                <a:ahLst/>
                <a:cxnLst/>
                <a:rect l="l" t="t" r="r" b="b"/>
                <a:pathLst>
                  <a:path w="1855706" h="379688">
                    <a:moveTo>
                      <a:pt x="81604" y="0"/>
                    </a:moveTo>
                    <a:lnTo>
                      <a:pt x="1774102" y="0"/>
                    </a:lnTo>
                    <a:cubicBezTo>
                      <a:pt x="1819171" y="0"/>
                      <a:pt x="1855706" y="36535"/>
                      <a:pt x="1855706" y="81604"/>
                    </a:cubicBezTo>
                    <a:lnTo>
                      <a:pt x="1855706" y="298085"/>
                    </a:lnTo>
                    <a:cubicBezTo>
                      <a:pt x="1855706" y="343153"/>
                      <a:pt x="1819171" y="379688"/>
                      <a:pt x="1774102" y="379688"/>
                    </a:cubicBezTo>
                    <a:lnTo>
                      <a:pt x="81604" y="379688"/>
                    </a:lnTo>
                    <a:cubicBezTo>
                      <a:pt x="36535" y="379688"/>
                      <a:pt x="0" y="343153"/>
                      <a:pt x="0" y="298085"/>
                    </a:cubicBezTo>
                    <a:lnTo>
                      <a:pt x="0" y="81604"/>
                    </a:lnTo>
                    <a:cubicBezTo>
                      <a:pt x="0" y="36535"/>
                      <a:pt x="36535" y="0"/>
                      <a:pt x="81604" y="0"/>
                    </a:cubicBezTo>
                    <a:close/>
                  </a:path>
                </a:pathLst>
              </a:custGeom>
              <a:solidFill>
                <a:srgbClr val="217CE9"/>
              </a:solidFill>
            </p:spPr>
            <p:txBody>
              <a:bodyPr/>
              <a:lstStyle/>
              <a:p>
                <a:endParaRPr lang="en-US"/>
              </a:p>
            </p:txBody>
          </p:sp>
          <p:sp>
            <p:nvSpPr>
              <p:cNvPr id="34" name="TextBox 30">
                <a:extLst>
                  <a:ext uri="{FF2B5EF4-FFF2-40B4-BE49-F238E27FC236}">
                    <a16:creationId xmlns:a16="http://schemas.microsoft.com/office/drawing/2014/main" id="{3584BAF2-BDB8-6EC6-2236-AF035CF1864E}"/>
                  </a:ext>
                </a:extLst>
              </p:cNvPr>
              <p:cNvSpPr txBox="1"/>
              <p:nvPr/>
            </p:nvSpPr>
            <p:spPr>
              <a:xfrm>
                <a:off x="1" y="-57150"/>
                <a:ext cx="1623570" cy="436838"/>
              </a:xfrm>
              <a:prstGeom prst="rect">
                <a:avLst/>
              </a:prstGeom>
            </p:spPr>
            <p:txBody>
              <a:bodyPr lIns="50800" tIns="50800" rIns="50800" bIns="50800" rtlCol="0" anchor="ctr"/>
              <a:lstStyle/>
              <a:p>
                <a:pPr algn="ctr">
                  <a:lnSpc>
                    <a:spcPts val="3500"/>
                  </a:lnSpc>
                </a:pPr>
                <a:endParaRPr/>
              </a:p>
            </p:txBody>
          </p:sp>
        </p:grpSp>
        <p:sp>
          <p:nvSpPr>
            <p:cNvPr id="32" name="TextBox 31">
              <a:extLst>
                <a:ext uri="{FF2B5EF4-FFF2-40B4-BE49-F238E27FC236}">
                  <a16:creationId xmlns:a16="http://schemas.microsoft.com/office/drawing/2014/main" id="{31071511-41AE-2321-360B-C2738B78490C}"/>
                </a:ext>
              </a:extLst>
            </p:cNvPr>
            <p:cNvSpPr txBox="1"/>
            <p:nvPr/>
          </p:nvSpPr>
          <p:spPr>
            <a:xfrm>
              <a:off x="187130" y="125474"/>
              <a:ext cx="3025699" cy="546475"/>
            </a:xfrm>
            <a:prstGeom prst="rect">
              <a:avLst/>
            </a:prstGeom>
          </p:spPr>
          <p:txBody>
            <a:bodyPr wrap="square" lIns="0" tIns="0" rIns="0" bIns="0" rtlCol="0" anchor="t">
              <a:spAutoFit/>
            </a:bodyPr>
            <a:lstStyle/>
            <a:p>
              <a:pPr algn="ctr">
                <a:lnSpc>
                  <a:spcPts val="3425"/>
                </a:lnSpc>
                <a:spcBef>
                  <a:spcPct val="0"/>
                </a:spcBef>
              </a:pPr>
              <a:r>
                <a:rPr lang="en-US" sz="2446" b="1">
                  <a:solidFill>
                    <a:srgbClr val="FFFFFF"/>
                  </a:solidFill>
                  <a:latin typeface="Poppins Bold"/>
                  <a:ea typeface="Poppins Bold"/>
                  <a:cs typeface="Poppins Bold"/>
                  <a:sym typeface="Poppins Bold"/>
                </a:rPr>
                <a:t>Web search</a:t>
              </a:r>
            </a:p>
          </p:txBody>
        </p:sp>
      </p:grpSp>
      <p:sp>
        <p:nvSpPr>
          <p:cNvPr id="35" name="AutoShape 32">
            <a:extLst>
              <a:ext uri="{FF2B5EF4-FFF2-40B4-BE49-F238E27FC236}">
                <a16:creationId xmlns:a16="http://schemas.microsoft.com/office/drawing/2014/main" id="{AFF5C891-7B0B-F9B4-F3E8-43DADCE9BCE3}"/>
              </a:ext>
            </a:extLst>
          </p:cNvPr>
          <p:cNvSpPr/>
          <p:nvPr/>
        </p:nvSpPr>
        <p:spPr>
          <a:xfrm flipV="1">
            <a:off x="2071165" y="2688788"/>
            <a:ext cx="1158224" cy="799358"/>
          </a:xfrm>
          <a:prstGeom prst="line">
            <a:avLst/>
          </a:prstGeom>
          <a:ln w="38100" cap="flat">
            <a:solidFill>
              <a:srgbClr val="000000"/>
            </a:solidFill>
            <a:prstDash val="solid"/>
            <a:headEnd type="none" w="sm" len="sm"/>
            <a:tailEnd type="triangle" w="lg" len="med"/>
          </a:ln>
        </p:spPr>
        <p:txBody>
          <a:bodyPr/>
          <a:lstStyle/>
          <a:p>
            <a:endParaRPr lang="en-US"/>
          </a:p>
        </p:txBody>
      </p:sp>
      <p:sp>
        <p:nvSpPr>
          <p:cNvPr id="36" name="AutoShape 33">
            <a:extLst>
              <a:ext uri="{FF2B5EF4-FFF2-40B4-BE49-F238E27FC236}">
                <a16:creationId xmlns:a16="http://schemas.microsoft.com/office/drawing/2014/main" id="{5B7AA65E-B173-14AA-1A9F-1E4F2D6C8512}"/>
              </a:ext>
            </a:extLst>
          </p:cNvPr>
          <p:cNvSpPr/>
          <p:nvPr/>
        </p:nvSpPr>
        <p:spPr>
          <a:xfrm>
            <a:off x="2092843" y="3488146"/>
            <a:ext cx="1198186" cy="309948"/>
          </a:xfrm>
          <a:prstGeom prst="line">
            <a:avLst/>
          </a:prstGeom>
          <a:ln w="38100" cap="flat">
            <a:solidFill>
              <a:srgbClr val="000000"/>
            </a:solidFill>
            <a:prstDash val="solid"/>
            <a:headEnd type="none" w="sm" len="sm"/>
            <a:tailEnd type="triangle" w="lg" len="med"/>
          </a:ln>
        </p:spPr>
        <p:txBody>
          <a:bodyPr/>
          <a:lstStyle/>
          <a:p>
            <a:endParaRPr lang="en-US"/>
          </a:p>
        </p:txBody>
      </p:sp>
      <p:sp>
        <p:nvSpPr>
          <p:cNvPr id="37" name="AutoShape 34">
            <a:extLst>
              <a:ext uri="{FF2B5EF4-FFF2-40B4-BE49-F238E27FC236}">
                <a16:creationId xmlns:a16="http://schemas.microsoft.com/office/drawing/2014/main" id="{FB827FD5-C434-4EBB-7BEE-4C3F90CF7AE4}"/>
              </a:ext>
            </a:extLst>
          </p:cNvPr>
          <p:cNvSpPr/>
          <p:nvPr/>
        </p:nvSpPr>
        <p:spPr>
          <a:xfrm>
            <a:off x="2092842" y="3516981"/>
            <a:ext cx="1198185" cy="1338803"/>
          </a:xfrm>
          <a:prstGeom prst="line">
            <a:avLst/>
          </a:prstGeom>
          <a:ln w="38100" cap="flat">
            <a:solidFill>
              <a:srgbClr val="000000"/>
            </a:solidFill>
            <a:prstDash val="solid"/>
            <a:headEnd type="none" w="sm" len="sm"/>
            <a:tailEnd type="triangle" w="lg" len="med"/>
          </a:ln>
        </p:spPr>
        <p:txBody>
          <a:bodyPr/>
          <a:lstStyle/>
          <a:p>
            <a:endParaRPr lang="en-US"/>
          </a:p>
        </p:txBody>
      </p:sp>
      <p:sp>
        <p:nvSpPr>
          <p:cNvPr id="38" name="AutoShape 35">
            <a:extLst>
              <a:ext uri="{FF2B5EF4-FFF2-40B4-BE49-F238E27FC236}">
                <a16:creationId xmlns:a16="http://schemas.microsoft.com/office/drawing/2014/main" id="{CF3307F4-5372-9B87-A8D7-0E11E256578B}"/>
              </a:ext>
            </a:extLst>
          </p:cNvPr>
          <p:cNvSpPr/>
          <p:nvPr/>
        </p:nvSpPr>
        <p:spPr>
          <a:xfrm>
            <a:off x="5710661" y="1749701"/>
            <a:ext cx="601066" cy="1082497"/>
          </a:xfrm>
          <a:prstGeom prst="line">
            <a:avLst/>
          </a:prstGeom>
          <a:ln w="38100" cap="flat">
            <a:solidFill>
              <a:srgbClr val="000000"/>
            </a:solidFill>
            <a:prstDash val="solid"/>
            <a:headEnd type="none" w="sm" len="sm"/>
            <a:tailEnd type="triangle" w="lg" len="med"/>
          </a:ln>
        </p:spPr>
        <p:txBody>
          <a:bodyPr/>
          <a:lstStyle/>
          <a:p>
            <a:endParaRPr lang="en-US"/>
          </a:p>
        </p:txBody>
      </p:sp>
      <p:grpSp>
        <p:nvGrpSpPr>
          <p:cNvPr id="39" name="Group 36">
            <a:extLst>
              <a:ext uri="{FF2B5EF4-FFF2-40B4-BE49-F238E27FC236}">
                <a16:creationId xmlns:a16="http://schemas.microsoft.com/office/drawing/2014/main" id="{C993E2FE-5B8E-0BEC-889E-B5FCAB41DDBA}"/>
              </a:ext>
            </a:extLst>
          </p:cNvPr>
          <p:cNvGrpSpPr/>
          <p:nvPr/>
        </p:nvGrpSpPr>
        <p:grpSpPr>
          <a:xfrm>
            <a:off x="6321190" y="2688788"/>
            <a:ext cx="2752677" cy="728372"/>
            <a:chOff x="0" y="-18354"/>
            <a:chExt cx="724985" cy="191834"/>
          </a:xfrm>
        </p:grpSpPr>
        <p:sp>
          <p:nvSpPr>
            <p:cNvPr id="40" name="Freeform 37">
              <a:extLst>
                <a:ext uri="{FF2B5EF4-FFF2-40B4-BE49-F238E27FC236}">
                  <a16:creationId xmlns:a16="http://schemas.microsoft.com/office/drawing/2014/main" id="{CFAEA08F-62B9-23F7-1A76-9F37D4E17A9C}"/>
                </a:ext>
              </a:extLst>
            </p:cNvPr>
            <p:cNvSpPr/>
            <p:nvPr/>
          </p:nvSpPr>
          <p:spPr>
            <a:xfrm>
              <a:off x="0" y="0"/>
              <a:ext cx="724985" cy="173480"/>
            </a:xfrm>
            <a:custGeom>
              <a:avLst/>
              <a:gdLst/>
              <a:ahLst/>
              <a:cxnLst/>
              <a:rect l="l" t="t" r="r" b="b"/>
              <a:pathLst>
                <a:path w="812800" h="173480">
                  <a:moveTo>
                    <a:pt x="0" y="0"/>
                  </a:moveTo>
                  <a:lnTo>
                    <a:pt x="812800" y="0"/>
                  </a:lnTo>
                  <a:lnTo>
                    <a:pt x="812800" y="173480"/>
                  </a:lnTo>
                  <a:lnTo>
                    <a:pt x="0" y="173480"/>
                  </a:lnTo>
                  <a:close/>
                </a:path>
              </a:pathLst>
            </a:custGeom>
            <a:solidFill>
              <a:srgbClr val="F152F9"/>
            </a:solidFill>
          </p:spPr>
          <p:txBody>
            <a:bodyPr/>
            <a:lstStyle/>
            <a:p>
              <a:endParaRPr lang="en-US"/>
            </a:p>
          </p:txBody>
        </p:sp>
        <p:sp>
          <p:nvSpPr>
            <p:cNvPr id="41" name="TextBox 38">
              <a:extLst>
                <a:ext uri="{FF2B5EF4-FFF2-40B4-BE49-F238E27FC236}">
                  <a16:creationId xmlns:a16="http://schemas.microsoft.com/office/drawing/2014/main" id="{559C430D-47E3-916E-5AB7-C421C36AFE1B}"/>
                </a:ext>
              </a:extLst>
            </p:cNvPr>
            <p:cNvSpPr txBox="1"/>
            <p:nvPr/>
          </p:nvSpPr>
          <p:spPr>
            <a:xfrm>
              <a:off x="0" y="-18354"/>
              <a:ext cx="712262" cy="191834"/>
            </a:xfrm>
            <a:prstGeom prst="rect">
              <a:avLst/>
            </a:prstGeom>
          </p:spPr>
          <p:txBody>
            <a:bodyPr lIns="50800" tIns="50800" rIns="50800" bIns="50800" rtlCol="0" anchor="ctr"/>
            <a:lstStyle/>
            <a:p>
              <a:pPr algn="ctr">
                <a:lnSpc>
                  <a:spcPts val="3500"/>
                </a:lnSpc>
              </a:pPr>
              <a:r>
                <a:rPr lang="en-US" sz="2500" b="1">
                  <a:solidFill>
                    <a:srgbClr val="FFFFFF"/>
                  </a:solidFill>
                  <a:latin typeface="Open Sans Bold"/>
                  <a:ea typeface="Open Sans Bold"/>
                  <a:cs typeface="Open Sans Bold"/>
                  <a:sym typeface="Open Sans Bold"/>
                </a:rPr>
                <a:t>Gather results</a:t>
              </a:r>
            </a:p>
          </p:txBody>
        </p:sp>
      </p:grpSp>
      <p:sp>
        <p:nvSpPr>
          <p:cNvPr id="43" name="AutoShape 42">
            <a:extLst>
              <a:ext uri="{FF2B5EF4-FFF2-40B4-BE49-F238E27FC236}">
                <a16:creationId xmlns:a16="http://schemas.microsoft.com/office/drawing/2014/main" id="{A55A2F8A-0314-8BC6-C5BD-B9675DA81106}"/>
              </a:ext>
            </a:extLst>
          </p:cNvPr>
          <p:cNvSpPr/>
          <p:nvPr/>
        </p:nvSpPr>
        <p:spPr>
          <a:xfrm>
            <a:off x="5671817" y="2846548"/>
            <a:ext cx="621069" cy="192272"/>
          </a:xfrm>
          <a:prstGeom prst="line">
            <a:avLst/>
          </a:prstGeom>
          <a:ln w="38100" cap="flat">
            <a:solidFill>
              <a:srgbClr val="000000"/>
            </a:solidFill>
            <a:prstDash val="solid"/>
            <a:headEnd type="none" w="sm" len="sm"/>
            <a:tailEnd type="triangle" w="lg" len="med"/>
          </a:ln>
        </p:spPr>
        <p:txBody>
          <a:bodyPr/>
          <a:lstStyle/>
          <a:p>
            <a:endParaRPr lang="en-US"/>
          </a:p>
        </p:txBody>
      </p:sp>
      <p:sp>
        <p:nvSpPr>
          <p:cNvPr id="44" name="AutoShape 43">
            <a:extLst>
              <a:ext uri="{FF2B5EF4-FFF2-40B4-BE49-F238E27FC236}">
                <a16:creationId xmlns:a16="http://schemas.microsoft.com/office/drawing/2014/main" id="{41E69BA6-B926-57DD-170A-E7081CF35FC6}"/>
              </a:ext>
            </a:extLst>
          </p:cNvPr>
          <p:cNvSpPr/>
          <p:nvPr/>
        </p:nvSpPr>
        <p:spPr>
          <a:xfrm flipV="1">
            <a:off x="5733194" y="3141457"/>
            <a:ext cx="545146" cy="608659"/>
          </a:xfrm>
          <a:prstGeom prst="line">
            <a:avLst/>
          </a:prstGeom>
          <a:ln w="38100" cap="flat">
            <a:solidFill>
              <a:srgbClr val="000000"/>
            </a:solidFill>
            <a:prstDash val="solid"/>
            <a:headEnd type="none" w="sm" len="sm"/>
            <a:tailEnd type="triangle" w="lg" len="med"/>
          </a:ln>
        </p:spPr>
        <p:txBody>
          <a:bodyPr/>
          <a:lstStyle/>
          <a:p>
            <a:endParaRPr lang="en-US"/>
          </a:p>
        </p:txBody>
      </p:sp>
      <p:sp>
        <p:nvSpPr>
          <p:cNvPr id="45" name="AutoShape 44">
            <a:extLst>
              <a:ext uri="{FF2B5EF4-FFF2-40B4-BE49-F238E27FC236}">
                <a16:creationId xmlns:a16="http://schemas.microsoft.com/office/drawing/2014/main" id="{DA9C3A30-06F5-2CF0-A3BE-D2CB5E7BDD43}"/>
              </a:ext>
            </a:extLst>
          </p:cNvPr>
          <p:cNvSpPr/>
          <p:nvPr/>
        </p:nvSpPr>
        <p:spPr>
          <a:xfrm flipV="1">
            <a:off x="5710662" y="3322679"/>
            <a:ext cx="610528" cy="1540708"/>
          </a:xfrm>
          <a:prstGeom prst="line">
            <a:avLst/>
          </a:prstGeom>
          <a:ln w="38100" cap="flat">
            <a:solidFill>
              <a:srgbClr val="000000"/>
            </a:solidFill>
            <a:prstDash val="solid"/>
            <a:headEnd type="none" w="sm" len="sm"/>
            <a:tailEnd type="triangle" w="lg" len="med"/>
          </a:ln>
        </p:spPr>
        <p:txBody>
          <a:bodyPr/>
          <a:lstStyle/>
          <a:p>
            <a:endParaRPr lang="en-US"/>
          </a:p>
        </p:txBody>
      </p:sp>
      <p:grpSp>
        <p:nvGrpSpPr>
          <p:cNvPr id="46" name="Group 45">
            <a:extLst>
              <a:ext uri="{FF2B5EF4-FFF2-40B4-BE49-F238E27FC236}">
                <a16:creationId xmlns:a16="http://schemas.microsoft.com/office/drawing/2014/main" id="{479C4AAA-97D4-AE94-8FD0-71F7A7B463E9}"/>
              </a:ext>
            </a:extLst>
          </p:cNvPr>
          <p:cNvGrpSpPr/>
          <p:nvPr/>
        </p:nvGrpSpPr>
        <p:grpSpPr>
          <a:xfrm>
            <a:off x="9437378" y="1863820"/>
            <a:ext cx="2955476" cy="2395647"/>
            <a:chOff x="-1295441" y="0"/>
            <a:chExt cx="3940635" cy="3194196"/>
          </a:xfrm>
        </p:grpSpPr>
        <p:grpSp>
          <p:nvGrpSpPr>
            <p:cNvPr id="47" name="Group 46">
              <a:extLst>
                <a:ext uri="{FF2B5EF4-FFF2-40B4-BE49-F238E27FC236}">
                  <a16:creationId xmlns:a16="http://schemas.microsoft.com/office/drawing/2014/main" id="{BEF23DE5-6925-19EA-93C0-B4396791FD58}"/>
                </a:ext>
              </a:extLst>
            </p:cNvPr>
            <p:cNvGrpSpPr/>
            <p:nvPr/>
          </p:nvGrpSpPr>
          <p:grpSpPr>
            <a:xfrm>
              <a:off x="-1295441" y="0"/>
              <a:ext cx="3940635" cy="3194196"/>
              <a:chOff x="-329640" y="0"/>
              <a:chExt cx="1002740" cy="812800"/>
            </a:xfrm>
          </p:grpSpPr>
          <p:sp>
            <p:nvSpPr>
              <p:cNvPr id="49" name="Freeform 47">
                <a:extLst>
                  <a:ext uri="{FF2B5EF4-FFF2-40B4-BE49-F238E27FC236}">
                    <a16:creationId xmlns:a16="http://schemas.microsoft.com/office/drawing/2014/main" id="{9A77D8C3-F173-3FD0-64CC-5F2332855544}"/>
                  </a:ext>
                </a:extLst>
              </p:cNvPr>
              <p:cNvSpPr/>
              <p:nvPr/>
            </p:nvSpPr>
            <p:spPr>
              <a:xfrm>
                <a:off x="-32964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217CE9"/>
              </a:solidFill>
            </p:spPr>
            <p:txBody>
              <a:bodyPr/>
              <a:lstStyle/>
              <a:p>
                <a:endParaRPr lang="en-US"/>
              </a:p>
            </p:txBody>
          </p:sp>
          <p:sp>
            <p:nvSpPr>
              <p:cNvPr id="50" name="TextBox 48">
                <a:extLst>
                  <a:ext uri="{FF2B5EF4-FFF2-40B4-BE49-F238E27FC236}">
                    <a16:creationId xmlns:a16="http://schemas.microsoft.com/office/drawing/2014/main" id="{852C06C4-BFB0-8D61-36DA-CCE57DF4A106}"/>
                  </a:ext>
                </a:extLst>
              </p:cNvPr>
              <p:cNvSpPr txBox="1"/>
              <p:nvPr/>
            </p:nvSpPr>
            <p:spPr>
              <a:xfrm>
                <a:off x="139700" y="82550"/>
                <a:ext cx="533400" cy="590550"/>
              </a:xfrm>
              <a:prstGeom prst="rect">
                <a:avLst/>
              </a:prstGeom>
            </p:spPr>
            <p:txBody>
              <a:bodyPr lIns="50800" tIns="50800" rIns="50800" bIns="50800" rtlCol="0" anchor="ctr"/>
              <a:lstStyle/>
              <a:p>
                <a:pPr algn="ctr">
                  <a:lnSpc>
                    <a:spcPts val="3500"/>
                  </a:lnSpc>
                </a:pPr>
                <a:endParaRPr/>
              </a:p>
            </p:txBody>
          </p:sp>
        </p:grpSp>
        <p:sp>
          <p:nvSpPr>
            <p:cNvPr id="48" name="TextBox 49">
              <a:extLst>
                <a:ext uri="{FF2B5EF4-FFF2-40B4-BE49-F238E27FC236}">
                  <a16:creationId xmlns:a16="http://schemas.microsoft.com/office/drawing/2014/main" id="{E283A295-5038-26A3-6F95-538AE4A57EEA}"/>
                </a:ext>
              </a:extLst>
            </p:cNvPr>
            <p:cNvSpPr txBox="1"/>
            <p:nvPr/>
          </p:nvSpPr>
          <p:spPr>
            <a:xfrm>
              <a:off x="-966084" y="889419"/>
              <a:ext cx="2449399" cy="1258721"/>
            </a:xfrm>
            <a:prstGeom prst="rect">
              <a:avLst/>
            </a:prstGeom>
          </p:spPr>
          <p:txBody>
            <a:bodyPr wrap="square" lIns="0" tIns="0" rIns="0" bIns="0" rtlCol="0" anchor="t">
              <a:spAutoFit/>
            </a:bodyPr>
            <a:lstStyle/>
            <a:p>
              <a:pPr algn="ctr">
                <a:lnSpc>
                  <a:spcPts val="3774"/>
                </a:lnSpc>
              </a:pPr>
              <a:r>
                <a:rPr lang="en-US" sz="2696" b="1">
                  <a:solidFill>
                    <a:srgbClr val="FFFFFF"/>
                  </a:solidFill>
                  <a:latin typeface="Poppins Bold"/>
                  <a:ea typeface="Poppins Bold"/>
                  <a:cs typeface="Poppins Bold"/>
                  <a:sym typeface="Poppins Bold"/>
                </a:rPr>
                <a:t>Verify</a:t>
              </a:r>
            </a:p>
            <a:p>
              <a:pPr algn="ctr">
                <a:lnSpc>
                  <a:spcPts val="3774"/>
                </a:lnSpc>
              </a:pPr>
              <a:r>
                <a:rPr lang="en-US" sz="2696" b="1">
                  <a:solidFill>
                    <a:srgbClr val="FFFFFF"/>
                  </a:solidFill>
                  <a:latin typeface="Poppins Bold"/>
                  <a:ea typeface="Poppins Bold"/>
                  <a:cs typeface="Poppins Bold"/>
                  <a:sym typeface="Poppins Bold"/>
                </a:rPr>
                <a:t>Quality</a:t>
              </a:r>
            </a:p>
          </p:txBody>
        </p:sp>
      </p:grpSp>
      <p:sp>
        <p:nvSpPr>
          <p:cNvPr id="51" name="AutoShape 50">
            <a:extLst>
              <a:ext uri="{FF2B5EF4-FFF2-40B4-BE49-F238E27FC236}">
                <a16:creationId xmlns:a16="http://schemas.microsoft.com/office/drawing/2014/main" id="{FD41B087-001D-644C-5027-74350AD39CE8}"/>
              </a:ext>
            </a:extLst>
          </p:cNvPr>
          <p:cNvSpPr/>
          <p:nvPr/>
        </p:nvSpPr>
        <p:spPr>
          <a:xfrm flipV="1">
            <a:off x="9073868" y="3038820"/>
            <a:ext cx="453158" cy="9161"/>
          </a:xfrm>
          <a:prstGeom prst="line">
            <a:avLst/>
          </a:prstGeom>
          <a:ln w="38100" cap="flat">
            <a:solidFill>
              <a:srgbClr val="000000"/>
            </a:solidFill>
            <a:prstDash val="solid"/>
            <a:headEnd type="none" w="sm" len="sm"/>
            <a:tailEnd type="triangle" w="lg" len="med"/>
          </a:ln>
        </p:spPr>
        <p:txBody>
          <a:bodyPr/>
          <a:lstStyle/>
          <a:p>
            <a:endParaRPr lang="en-US"/>
          </a:p>
        </p:txBody>
      </p:sp>
      <p:grpSp>
        <p:nvGrpSpPr>
          <p:cNvPr id="55" name="Group 54">
            <a:extLst>
              <a:ext uri="{FF2B5EF4-FFF2-40B4-BE49-F238E27FC236}">
                <a16:creationId xmlns:a16="http://schemas.microsoft.com/office/drawing/2014/main" id="{26CDDF10-5D1E-2F43-0EE8-142EF65E9ADB}"/>
              </a:ext>
            </a:extLst>
          </p:cNvPr>
          <p:cNvGrpSpPr/>
          <p:nvPr/>
        </p:nvGrpSpPr>
        <p:grpSpPr>
          <a:xfrm>
            <a:off x="3840173" y="6008636"/>
            <a:ext cx="3086100" cy="736524"/>
            <a:chOff x="0" y="-20501"/>
            <a:chExt cx="812800" cy="193981"/>
          </a:xfrm>
        </p:grpSpPr>
        <p:sp>
          <p:nvSpPr>
            <p:cNvPr id="56" name="Freeform 55">
              <a:extLst>
                <a:ext uri="{FF2B5EF4-FFF2-40B4-BE49-F238E27FC236}">
                  <a16:creationId xmlns:a16="http://schemas.microsoft.com/office/drawing/2014/main" id="{438361AB-C607-47EF-EBE5-C773BDA0857B}"/>
                </a:ext>
              </a:extLst>
            </p:cNvPr>
            <p:cNvSpPr/>
            <p:nvPr/>
          </p:nvSpPr>
          <p:spPr>
            <a:xfrm>
              <a:off x="0" y="0"/>
              <a:ext cx="812800" cy="173480"/>
            </a:xfrm>
            <a:custGeom>
              <a:avLst/>
              <a:gdLst/>
              <a:ahLst/>
              <a:cxnLst/>
              <a:rect l="l" t="t" r="r" b="b"/>
              <a:pathLst>
                <a:path w="812800" h="173480">
                  <a:moveTo>
                    <a:pt x="0" y="0"/>
                  </a:moveTo>
                  <a:lnTo>
                    <a:pt x="812800" y="0"/>
                  </a:lnTo>
                  <a:lnTo>
                    <a:pt x="812800" y="173480"/>
                  </a:lnTo>
                  <a:lnTo>
                    <a:pt x="0" y="173480"/>
                  </a:lnTo>
                  <a:close/>
                </a:path>
              </a:pathLst>
            </a:custGeom>
            <a:solidFill>
              <a:srgbClr val="F152F9"/>
            </a:solidFill>
          </p:spPr>
          <p:txBody>
            <a:bodyPr/>
            <a:lstStyle/>
            <a:p>
              <a:endParaRPr lang="en-US"/>
            </a:p>
          </p:txBody>
        </p:sp>
        <p:sp>
          <p:nvSpPr>
            <p:cNvPr id="57" name="TextBox 56">
              <a:extLst>
                <a:ext uri="{FF2B5EF4-FFF2-40B4-BE49-F238E27FC236}">
                  <a16:creationId xmlns:a16="http://schemas.microsoft.com/office/drawing/2014/main" id="{77717020-191D-236A-A7EE-A89A02991DFF}"/>
                </a:ext>
              </a:extLst>
            </p:cNvPr>
            <p:cNvSpPr txBox="1"/>
            <p:nvPr/>
          </p:nvSpPr>
          <p:spPr>
            <a:xfrm>
              <a:off x="0" y="-20501"/>
              <a:ext cx="812800" cy="193981"/>
            </a:xfrm>
            <a:prstGeom prst="rect">
              <a:avLst/>
            </a:prstGeom>
          </p:spPr>
          <p:txBody>
            <a:bodyPr lIns="50800" tIns="50800" rIns="50800" bIns="50800" rtlCol="0" anchor="ctr"/>
            <a:lstStyle/>
            <a:p>
              <a:pPr algn="ctr">
                <a:lnSpc>
                  <a:spcPts val="3500"/>
                </a:lnSpc>
              </a:pPr>
              <a:r>
                <a:rPr lang="en-US" sz="2500" b="1">
                  <a:solidFill>
                    <a:srgbClr val="FFFFFF"/>
                  </a:solidFill>
                  <a:latin typeface="Open Sans Bold"/>
                  <a:ea typeface="Open Sans Bold"/>
                  <a:cs typeface="Open Sans Bold"/>
                  <a:sym typeface="Open Sans Bold"/>
                </a:rPr>
                <a:t>Update memory</a:t>
              </a:r>
            </a:p>
          </p:txBody>
        </p:sp>
      </p:grpSp>
      <p:sp>
        <p:nvSpPr>
          <p:cNvPr id="58" name="AutoShape 57">
            <a:extLst>
              <a:ext uri="{FF2B5EF4-FFF2-40B4-BE49-F238E27FC236}">
                <a16:creationId xmlns:a16="http://schemas.microsoft.com/office/drawing/2014/main" id="{1FC7C40E-871D-4B9E-7204-FAC026832ABE}"/>
              </a:ext>
            </a:extLst>
          </p:cNvPr>
          <p:cNvSpPr/>
          <p:nvPr/>
        </p:nvSpPr>
        <p:spPr>
          <a:xfrm>
            <a:off x="10627868" y="4204221"/>
            <a:ext cx="3588" cy="1766273"/>
          </a:xfrm>
          <a:prstGeom prst="line">
            <a:avLst/>
          </a:prstGeom>
          <a:ln w="38100" cap="flat">
            <a:solidFill>
              <a:srgbClr val="000000"/>
            </a:solidFill>
            <a:prstDash val="solid"/>
            <a:headEnd type="none" w="sm" len="sm"/>
            <a:tailEnd type="triangle" w="lg" len="med"/>
          </a:ln>
        </p:spPr>
        <p:txBody>
          <a:bodyPr/>
          <a:lstStyle/>
          <a:p>
            <a:endParaRPr lang="en-US"/>
          </a:p>
        </p:txBody>
      </p:sp>
      <p:sp>
        <p:nvSpPr>
          <p:cNvPr id="59" name="AutoShape 58">
            <a:extLst>
              <a:ext uri="{FF2B5EF4-FFF2-40B4-BE49-F238E27FC236}">
                <a16:creationId xmlns:a16="http://schemas.microsoft.com/office/drawing/2014/main" id="{2560F18A-C2B6-E24F-6406-6346017C8324}"/>
              </a:ext>
            </a:extLst>
          </p:cNvPr>
          <p:cNvSpPr/>
          <p:nvPr/>
        </p:nvSpPr>
        <p:spPr>
          <a:xfrm flipH="1">
            <a:off x="6926271" y="6458721"/>
            <a:ext cx="1546680" cy="0"/>
          </a:xfrm>
          <a:prstGeom prst="line">
            <a:avLst/>
          </a:prstGeom>
          <a:ln w="38100" cap="flat">
            <a:solidFill>
              <a:srgbClr val="000000"/>
            </a:solidFill>
            <a:prstDash val="solid"/>
            <a:headEnd type="none" w="sm" len="sm"/>
            <a:tailEnd type="triangle" w="lg" len="med"/>
          </a:ln>
        </p:spPr>
        <p:txBody>
          <a:bodyPr/>
          <a:lstStyle/>
          <a:p>
            <a:endParaRPr lang="en-US"/>
          </a:p>
        </p:txBody>
      </p:sp>
      <p:sp>
        <p:nvSpPr>
          <p:cNvPr id="62" name="TextBox 61">
            <a:extLst>
              <a:ext uri="{FF2B5EF4-FFF2-40B4-BE49-F238E27FC236}">
                <a16:creationId xmlns:a16="http://schemas.microsoft.com/office/drawing/2014/main" id="{B2A3C816-CFED-3DFB-6F25-A7FF3169DEFE}"/>
              </a:ext>
            </a:extLst>
          </p:cNvPr>
          <p:cNvSpPr txBox="1"/>
          <p:nvPr/>
        </p:nvSpPr>
        <p:spPr>
          <a:xfrm rot="20076680">
            <a:off x="6678511" y="4772183"/>
            <a:ext cx="2370030" cy="426655"/>
          </a:xfrm>
          <a:prstGeom prst="rect">
            <a:avLst/>
          </a:prstGeom>
        </p:spPr>
        <p:txBody>
          <a:bodyPr wrap="square" lIns="0" tIns="0" rIns="0" bIns="0" rtlCol="0" anchor="t">
            <a:spAutoFit/>
          </a:bodyPr>
          <a:lstStyle/>
          <a:p>
            <a:pPr algn="ctr">
              <a:lnSpc>
                <a:spcPts val="3500"/>
              </a:lnSpc>
              <a:spcBef>
                <a:spcPct val="0"/>
              </a:spcBef>
            </a:pPr>
            <a:r>
              <a:rPr lang="en-US" sz="2500" b="1">
                <a:solidFill>
                  <a:schemeClr val="accent3">
                    <a:lumMod val="50000"/>
                  </a:schemeClr>
                </a:solidFill>
                <a:latin typeface="Poppins Bold"/>
                <a:ea typeface="Poppins Bold"/>
                <a:cs typeface="Poppins Bold"/>
                <a:sym typeface="Poppins Bold"/>
              </a:rPr>
              <a:t>❌ </a:t>
            </a:r>
            <a:r>
              <a:rPr lang="en-US" sz="2500" b="1">
                <a:solidFill>
                  <a:srgbClr val="F4364C"/>
                </a:solidFill>
                <a:latin typeface="Poppins Bold"/>
                <a:ea typeface="Poppins Bold"/>
                <a:cs typeface="Poppins Bold"/>
                <a:sym typeface="Poppins Bold"/>
              </a:rPr>
              <a:t>Insufficient</a:t>
            </a:r>
          </a:p>
        </p:txBody>
      </p:sp>
      <p:sp>
        <p:nvSpPr>
          <p:cNvPr id="63" name="TextBox 62">
            <a:extLst>
              <a:ext uri="{FF2B5EF4-FFF2-40B4-BE49-F238E27FC236}">
                <a16:creationId xmlns:a16="http://schemas.microsoft.com/office/drawing/2014/main" id="{EA3BF65B-4846-3E10-DA29-BE5CD43326A5}"/>
              </a:ext>
            </a:extLst>
          </p:cNvPr>
          <p:cNvSpPr txBox="1"/>
          <p:nvPr/>
        </p:nvSpPr>
        <p:spPr>
          <a:xfrm>
            <a:off x="10679283" y="4689313"/>
            <a:ext cx="1452817" cy="845552"/>
          </a:xfrm>
          <a:prstGeom prst="rect">
            <a:avLst/>
          </a:prstGeom>
        </p:spPr>
        <p:txBody>
          <a:bodyPr wrap="square" lIns="0" tIns="0" rIns="0" bIns="0" rtlCol="0" anchor="t">
            <a:spAutoFit/>
          </a:bodyPr>
          <a:lstStyle/>
          <a:p>
            <a:pPr algn="ctr">
              <a:lnSpc>
                <a:spcPts val="3413"/>
              </a:lnSpc>
            </a:pPr>
            <a:r>
              <a:rPr lang="en-US" sz="2438" b="1">
                <a:solidFill>
                  <a:schemeClr val="accent6">
                    <a:lumMod val="50000"/>
                  </a:schemeClr>
                </a:solidFill>
                <a:latin typeface="Poppins Bold"/>
                <a:ea typeface="Poppins Bold"/>
                <a:cs typeface="Poppins Bold"/>
                <a:sym typeface="Poppins Bold"/>
              </a:rPr>
              <a:t>✅ Good</a:t>
            </a:r>
          </a:p>
          <a:p>
            <a:pPr algn="ctr">
              <a:lnSpc>
                <a:spcPts val="3413"/>
              </a:lnSpc>
            </a:pPr>
            <a:r>
              <a:rPr lang="en-US" sz="2438" b="1">
                <a:solidFill>
                  <a:schemeClr val="accent6">
                    <a:lumMod val="50000"/>
                  </a:schemeClr>
                </a:solidFill>
                <a:latin typeface="Poppins Bold"/>
                <a:ea typeface="Poppins Bold"/>
                <a:cs typeface="Poppins Bold"/>
                <a:sym typeface="Poppins Bold"/>
              </a:rPr>
              <a:t>Quality</a:t>
            </a:r>
          </a:p>
        </p:txBody>
      </p:sp>
      <p:sp>
        <p:nvSpPr>
          <p:cNvPr id="94" name="Arc 93">
            <a:extLst>
              <a:ext uri="{FF2B5EF4-FFF2-40B4-BE49-F238E27FC236}">
                <a16:creationId xmlns:a16="http://schemas.microsoft.com/office/drawing/2014/main" id="{489BAE85-1C2C-9DE9-980F-84F30E7F35EC}"/>
              </a:ext>
            </a:extLst>
          </p:cNvPr>
          <p:cNvSpPr/>
          <p:nvPr/>
        </p:nvSpPr>
        <p:spPr>
          <a:xfrm rot="21139903" flipV="1">
            <a:off x="1653521" y="1240601"/>
            <a:ext cx="8474293" cy="4630527"/>
          </a:xfrm>
          <a:prstGeom prst="arc">
            <a:avLst>
              <a:gd name="adj1" fmla="val 10809469"/>
              <a:gd name="adj2" fmla="val 21101114"/>
            </a:avLst>
          </a:prstGeom>
          <a:ln w="571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96" name="Group 3">
            <a:extLst>
              <a:ext uri="{FF2B5EF4-FFF2-40B4-BE49-F238E27FC236}">
                <a16:creationId xmlns:a16="http://schemas.microsoft.com/office/drawing/2014/main" id="{2C01AC3A-2572-FFD6-B334-86D05E296E37}"/>
              </a:ext>
            </a:extLst>
          </p:cNvPr>
          <p:cNvGrpSpPr/>
          <p:nvPr/>
        </p:nvGrpSpPr>
        <p:grpSpPr>
          <a:xfrm>
            <a:off x="8001187" y="5434467"/>
            <a:ext cx="3678361" cy="1391605"/>
            <a:chOff x="0" y="-57150"/>
            <a:chExt cx="1065275" cy="446568"/>
          </a:xfrm>
        </p:grpSpPr>
        <p:sp>
          <p:nvSpPr>
            <p:cNvPr id="97" name="Freeform 4">
              <a:extLst>
                <a:ext uri="{FF2B5EF4-FFF2-40B4-BE49-F238E27FC236}">
                  <a16:creationId xmlns:a16="http://schemas.microsoft.com/office/drawing/2014/main" id="{433156A1-34FC-1DBA-6C9C-FCF557F24F1F}"/>
                </a:ext>
              </a:extLst>
            </p:cNvPr>
            <p:cNvSpPr/>
            <p:nvPr/>
          </p:nvSpPr>
          <p:spPr>
            <a:xfrm>
              <a:off x="136626" y="112419"/>
              <a:ext cx="928649" cy="273716"/>
            </a:xfrm>
            <a:custGeom>
              <a:avLst/>
              <a:gdLst/>
              <a:ahLst/>
              <a:cxnLst/>
              <a:rect l="l" t="t" r="r" b="b"/>
              <a:pathLst>
                <a:path w="694382" h="389418">
                  <a:moveTo>
                    <a:pt x="164675" y="0"/>
                  </a:moveTo>
                  <a:lnTo>
                    <a:pt x="529707" y="0"/>
                  </a:lnTo>
                  <a:cubicBezTo>
                    <a:pt x="573381" y="0"/>
                    <a:pt x="615267" y="17350"/>
                    <a:pt x="646150" y="48232"/>
                  </a:cubicBezTo>
                  <a:cubicBezTo>
                    <a:pt x="677032" y="79115"/>
                    <a:pt x="694382" y="121001"/>
                    <a:pt x="694382" y="164675"/>
                  </a:cubicBezTo>
                  <a:lnTo>
                    <a:pt x="694382" y="224742"/>
                  </a:lnTo>
                  <a:cubicBezTo>
                    <a:pt x="694382" y="268417"/>
                    <a:pt x="677032" y="310303"/>
                    <a:pt x="646150" y="341185"/>
                  </a:cubicBezTo>
                  <a:cubicBezTo>
                    <a:pt x="615267" y="372068"/>
                    <a:pt x="573381" y="389418"/>
                    <a:pt x="529707" y="389418"/>
                  </a:cubicBezTo>
                  <a:lnTo>
                    <a:pt x="164675" y="389418"/>
                  </a:lnTo>
                  <a:cubicBezTo>
                    <a:pt x="121001" y="389418"/>
                    <a:pt x="79115" y="372068"/>
                    <a:pt x="48232" y="341185"/>
                  </a:cubicBezTo>
                  <a:cubicBezTo>
                    <a:pt x="17350" y="310303"/>
                    <a:pt x="0" y="268417"/>
                    <a:pt x="0" y="224742"/>
                  </a:cubicBezTo>
                  <a:lnTo>
                    <a:pt x="0" y="164675"/>
                  </a:lnTo>
                  <a:cubicBezTo>
                    <a:pt x="0" y="121001"/>
                    <a:pt x="17350" y="79115"/>
                    <a:pt x="48232" y="48232"/>
                  </a:cubicBezTo>
                  <a:cubicBezTo>
                    <a:pt x="79115" y="17350"/>
                    <a:pt x="121001" y="0"/>
                    <a:pt x="164675" y="0"/>
                  </a:cubicBezTo>
                  <a:close/>
                </a:path>
              </a:pathLst>
            </a:custGeom>
            <a:solidFill>
              <a:srgbClr val="217CE9"/>
            </a:solidFill>
          </p:spPr>
          <p:txBody>
            <a:bodyPr/>
            <a:lstStyle/>
            <a:p>
              <a:endParaRPr lang="en-US"/>
            </a:p>
          </p:txBody>
        </p:sp>
        <p:sp>
          <p:nvSpPr>
            <p:cNvPr id="98" name="TextBox 5">
              <a:extLst>
                <a:ext uri="{FF2B5EF4-FFF2-40B4-BE49-F238E27FC236}">
                  <a16:creationId xmlns:a16="http://schemas.microsoft.com/office/drawing/2014/main" id="{9A79C749-E60C-BAC7-32E2-DA033AD92445}"/>
                </a:ext>
              </a:extLst>
            </p:cNvPr>
            <p:cNvSpPr txBox="1"/>
            <p:nvPr/>
          </p:nvSpPr>
          <p:spPr>
            <a:xfrm>
              <a:off x="0" y="-57150"/>
              <a:ext cx="694382" cy="446568"/>
            </a:xfrm>
            <a:prstGeom prst="rect">
              <a:avLst/>
            </a:prstGeom>
          </p:spPr>
          <p:txBody>
            <a:bodyPr lIns="50800" tIns="50800" rIns="50800" bIns="50800" rtlCol="0" anchor="ctr"/>
            <a:lstStyle/>
            <a:p>
              <a:pPr algn="ctr">
                <a:lnSpc>
                  <a:spcPts val="3500"/>
                </a:lnSpc>
              </a:pPr>
              <a:endParaRPr/>
            </a:p>
          </p:txBody>
        </p:sp>
      </p:grpSp>
      <p:sp>
        <p:nvSpPr>
          <p:cNvPr id="99" name="TextBox 6">
            <a:extLst>
              <a:ext uri="{FF2B5EF4-FFF2-40B4-BE49-F238E27FC236}">
                <a16:creationId xmlns:a16="http://schemas.microsoft.com/office/drawing/2014/main" id="{0BA8E58D-CA03-EF55-F298-8124AA61BBB7}"/>
              </a:ext>
            </a:extLst>
          </p:cNvPr>
          <p:cNvSpPr txBox="1"/>
          <p:nvPr/>
        </p:nvSpPr>
        <p:spPr>
          <a:xfrm>
            <a:off x="8352997" y="6122129"/>
            <a:ext cx="3446506" cy="457818"/>
          </a:xfrm>
          <a:prstGeom prst="rect">
            <a:avLst/>
          </a:prstGeom>
        </p:spPr>
        <p:txBody>
          <a:bodyPr wrap="square" lIns="0" tIns="0" rIns="0" bIns="0" rtlCol="0" anchor="t">
            <a:spAutoFit/>
          </a:bodyPr>
          <a:lstStyle/>
          <a:p>
            <a:pPr algn="ctr">
              <a:lnSpc>
                <a:spcPts val="3819"/>
              </a:lnSpc>
            </a:pPr>
            <a:r>
              <a:rPr lang="en-US" sz="2728" b="1">
                <a:solidFill>
                  <a:srgbClr val="FFFFFF"/>
                </a:solidFill>
                <a:latin typeface="Poppins Bold"/>
                <a:ea typeface="Poppins Bold"/>
                <a:cs typeface="Poppins Bold"/>
                <a:sym typeface="Poppins Bold"/>
              </a:rPr>
              <a:t>Generate response</a:t>
            </a:r>
          </a:p>
        </p:txBody>
      </p:sp>
      <p:sp>
        <p:nvSpPr>
          <p:cNvPr id="100" name="Freeform 6">
            <a:extLst>
              <a:ext uri="{FF2B5EF4-FFF2-40B4-BE49-F238E27FC236}">
                <a16:creationId xmlns:a16="http://schemas.microsoft.com/office/drawing/2014/main" id="{0C9AA5CF-51A2-7E24-951C-1D5E0D8DE98B}"/>
              </a:ext>
            </a:extLst>
          </p:cNvPr>
          <p:cNvSpPr/>
          <p:nvPr/>
        </p:nvSpPr>
        <p:spPr>
          <a:xfrm>
            <a:off x="789727" y="1384676"/>
            <a:ext cx="592741" cy="592741"/>
          </a:xfrm>
          <a:custGeom>
            <a:avLst/>
            <a:gdLst/>
            <a:ahLst/>
            <a:cxnLst/>
            <a:rect l="l" t="t" r="r" b="b"/>
            <a:pathLst>
              <a:path w="1555891" h="1555891">
                <a:moveTo>
                  <a:pt x="0" y="0"/>
                </a:moveTo>
                <a:lnTo>
                  <a:pt x="1555891" y="0"/>
                </a:lnTo>
                <a:lnTo>
                  <a:pt x="1555891" y="1555891"/>
                </a:lnTo>
                <a:lnTo>
                  <a:pt x="0" y="1555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1" name="TextBox 16">
            <a:extLst>
              <a:ext uri="{FF2B5EF4-FFF2-40B4-BE49-F238E27FC236}">
                <a16:creationId xmlns:a16="http://schemas.microsoft.com/office/drawing/2014/main" id="{F6829913-A085-502E-7C75-CCD9453B247A}"/>
              </a:ext>
            </a:extLst>
          </p:cNvPr>
          <p:cNvSpPr txBox="1"/>
          <p:nvPr/>
        </p:nvSpPr>
        <p:spPr>
          <a:xfrm>
            <a:off x="298711" y="2070418"/>
            <a:ext cx="1628946" cy="307777"/>
          </a:xfrm>
          <a:prstGeom prst="rect">
            <a:avLst/>
          </a:prstGeom>
        </p:spPr>
        <p:txBody>
          <a:bodyPr wrap="square" lIns="0" tIns="0" rIns="0" bIns="0" rtlCol="0" anchor="t">
            <a:spAutoFit/>
          </a:bodyPr>
          <a:lstStyle/>
          <a:p>
            <a:pPr algn="ctr"/>
            <a:r>
              <a:rPr lang="en-US" sz="2000" b="1">
                <a:latin typeface="Poppins Bold"/>
                <a:ea typeface="Poppins Bold"/>
                <a:cs typeface="Poppins Bold"/>
                <a:sym typeface="Poppins Bold"/>
              </a:rPr>
              <a:t>User question</a:t>
            </a:r>
          </a:p>
        </p:txBody>
      </p:sp>
      <p:sp>
        <p:nvSpPr>
          <p:cNvPr id="102" name="AutoShape 34">
            <a:extLst>
              <a:ext uri="{FF2B5EF4-FFF2-40B4-BE49-F238E27FC236}">
                <a16:creationId xmlns:a16="http://schemas.microsoft.com/office/drawing/2014/main" id="{F83714C0-EA6B-17E0-D4C4-2A556E5AB369}"/>
              </a:ext>
            </a:extLst>
          </p:cNvPr>
          <p:cNvSpPr/>
          <p:nvPr/>
        </p:nvSpPr>
        <p:spPr>
          <a:xfrm flipH="1">
            <a:off x="1070890" y="2475925"/>
            <a:ext cx="16242" cy="370624"/>
          </a:xfrm>
          <a:prstGeom prst="line">
            <a:avLst/>
          </a:prstGeom>
          <a:ln w="38100" cap="flat">
            <a:solidFill>
              <a:srgbClr val="000000"/>
            </a:solidFill>
            <a:prstDash val="solid"/>
            <a:headEnd type="none" w="sm" len="sm"/>
            <a:tailEnd type="triangle" w="lg" len="med"/>
          </a:ln>
        </p:spPr>
        <p:txBody>
          <a:bodyPr/>
          <a:lstStyle/>
          <a:p>
            <a:endParaRPr lang="en-US"/>
          </a:p>
        </p:txBody>
      </p:sp>
    </p:spTree>
    <p:extLst>
      <p:ext uri="{BB962C8B-B14F-4D97-AF65-F5344CB8AC3E}">
        <p14:creationId xmlns:p14="http://schemas.microsoft.com/office/powerpoint/2010/main" val="328240090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59E03-0C8F-A8AB-578B-A28D9F2C4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F9E15-9A30-8394-CF42-FA2168757EC0}"/>
              </a:ext>
            </a:extLst>
          </p:cNvPr>
          <p:cNvSpPr>
            <a:spLocks noGrp="1"/>
          </p:cNvSpPr>
          <p:nvPr>
            <p:ph type="title"/>
          </p:nvPr>
        </p:nvSpPr>
        <p:spPr/>
        <p:txBody>
          <a:bodyPr/>
          <a:lstStyle/>
          <a:p>
            <a:r>
              <a:rPr lang="en-US" sz="3600" dirty="0">
                <a:solidFill>
                  <a:srgbClr val="000000"/>
                </a:solidFill>
              </a:rPr>
              <a:t>Model Context Protocol</a:t>
            </a:r>
            <a:endParaRPr lang="en-US"/>
          </a:p>
        </p:txBody>
      </p:sp>
      <p:sp>
        <p:nvSpPr>
          <p:cNvPr id="26" name="Rectangle 25">
            <a:extLst>
              <a:ext uri="{FF2B5EF4-FFF2-40B4-BE49-F238E27FC236}">
                <a16:creationId xmlns:a16="http://schemas.microsoft.com/office/drawing/2014/main" id="{95285A50-C726-6321-D702-23D05276E451}"/>
              </a:ext>
            </a:extLst>
          </p:cNvPr>
          <p:cNvSpPr/>
          <p:nvPr/>
        </p:nvSpPr>
        <p:spPr>
          <a:xfrm>
            <a:off x="478972" y="1706674"/>
            <a:ext cx="10389325" cy="4429333"/>
          </a:xfrm>
          <a:custGeom>
            <a:avLst/>
            <a:gdLst>
              <a:gd name="connsiteX0" fmla="*/ 0 w 10389325"/>
              <a:gd name="connsiteY0" fmla="*/ 0 h 4429333"/>
              <a:gd name="connsiteX1" fmla="*/ 588728 w 10389325"/>
              <a:gd name="connsiteY1" fmla="*/ 0 h 4429333"/>
              <a:gd name="connsiteX2" fmla="*/ 969670 w 10389325"/>
              <a:gd name="connsiteY2" fmla="*/ 0 h 4429333"/>
              <a:gd name="connsiteX3" fmla="*/ 1870079 w 10389325"/>
              <a:gd name="connsiteY3" fmla="*/ 0 h 4429333"/>
              <a:gd name="connsiteX4" fmla="*/ 2458807 w 10389325"/>
              <a:gd name="connsiteY4" fmla="*/ 0 h 4429333"/>
              <a:gd name="connsiteX5" fmla="*/ 3047535 w 10389325"/>
              <a:gd name="connsiteY5" fmla="*/ 0 h 4429333"/>
              <a:gd name="connsiteX6" fmla="*/ 3947944 w 10389325"/>
              <a:gd name="connsiteY6" fmla="*/ 0 h 4429333"/>
              <a:gd name="connsiteX7" fmla="*/ 4432779 w 10389325"/>
              <a:gd name="connsiteY7" fmla="*/ 0 h 4429333"/>
              <a:gd name="connsiteX8" fmla="*/ 5333187 w 10389325"/>
              <a:gd name="connsiteY8" fmla="*/ 0 h 4429333"/>
              <a:gd name="connsiteX9" fmla="*/ 6233595 w 10389325"/>
              <a:gd name="connsiteY9" fmla="*/ 0 h 4429333"/>
              <a:gd name="connsiteX10" fmla="*/ 6926217 w 10389325"/>
              <a:gd name="connsiteY10" fmla="*/ 0 h 4429333"/>
              <a:gd name="connsiteX11" fmla="*/ 7826625 w 10389325"/>
              <a:gd name="connsiteY11" fmla="*/ 0 h 4429333"/>
              <a:gd name="connsiteX12" fmla="*/ 8415353 w 10389325"/>
              <a:gd name="connsiteY12" fmla="*/ 0 h 4429333"/>
              <a:gd name="connsiteX13" fmla="*/ 9004082 w 10389325"/>
              <a:gd name="connsiteY13" fmla="*/ 0 h 4429333"/>
              <a:gd name="connsiteX14" fmla="*/ 9800597 w 10389325"/>
              <a:gd name="connsiteY14" fmla="*/ 0 h 4429333"/>
              <a:gd name="connsiteX15" fmla="*/ 10389325 w 10389325"/>
              <a:gd name="connsiteY15" fmla="*/ 0 h 4429333"/>
              <a:gd name="connsiteX16" fmla="*/ 10389325 w 10389325"/>
              <a:gd name="connsiteY16" fmla="*/ 721349 h 4429333"/>
              <a:gd name="connsiteX17" fmla="*/ 10389325 w 10389325"/>
              <a:gd name="connsiteY17" fmla="*/ 1398404 h 4429333"/>
              <a:gd name="connsiteX18" fmla="*/ 10389325 w 10389325"/>
              <a:gd name="connsiteY18" fmla="*/ 2075459 h 4429333"/>
              <a:gd name="connsiteX19" fmla="*/ 10389325 w 10389325"/>
              <a:gd name="connsiteY19" fmla="*/ 2752514 h 4429333"/>
              <a:gd name="connsiteX20" fmla="*/ 10389325 w 10389325"/>
              <a:gd name="connsiteY20" fmla="*/ 3252396 h 4429333"/>
              <a:gd name="connsiteX21" fmla="*/ 10389325 w 10389325"/>
              <a:gd name="connsiteY21" fmla="*/ 3796571 h 4429333"/>
              <a:gd name="connsiteX22" fmla="*/ 10389325 w 10389325"/>
              <a:gd name="connsiteY22" fmla="*/ 4429333 h 4429333"/>
              <a:gd name="connsiteX23" fmla="*/ 9800597 w 10389325"/>
              <a:gd name="connsiteY23" fmla="*/ 4429333 h 4429333"/>
              <a:gd name="connsiteX24" fmla="*/ 9107975 w 10389325"/>
              <a:gd name="connsiteY24" fmla="*/ 4429333 h 4429333"/>
              <a:gd name="connsiteX25" fmla="*/ 8727033 w 10389325"/>
              <a:gd name="connsiteY25" fmla="*/ 4429333 h 4429333"/>
              <a:gd name="connsiteX26" fmla="*/ 8346091 w 10389325"/>
              <a:gd name="connsiteY26" fmla="*/ 4429333 h 4429333"/>
              <a:gd name="connsiteX27" fmla="*/ 7653469 w 10389325"/>
              <a:gd name="connsiteY27" fmla="*/ 4429333 h 4429333"/>
              <a:gd name="connsiteX28" fmla="*/ 7168634 w 10389325"/>
              <a:gd name="connsiteY28" fmla="*/ 4429333 h 4429333"/>
              <a:gd name="connsiteX29" fmla="*/ 6372119 w 10389325"/>
              <a:gd name="connsiteY29" fmla="*/ 4429333 h 4429333"/>
              <a:gd name="connsiteX30" fmla="*/ 5887284 w 10389325"/>
              <a:gd name="connsiteY30" fmla="*/ 4429333 h 4429333"/>
              <a:gd name="connsiteX31" fmla="*/ 5090769 w 10389325"/>
              <a:gd name="connsiteY31" fmla="*/ 4429333 h 4429333"/>
              <a:gd name="connsiteX32" fmla="*/ 4709827 w 10389325"/>
              <a:gd name="connsiteY32" fmla="*/ 4429333 h 4429333"/>
              <a:gd name="connsiteX33" fmla="*/ 3913312 w 10389325"/>
              <a:gd name="connsiteY33" fmla="*/ 4429333 h 4429333"/>
              <a:gd name="connsiteX34" fmla="*/ 3428477 w 10389325"/>
              <a:gd name="connsiteY34" fmla="*/ 4429333 h 4429333"/>
              <a:gd name="connsiteX35" fmla="*/ 3047535 w 10389325"/>
              <a:gd name="connsiteY35" fmla="*/ 4429333 h 4429333"/>
              <a:gd name="connsiteX36" fmla="*/ 2562700 w 10389325"/>
              <a:gd name="connsiteY36" fmla="*/ 4429333 h 4429333"/>
              <a:gd name="connsiteX37" fmla="*/ 1766185 w 10389325"/>
              <a:gd name="connsiteY37" fmla="*/ 4429333 h 4429333"/>
              <a:gd name="connsiteX38" fmla="*/ 1281350 w 10389325"/>
              <a:gd name="connsiteY38" fmla="*/ 4429333 h 4429333"/>
              <a:gd name="connsiteX39" fmla="*/ 900408 w 10389325"/>
              <a:gd name="connsiteY39" fmla="*/ 4429333 h 4429333"/>
              <a:gd name="connsiteX40" fmla="*/ 0 w 10389325"/>
              <a:gd name="connsiteY40" fmla="*/ 4429333 h 4429333"/>
              <a:gd name="connsiteX41" fmla="*/ 0 w 10389325"/>
              <a:gd name="connsiteY41" fmla="*/ 3840864 h 4429333"/>
              <a:gd name="connsiteX42" fmla="*/ 0 w 10389325"/>
              <a:gd name="connsiteY42" fmla="*/ 3340983 h 4429333"/>
              <a:gd name="connsiteX43" fmla="*/ 0 w 10389325"/>
              <a:gd name="connsiteY43" fmla="*/ 2708221 h 4429333"/>
              <a:gd name="connsiteX44" fmla="*/ 0 w 10389325"/>
              <a:gd name="connsiteY44" fmla="*/ 2164046 h 4429333"/>
              <a:gd name="connsiteX45" fmla="*/ 0 w 10389325"/>
              <a:gd name="connsiteY45" fmla="*/ 1531284 h 4429333"/>
              <a:gd name="connsiteX46" fmla="*/ 0 w 10389325"/>
              <a:gd name="connsiteY46" fmla="*/ 898522 h 4429333"/>
              <a:gd name="connsiteX47" fmla="*/ 0 w 10389325"/>
              <a:gd name="connsiteY47" fmla="*/ 0 h 4429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0389325" h="4429333" extrusionOk="0">
                <a:moveTo>
                  <a:pt x="0" y="0"/>
                </a:moveTo>
                <a:cubicBezTo>
                  <a:pt x="226949" y="13887"/>
                  <a:pt x="453433" y="23976"/>
                  <a:pt x="588728" y="0"/>
                </a:cubicBezTo>
                <a:cubicBezTo>
                  <a:pt x="724023" y="-23976"/>
                  <a:pt x="787673" y="-8139"/>
                  <a:pt x="969670" y="0"/>
                </a:cubicBezTo>
                <a:cubicBezTo>
                  <a:pt x="1151667" y="8139"/>
                  <a:pt x="1614390" y="13307"/>
                  <a:pt x="1870079" y="0"/>
                </a:cubicBezTo>
                <a:cubicBezTo>
                  <a:pt x="2125768" y="-13307"/>
                  <a:pt x="2284961" y="4400"/>
                  <a:pt x="2458807" y="0"/>
                </a:cubicBezTo>
                <a:cubicBezTo>
                  <a:pt x="2632653" y="-4400"/>
                  <a:pt x="2917320" y="28465"/>
                  <a:pt x="3047535" y="0"/>
                </a:cubicBezTo>
                <a:cubicBezTo>
                  <a:pt x="3177750" y="-28465"/>
                  <a:pt x="3701760" y="10389"/>
                  <a:pt x="3947944" y="0"/>
                </a:cubicBezTo>
                <a:cubicBezTo>
                  <a:pt x="4194128" y="-10389"/>
                  <a:pt x="4229634" y="4396"/>
                  <a:pt x="4432779" y="0"/>
                </a:cubicBezTo>
                <a:cubicBezTo>
                  <a:pt x="4635925" y="-4396"/>
                  <a:pt x="5123839" y="-43681"/>
                  <a:pt x="5333187" y="0"/>
                </a:cubicBezTo>
                <a:cubicBezTo>
                  <a:pt x="5542535" y="43681"/>
                  <a:pt x="5827978" y="30158"/>
                  <a:pt x="6233595" y="0"/>
                </a:cubicBezTo>
                <a:cubicBezTo>
                  <a:pt x="6639212" y="-30158"/>
                  <a:pt x="6706387" y="-8432"/>
                  <a:pt x="6926217" y="0"/>
                </a:cubicBezTo>
                <a:cubicBezTo>
                  <a:pt x="7146047" y="8432"/>
                  <a:pt x="7410937" y="-12223"/>
                  <a:pt x="7826625" y="0"/>
                </a:cubicBezTo>
                <a:cubicBezTo>
                  <a:pt x="8242313" y="12223"/>
                  <a:pt x="8196161" y="3330"/>
                  <a:pt x="8415353" y="0"/>
                </a:cubicBezTo>
                <a:cubicBezTo>
                  <a:pt x="8634545" y="-3330"/>
                  <a:pt x="8804751" y="-27690"/>
                  <a:pt x="9004082" y="0"/>
                </a:cubicBezTo>
                <a:cubicBezTo>
                  <a:pt x="9203413" y="27690"/>
                  <a:pt x="9630485" y="-20735"/>
                  <a:pt x="9800597" y="0"/>
                </a:cubicBezTo>
                <a:cubicBezTo>
                  <a:pt x="9970709" y="20735"/>
                  <a:pt x="10193114" y="10519"/>
                  <a:pt x="10389325" y="0"/>
                </a:cubicBezTo>
                <a:cubicBezTo>
                  <a:pt x="10387264" y="286140"/>
                  <a:pt x="10378542" y="482918"/>
                  <a:pt x="10389325" y="721349"/>
                </a:cubicBezTo>
                <a:cubicBezTo>
                  <a:pt x="10400108" y="959780"/>
                  <a:pt x="10420623" y="1133500"/>
                  <a:pt x="10389325" y="1398404"/>
                </a:cubicBezTo>
                <a:cubicBezTo>
                  <a:pt x="10358027" y="1663309"/>
                  <a:pt x="10410594" y="1893957"/>
                  <a:pt x="10389325" y="2075459"/>
                </a:cubicBezTo>
                <a:cubicBezTo>
                  <a:pt x="10368056" y="2256962"/>
                  <a:pt x="10361328" y="2576112"/>
                  <a:pt x="10389325" y="2752514"/>
                </a:cubicBezTo>
                <a:cubicBezTo>
                  <a:pt x="10417322" y="2928917"/>
                  <a:pt x="10373752" y="3007804"/>
                  <a:pt x="10389325" y="3252396"/>
                </a:cubicBezTo>
                <a:cubicBezTo>
                  <a:pt x="10404898" y="3496988"/>
                  <a:pt x="10376523" y="3660707"/>
                  <a:pt x="10389325" y="3796571"/>
                </a:cubicBezTo>
                <a:cubicBezTo>
                  <a:pt x="10402127" y="3932436"/>
                  <a:pt x="10403561" y="4216209"/>
                  <a:pt x="10389325" y="4429333"/>
                </a:cubicBezTo>
                <a:cubicBezTo>
                  <a:pt x="10219044" y="4448630"/>
                  <a:pt x="10062383" y="4439730"/>
                  <a:pt x="9800597" y="4429333"/>
                </a:cubicBezTo>
                <a:cubicBezTo>
                  <a:pt x="9538811" y="4418936"/>
                  <a:pt x="9271928" y="4457495"/>
                  <a:pt x="9107975" y="4429333"/>
                </a:cubicBezTo>
                <a:cubicBezTo>
                  <a:pt x="8944022" y="4401171"/>
                  <a:pt x="8827133" y="4447119"/>
                  <a:pt x="8727033" y="4429333"/>
                </a:cubicBezTo>
                <a:cubicBezTo>
                  <a:pt x="8626933" y="4411547"/>
                  <a:pt x="8457924" y="4436375"/>
                  <a:pt x="8346091" y="4429333"/>
                </a:cubicBezTo>
                <a:cubicBezTo>
                  <a:pt x="8234258" y="4422291"/>
                  <a:pt x="7985335" y="4457526"/>
                  <a:pt x="7653469" y="4429333"/>
                </a:cubicBezTo>
                <a:cubicBezTo>
                  <a:pt x="7321603" y="4401140"/>
                  <a:pt x="7410639" y="4410806"/>
                  <a:pt x="7168634" y="4429333"/>
                </a:cubicBezTo>
                <a:cubicBezTo>
                  <a:pt x="6926629" y="4447860"/>
                  <a:pt x="6581223" y="4400881"/>
                  <a:pt x="6372119" y="4429333"/>
                </a:cubicBezTo>
                <a:cubicBezTo>
                  <a:pt x="6163016" y="4457785"/>
                  <a:pt x="6037751" y="4431448"/>
                  <a:pt x="5887284" y="4429333"/>
                </a:cubicBezTo>
                <a:cubicBezTo>
                  <a:pt x="5736817" y="4427218"/>
                  <a:pt x="5438877" y="4448825"/>
                  <a:pt x="5090769" y="4429333"/>
                </a:cubicBezTo>
                <a:cubicBezTo>
                  <a:pt x="4742661" y="4409841"/>
                  <a:pt x="4827515" y="4421231"/>
                  <a:pt x="4709827" y="4429333"/>
                </a:cubicBezTo>
                <a:cubicBezTo>
                  <a:pt x="4592139" y="4437435"/>
                  <a:pt x="4183691" y="4462732"/>
                  <a:pt x="3913312" y="4429333"/>
                </a:cubicBezTo>
                <a:cubicBezTo>
                  <a:pt x="3642934" y="4395934"/>
                  <a:pt x="3625184" y="4419731"/>
                  <a:pt x="3428477" y="4429333"/>
                </a:cubicBezTo>
                <a:cubicBezTo>
                  <a:pt x="3231771" y="4438935"/>
                  <a:pt x="3223475" y="4414202"/>
                  <a:pt x="3047535" y="4429333"/>
                </a:cubicBezTo>
                <a:cubicBezTo>
                  <a:pt x="2871595" y="4444464"/>
                  <a:pt x="2673931" y="4428195"/>
                  <a:pt x="2562700" y="4429333"/>
                </a:cubicBezTo>
                <a:cubicBezTo>
                  <a:pt x="2451470" y="4430471"/>
                  <a:pt x="2048256" y="4399983"/>
                  <a:pt x="1766185" y="4429333"/>
                </a:cubicBezTo>
                <a:cubicBezTo>
                  <a:pt x="1484115" y="4458683"/>
                  <a:pt x="1415764" y="4414451"/>
                  <a:pt x="1281350" y="4429333"/>
                </a:cubicBezTo>
                <a:cubicBezTo>
                  <a:pt x="1146937" y="4444215"/>
                  <a:pt x="1010330" y="4430713"/>
                  <a:pt x="900408" y="4429333"/>
                </a:cubicBezTo>
                <a:cubicBezTo>
                  <a:pt x="790486" y="4427953"/>
                  <a:pt x="264124" y="4474208"/>
                  <a:pt x="0" y="4429333"/>
                </a:cubicBezTo>
                <a:cubicBezTo>
                  <a:pt x="-17937" y="4303227"/>
                  <a:pt x="-17871" y="4084926"/>
                  <a:pt x="0" y="3840864"/>
                </a:cubicBezTo>
                <a:cubicBezTo>
                  <a:pt x="17871" y="3596802"/>
                  <a:pt x="3699" y="3516666"/>
                  <a:pt x="0" y="3340983"/>
                </a:cubicBezTo>
                <a:cubicBezTo>
                  <a:pt x="-3699" y="3165300"/>
                  <a:pt x="25967" y="3003404"/>
                  <a:pt x="0" y="2708221"/>
                </a:cubicBezTo>
                <a:cubicBezTo>
                  <a:pt x="-25967" y="2413038"/>
                  <a:pt x="7689" y="2287334"/>
                  <a:pt x="0" y="2164046"/>
                </a:cubicBezTo>
                <a:cubicBezTo>
                  <a:pt x="-7689" y="2040758"/>
                  <a:pt x="21715" y="1739328"/>
                  <a:pt x="0" y="1531284"/>
                </a:cubicBezTo>
                <a:cubicBezTo>
                  <a:pt x="-21715" y="1323240"/>
                  <a:pt x="3786" y="1154186"/>
                  <a:pt x="0" y="898522"/>
                </a:cubicBezTo>
                <a:cubicBezTo>
                  <a:pt x="-3786" y="642858"/>
                  <a:pt x="25286" y="316425"/>
                  <a:pt x="0" y="0"/>
                </a:cubicBezTo>
                <a:close/>
              </a:path>
            </a:pathLst>
          </a:custGeom>
          <a:noFill/>
          <a:ln>
            <a:solidFill>
              <a:schemeClr val="tx1"/>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FFD7CAB9-961A-3EDF-E157-5B369D3D789E}"/>
              </a:ext>
            </a:extLst>
          </p:cNvPr>
          <p:cNvGrpSpPr/>
          <p:nvPr/>
        </p:nvGrpSpPr>
        <p:grpSpPr>
          <a:xfrm>
            <a:off x="594180" y="1977585"/>
            <a:ext cx="10154504" cy="3863357"/>
            <a:chOff x="594180" y="1658904"/>
            <a:chExt cx="10154504" cy="3863357"/>
          </a:xfrm>
        </p:grpSpPr>
        <p:sp>
          <p:nvSpPr>
            <p:cNvPr id="28" name="Rounded Rectangle 27">
              <a:extLst>
                <a:ext uri="{FF2B5EF4-FFF2-40B4-BE49-F238E27FC236}">
                  <a16:creationId xmlns:a16="http://schemas.microsoft.com/office/drawing/2014/main" id="{A7166FAA-41E0-42FC-F9D9-3675D02CD777}"/>
                </a:ext>
              </a:extLst>
            </p:cNvPr>
            <p:cNvSpPr/>
            <p:nvPr/>
          </p:nvSpPr>
          <p:spPr>
            <a:xfrm>
              <a:off x="5417190" y="2039845"/>
              <a:ext cx="5331494" cy="1604682"/>
            </a:xfrm>
            <a:prstGeom prst="roundRect">
              <a:avLst>
                <a:gd name="adj" fmla="val 3259"/>
              </a:avLst>
            </a:prstGeom>
            <a:solidFill>
              <a:srgbClr val="C03BC4"/>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b="1">
                  <a:latin typeface="Segoe UI Semibold" panose="020B0502040204020203" pitchFamily="34" charset="0"/>
                  <a:cs typeface="Segoe UI Semibold" panose="020B0502040204020203" pitchFamily="34" charset="0"/>
                </a:rPr>
                <a:t>MCP Server A</a:t>
              </a: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p:txBody>
        </p:sp>
        <p:sp>
          <p:nvSpPr>
            <p:cNvPr id="29" name="Rounded Rectangle 28">
              <a:extLst>
                <a:ext uri="{FF2B5EF4-FFF2-40B4-BE49-F238E27FC236}">
                  <a16:creationId xmlns:a16="http://schemas.microsoft.com/office/drawing/2014/main" id="{AB05ACC2-BB64-0BED-B78E-06255659BD93}"/>
                </a:ext>
              </a:extLst>
            </p:cNvPr>
            <p:cNvSpPr/>
            <p:nvPr/>
          </p:nvSpPr>
          <p:spPr>
            <a:xfrm>
              <a:off x="594180" y="1658904"/>
              <a:ext cx="3242714" cy="3863357"/>
            </a:xfrm>
            <a:prstGeom prst="roundRect">
              <a:avLst/>
            </a:prstGeom>
            <a:solidFill>
              <a:schemeClr val="accent1"/>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b="1">
                  <a:latin typeface="Segoe UI Semibold" panose="020B0502040204020203" pitchFamily="34" charset="0"/>
                  <a:cs typeface="Segoe UI Semibold" panose="020B0502040204020203" pitchFamily="34" charset="0"/>
                </a:rPr>
                <a:t>MCP Host </a:t>
              </a:r>
            </a:p>
            <a:p>
              <a:pPr algn="ctr"/>
              <a:r>
                <a:rPr lang="en-US" b="1">
                  <a:latin typeface="Segoe UI Semibold" panose="020B0502040204020203" pitchFamily="34" charset="0"/>
                  <a:cs typeface="Segoe UI Semibold" panose="020B0502040204020203" pitchFamily="34" charset="0"/>
                </a:rPr>
                <a:t>Claude, GitHub Copilot, ...</a:t>
              </a: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p:txBody>
        </p:sp>
        <p:cxnSp>
          <p:nvCxnSpPr>
            <p:cNvPr id="30" name="Straight Arrow Connector 29">
              <a:extLst>
                <a:ext uri="{FF2B5EF4-FFF2-40B4-BE49-F238E27FC236}">
                  <a16:creationId xmlns:a16="http://schemas.microsoft.com/office/drawing/2014/main" id="{4A7E76BE-F5D0-5091-654E-16617155A8CC}"/>
                </a:ext>
              </a:extLst>
            </p:cNvPr>
            <p:cNvCxnSpPr>
              <a:cxnSpLocks/>
            </p:cNvCxnSpPr>
            <p:nvPr/>
          </p:nvCxnSpPr>
          <p:spPr>
            <a:xfrm flipV="1">
              <a:off x="3836894" y="2835464"/>
              <a:ext cx="1580296" cy="6722"/>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0E366DC9-2EF8-2B25-4F48-9142A01C477A}"/>
                </a:ext>
              </a:extLst>
            </p:cNvPr>
            <p:cNvSpPr txBox="1"/>
            <p:nvPr/>
          </p:nvSpPr>
          <p:spPr>
            <a:xfrm>
              <a:off x="4214058" y="2440583"/>
              <a:ext cx="663964" cy="369332"/>
            </a:xfrm>
            <a:prstGeom prst="rect">
              <a:avLst/>
            </a:prstGeom>
            <a:noFill/>
          </p:spPr>
          <p:txBody>
            <a:bodyPr wrap="none" rtlCol="0">
              <a:spAutoFit/>
            </a:bodyPr>
            <a:lstStyle/>
            <a:p>
              <a:r>
                <a:rPr lang="en-US">
                  <a:latin typeface="Segoe UI" panose="020B0502040204020203" pitchFamily="34" charset="0"/>
                  <a:cs typeface="Segoe UI" panose="020B0502040204020203" pitchFamily="34" charset="0"/>
                </a:rPr>
                <a:t>MCP</a:t>
              </a:r>
            </a:p>
          </p:txBody>
        </p:sp>
        <p:cxnSp>
          <p:nvCxnSpPr>
            <p:cNvPr id="32" name="Straight Arrow Connector 31">
              <a:extLst>
                <a:ext uri="{FF2B5EF4-FFF2-40B4-BE49-F238E27FC236}">
                  <a16:creationId xmlns:a16="http://schemas.microsoft.com/office/drawing/2014/main" id="{EF108BC2-8188-27D1-458D-CE7A485E70BF}"/>
                </a:ext>
              </a:extLst>
            </p:cNvPr>
            <p:cNvCxnSpPr>
              <a:cxnSpLocks/>
            </p:cNvCxnSpPr>
            <p:nvPr/>
          </p:nvCxnSpPr>
          <p:spPr>
            <a:xfrm>
              <a:off x="3836894" y="4667665"/>
              <a:ext cx="1580296"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E1D8D0D1-3A1E-2C47-EDAA-64961F01EE51}"/>
                </a:ext>
              </a:extLst>
            </p:cNvPr>
            <p:cNvSpPr txBox="1"/>
            <p:nvPr/>
          </p:nvSpPr>
          <p:spPr>
            <a:xfrm>
              <a:off x="4214058" y="4271408"/>
              <a:ext cx="663964" cy="369332"/>
            </a:xfrm>
            <a:prstGeom prst="rect">
              <a:avLst/>
            </a:prstGeom>
            <a:noFill/>
          </p:spPr>
          <p:txBody>
            <a:bodyPr wrap="none" rtlCol="0">
              <a:spAutoFit/>
            </a:bodyPr>
            <a:lstStyle/>
            <a:p>
              <a:r>
                <a:rPr lang="en-US">
                  <a:latin typeface="Segoe UI" panose="020B0502040204020203" pitchFamily="34" charset="0"/>
                  <a:cs typeface="Segoe UI" panose="020B0502040204020203" pitchFamily="34" charset="0"/>
                </a:rPr>
                <a:t>MCP</a:t>
              </a:r>
            </a:p>
          </p:txBody>
        </p:sp>
        <p:sp>
          <p:nvSpPr>
            <p:cNvPr id="34" name="Rounded Rectangle 33">
              <a:extLst>
                <a:ext uri="{FF2B5EF4-FFF2-40B4-BE49-F238E27FC236}">
                  <a16:creationId xmlns:a16="http://schemas.microsoft.com/office/drawing/2014/main" id="{0812BDF0-93F0-9858-4096-15AD251ACD42}"/>
                </a:ext>
              </a:extLst>
            </p:cNvPr>
            <p:cNvSpPr/>
            <p:nvPr/>
          </p:nvSpPr>
          <p:spPr>
            <a:xfrm>
              <a:off x="5636183" y="2940795"/>
              <a:ext cx="1465731" cy="464973"/>
            </a:xfrm>
            <a:prstGeom prst="roundRect">
              <a:avLst/>
            </a:prstGeom>
            <a:solidFill>
              <a:srgbClr val="7025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Tools</a:t>
              </a:r>
            </a:p>
          </p:txBody>
        </p:sp>
        <p:sp>
          <p:nvSpPr>
            <p:cNvPr id="35" name="Rounded Rectangle 34">
              <a:extLst>
                <a:ext uri="{FF2B5EF4-FFF2-40B4-BE49-F238E27FC236}">
                  <a16:creationId xmlns:a16="http://schemas.microsoft.com/office/drawing/2014/main" id="{E97C58E6-F18B-E0B7-FCED-5F94B2EF3C49}"/>
                </a:ext>
              </a:extLst>
            </p:cNvPr>
            <p:cNvSpPr/>
            <p:nvPr/>
          </p:nvSpPr>
          <p:spPr>
            <a:xfrm>
              <a:off x="7256855" y="2940795"/>
              <a:ext cx="1574313" cy="464973"/>
            </a:xfrm>
            <a:prstGeom prst="roundRect">
              <a:avLst/>
            </a:prstGeom>
            <a:solidFill>
              <a:srgbClr val="7025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Prompts</a:t>
              </a:r>
            </a:p>
          </p:txBody>
        </p:sp>
        <p:sp>
          <p:nvSpPr>
            <p:cNvPr id="36" name="Rounded Rectangle 35">
              <a:extLst>
                <a:ext uri="{FF2B5EF4-FFF2-40B4-BE49-F238E27FC236}">
                  <a16:creationId xmlns:a16="http://schemas.microsoft.com/office/drawing/2014/main" id="{91C237E8-CFD9-43EC-E651-6FE083F3717E}"/>
                </a:ext>
              </a:extLst>
            </p:cNvPr>
            <p:cNvSpPr/>
            <p:nvPr/>
          </p:nvSpPr>
          <p:spPr>
            <a:xfrm>
              <a:off x="8986109" y="2930783"/>
              <a:ext cx="1574313" cy="464973"/>
            </a:xfrm>
            <a:prstGeom prst="roundRect">
              <a:avLst/>
            </a:prstGeom>
            <a:solidFill>
              <a:srgbClr val="7025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Resources</a:t>
              </a:r>
            </a:p>
          </p:txBody>
        </p:sp>
        <p:sp>
          <p:nvSpPr>
            <p:cNvPr id="37" name="Rounded Rectangle 36">
              <a:extLst>
                <a:ext uri="{FF2B5EF4-FFF2-40B4-BE49-F238E27FC236}">
                  <a16:creationId xmlns:a16="http://schemas.microsoft.com/office/drawing/2014/main" id="{3FA34968-6625-9746-586F-2D1094FF2A89}"/>
                </a:ext>
              </a:extLst>
            </p:cNvPr>
            <p:cNvSpPr/>
            <p:nvPr/>
          </p:nvSpPr>
          <p:spPr>
            <a:xfrm>
              <a:off x="5417190" y="3865325"/>
              <a:ext cx="5331494" cy="1604682"/>
            </a:xfrm>
            <a:prstGeom prst="roundRect">
              <a:avLst>
                <a:gd name="adj" fmla="val 3259"/>
              </a:avLst>
            </a:prstGeom>
            <a:solidFill>
              <a:srgbClr val="C03BC4"/>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b="1">
                  <a:latin typeface="Segoe UI Semibold" panose="020B0502040204020203" pitchFamily="34" charset="0"/>
                  <a:cs typeface="Segoe UI Semibold" panose="020B0502040204020203" pitchFamily="34" charset="0"/>
                </a:rPr>
                <a:t>MCP Server B</a:t>
              </a: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a:p>
              <a:pPr algn="ctr"/>
              <a:endParaRPr lang="en-US" b="1">
                <a:latin typeface="Segoe UI Semibold" panose="020B0502040204020203" pitchFamily="34" charset="0"/>
                <a:cs typeface="Segoe UI Semibold" panose="020B0502040204020203" pitchFamily="34" charset="0"/>
              </a:endParaRPr>
            </a:p>
          </p:txBody>
        </p:sp>
        <p:sp>
          <p:nvSpPr>
            <p:cNvPr id="38" name="Rounded Rectangle 37">
              <a:extLst>
                <a:ext uri="{FF2B5EF4-FFF2-40B4-BE49-F238E27FC236}">
                  <a16:creationId xmlns:a16="http://schemas.microsoft.com/office/drawing/2014/main" id="{F26344C0-01AB-478B-635B-D7DF3D6B714E}"/>
                </a:ext>
              </a:extLst>
            </p:cNvPr>
            <p:cNvSpPr/>
            <p:nvPr/>
          </p:nvSpPr>
          <p:spPr>
            <a:xfrm>
              <a:off x="5662310" y="4766275"/>
              <a:ext cx="1465731" cy="464973"/>
            </a:xfrm>
            <a:prstGeom prst="roundRect">
              <a:avLst/>
            </a:prstGeom>
            <a:solidFill>
              <a:srgbClr val="7025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Tools</a:t>
              </a:r>
            </a:p>
          </p:txBody>
        </p:sp>
        <p:sp>
          <p:nvSpPr>
            <p:cNvPr id="39" name="Rounded Rectangle 38">
              <a:extLst>
                <a:ext uri="{FF2B5EF4-FFF2-40B4-BE49-F238E27FC236}">
                  <a16:creationId xmlns:a16="http://schemas.microsoft.com/office/drawing/2014/main" id="{562D9FE1-F96C-6802-5950-D1866E0D40C9}"/>
                </a:ext>
              </a:extLst>
            </p:cNvPr>
            <p:cNvSpPr/>
            <p:nvPr/>
          </p:nvSpPr>
          <p:spPr>
            <a:xfrm>
              <a:off x="7282982" y="4766275"/>
              <a:ext cx="1574313" cy="464973"/>
            </a:xfrm>
            <a:prstGeom prst="roundRect">
              <a:avLst/>
            </a:prstGeom>
            <a:solidFill>
              <a:srgbClr val="7025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Prompts</a:t>
              </a:r>
            </a:p>
          </p:txBody>
        </p:sp>
        <p:sp>
          <p:nvSpPr>
            <p:cNvPr id="40" name="Rounded Rectangle 39">
              <a:extLst>
                <a:ext uri="{FF2B5EF4-FFF2-40B4-BE49-F238E27FC236}">
                  <a16:creationId xmlns:a16="http://schemas.microsoft.com/office/drawing/2014/main" id="{0465C101-7612-3AD0-E2A5-5227212DACDB}"/>
                </a:ext>
              </a:extLst>
            </p:cNvPr>
            <p:cNvSpPr/>
            <p:nvPr/>
          </p:nvSpPr>
          <p:spPr>
            <a:xfrm>
              <a:off x="9004441" y="4756263"/>
              <a:ext cx="1574313" cy="464973"/>
            </a:xfrm>
            <a:prstGeom prst="roundRect">
              <a:avLst/>
            </a:prstGeom>
            <a:solidFill>
              <a:srgbClr val="7025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Resources</a:t>
              </a:r>
            </a:p>
          </p:txBody>
        </p:sp>
        <p:sp>
          <p:nvSpPr>
            <p:cNvPr id="41" name="Rounded Rectangle 40">
              <a:extLst>
                <a:ext uri="{FF2B5EF4-FFF2-40B4-BE49-F238E27FC236}">
                  <a16:creationId xmlns:a16="http://schemas.microsoft.com/office/drawing/2014/main" id="{BD2B24CC-D437-9A11-7A89-74DE8EB2BC03}"/>
                </a:ext>
              </a:extLst>
            </p:cNvPr>
            <p:cNvSpPr/>
            <p:nvPr/>
          </p:nvSpPr>
          <p:spPr>
            <a:xfrm>
              <a:off x="859205" y="2519428"/>
              <a:ext cx="2708105" cy="632071"/>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MCP Client A</a:t>
              </a:r>
            </a:p>
          </p:txBody>
        </p:sp>
        <p:sp>
          <p:nvSpPr>
            <p:cNvPr id="42" name="Rounded Rectangle 41">
              <a:extLst>
                <a:ext uri="{FF2B5EF4-FFF2-40B4-BE49-F238E27FC236}">
                  <a16:creationId xmlns:a16="http://schemas.microsoft.com/office/drawing/2014/main" id="{AB66CBCB-F05B-7A92-EE01-3ACD3DD39BCE}"/>
                </a:ext>
              </a:extLst>
            </p:cNvPr>
            <p:cNvSpPr/>
            <p:nvPr/>
          </p:nvSpPr>
          <p:spPr>
            <a:xfrm>
              <a:off x="893335" y="4324704"/>
              <a:ext cx="2708105" cy="632071"/>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MCP Client B</a:t>
              </a:r>
            </a:p>
          </p:txBody>
        </p:sp>
      </p:grpSp>
      <p:sp>
        <p:nvSpPr>
          <p:cNvPr id="43" name="TextBox 42">
            <a:extLst>
              <a:ext uri="{FF2B5EF4-FFF2-40B4-BE49-F238E27FC236}">
                <a16:creationId xmlns:a16="http://schemas.microsoft.com/office/drawing/2014/main" id="{ED92A8E9-1C66-2C56-24BD-D9578C5B6C56}"/>
              </a:ext>
            </a:extLst>
          </p:cNvPr>
          <p:cNvSpPr txBox="1"/>
          <p:nvPr/>
        </p:nvSpPr>
        <p:spPr>
          <a:xfrm>
            <a:off x="8431057" y="1792919"/>
            <a:ext cx="2533856" cy="369332"/>
          </a:xfrm>
          <a:prstGeom prst="rect">
            <a:avLst/>
          </a:prstGeom>
          <a:noFill/>
        </p:spPr>
        <p:txBody>
          <a:bodyPr wrap="square" rtlCol="0">
            <a:spAutoFit/>
          </a:bodyPr>
          <a:lstStyle/>
          <a:p>
            <a:r>
              <a:rPr lang="en-US" b="1">
                <a:latin typeface="Segoe UI Semibold" panose="020B0502040204020203" pitchFamily="34" charset="0"/>
                <a:cs typeface="Segoe UI Semibold" panose="020B0502040204020203" pitchFamily="34" charset="0"/>
              </a:rPr>
              <a:t>Your local computer</a:t>
            </a:r>
          </a:p>
        </p:txBody>
      </p:sp>
      <p:cxnSp>
        <p:nvCxnSpPr>
          <p:cNvPr id="44" name="Straight Arrow Connector 43">
            <a:extLst>
              <a:ext uri="{FF2B5EF4-FFF2-40B4-BE49-F238E27FC236}">
                <a16:creationId xmlns:a16="http://schemas.microsoft.com/office/drawing/2014/main" id="{F3C761CB-C4DD-29A3-0ED5-9EAF0B66E1BD}"/>
              </a:ext>
            </a:extLst>
          </p:cNvPr>
          <p:cNvCxnSpPr>
            <a:cxnSpLocks/>
            <a:endCxn id="45" idx="2"/>
          </p:cNvCxnSpPr>
          <p:nvPr/>
        </p:nvCxnSpPr>
        <p:spPr>
          <a:xfrm>
            <a:off x="10748684" y="5020490"/>
            <a:ext cx="332460" cy="769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5" name="Can 44">
            <a:extLst>
              <a:ext uri="{FF2B5EF4-FFF2-40B4-BE49-F238E27FC236}">
                <a16:creationId xmlns:a16="http://schemas.microsoft.com/office/drawing/2014/main" id="{BEA482A0-3BAB-F9BD-17E8-3FFEE00EB4EF}"/>
              </a:ext>
            </a:extLst>
          </p:cNvPr>
          <p:cNvSpPr/>
          <p:nvPr/>
        </p:nvSpPr>
        <p:spPr>
          <a:xfrm>
            <a:off x="11081144" y="4517430"/>
            <a:ext cx="886829" cy="1021499"/>
          </a:xfrm>
          <a:prstGeom prst="can">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Segoe UI" panose="020B0502040204020203" pitchFamily="34" charset="0"/>
                <a:cs typeface="Segoe UI" panose="020B0502040204020203" pitchFamily="34" charset="0"/>
              </a:rPr>
              <a:t>Remote data</a:t>
            </a:r>
          </a:p>
        </p:txBody>
      </p:sp>
      <p:sp>
        <p:nvSpPr>
          <p:cNvPr id="6" name="TextBox 5">
            <a:extLst>
              <a:ext uri="{FF2B5EF4-FFF2-40B4-BE49-F238E27FC236}">
                <a16:creationId xmlns:a16="http://schemas.microsoft.com/office/drawing/2014/main" id="{C4584CB2-AAFF-6610-5945-A43C0FE1F085}"/>
              </a:ext>
            </a:extLst>
          </p:cNvPr>
          <p:cNvSpPr txBox="1"/>
          <p:nvPr/>
        </p:nvSpPr>
        <p:spPr>
          <a:xfrm>
            <a:off x="478972" y="1260934"/>
            <a:ext cx="10269712" cy="369332"/>
          </a:xfrm>
          <a:prstGeom prst="rect">
            <a:avLst/>
          </a:prstGeom>
          <a:noFill/>
        </p:spPr>
        <p:txBody>
          <a:bodyPr wrap="square">
            <a:spAutoFit/>
          </a:bodyPr>
          <a:lstStyle/>
          <a:p>
            <a:r>
              <a:rPr lang="en-US" sz="1800">
                <a:ea typeface="+mn-lt"/>
                <a:cs typeface="+mn-lt"/>
              </a:rPr>
              <a:t>A standard way that can applications can provide context and tools for LLMs</a:t>
            </a:r>
            <a:endParaRPr lang="en-US" sz="1800"/>
          </a:p>
        </p:txBody>
      </p:sp>
      <p:sp>
        <p:nvSpPr>
          <p:cNvPr id="7" name="TextBox 6">
            <a:extLst>
              <a:ext uri="{FF2B5EF4-FFF2-40B4-BE49-F238E27FC236}">
                <a16:creationId xmlns:a16="http://schemas.microsoft.com/office/drawing/2014/main" id="{E1969761-3CAA-DF8F-4BEE-4C39D5C9DCF5}"/>
              </a:ext>
            </a:extLst>
          </p:cNvPr>
          <p:cNvSpPr txBox="1"/>
          <p:nvPr/>
        </p:nvSpPr>
        <p:spPr>
          <a:xfrm>
            <a:off x="583027" y="6320713"/>
            <a:ext cx="6518887" cy="461665"/>
          </a:xfrm>
          <a:prstGeom prst="rect">
            <a:avLst/>
          </a:prstGeom>
          <a:noFill/>
        </p:spPr>
        <p:txBody>
          <a:bodyPr wrap="square">
            <a:spAutoFit/>
          </a:bodyPr>
          <a:lstStyle/>
          <a:p>
            <a:r>
              <a:rPr lang="en-US" sz="2400">
                <a:solidFill>
                  <a:srgbClr val="0070C0"/>
                </a:solidFill>
                <a:latin typeface="Segoe UI" panose="020B0502040204020203" pitchFamily="34" charset="0"/>
                <a:cs typeface="Segoe UI" panose="020B0502040204020203" pitchFamily="34" charset="0"/>
                <a:hlinkClick r:id="rId2">
                  <a:extLst>
                    <a:ext uri="{A12FA001-AC4F-418D-AE19-62706E023703}">
                      <ahyp:hlinkClr xmlns:ahyp="http://schemas.microsoft.com/office/drawing/2018/hyperlinkcolor" val="tx"/>
                    </a:ext>
                  </a:extLst>
                </a:hlinkClick>
              </a:rPr>
              <a:t>https://modelcontextprotocol.io/</a:t>
            </a:r>
            <a:endParaRPr lang="en-US" sz="2400">
              <a:solidFill>
                <a:srgbClr val="0070C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68222217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9C1A9-F871-CCBA-23B5-D7B3051E81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920B4-7644-5625-88C9-4D1B1ED7CC0A}"/>
              </a:ext>
            </a:extLst>
          </p:cNvPr>
          <p:cNvSpPr>
            <a:spLocks noGrp="1"/>
          </p:cNvSpPr>
          <p:nvPr>
            <p:ph type="title"/>
          </p:nvPr>
        </p:nvSpPr>
        <p:spPr>
          <a:xfrm>
            <a:off x="1386949" y="1883442"/>
            <a:ext cx="9144000" cy="2243691"/>
          </a:xfrm>
        </p:spPr>
        <p:txBody>
          <a:bodyPr/>
          <a:lstStyle/>
          <a:p>
            <a:pPr algn="ctr"/>
            <a:r>
              <a:rPr lang="en-US" sz="5400" dirty="0">
                <a:solidFill>
                  <a:srgbClr val="000000"/>
                </a:solidFill>
                <a:latin typeface="+mn-lt"/>
              </a:rPr>
              <a:t>Building</a:t>
            </a:r>
            <a:br>
              <a:rPr lang="en-US" sz="5400" dirty="0">
                <a:solidFill>
                  <a:srgbClr val="000000"/>
                </a:solidFill>
                <a:latin typeface="+mn-lt"/>
              </a:rPr>
            </a:br>
            <a:r>
              <a:rPr lang="en-US" sz="5400" b="1" dirty="0">
                <a:solidFill>
                  <a:srgbClr val="000000"/>
                </a:solidFill>
                <a:latin typeface="+mn-lt"/>
              </a:rPr>
              <a:t>trustworthy</a:t>
            </a:r>
            <a:br>
              <a:rPr lang="en-US" sz="5400" dirty="0">
                <a:solidFill>
                  <a:srgbClr val="000000"/>
                </a:solidFill>
                <a:latin typeface="+mn-lt"/>
              </a:rPr>
            </a:br>
            <a:r>
              <a:rPr lang="en-US" sz="5400" dirty="0">
                <a:solidFill>
                  <a:srgbClr val="000000"/>
                </a:solidFill>
                <a:latin typeface="+mn-lt"/>
              </a:rPr>
              <a:t>AI agents</a:t>
            </a:r>
          </a:p>
        </p:txBody>
      </p:sp>
    </p:spTree>
    <p:extLst>
      <p:ext uri="{BB962C8B-B14F-4D97-AF65-F5344CB8AC3E}">
        <p14:creationId xmlns:p14="http://schemas.microsoft.com/office/powerpoint/2010/main" val="3641960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AutoShape 41">
            <a:extLst>
              <a:ext uri="{FF2B5EF4-FFF2-40B4-BE49-F238E27FC236}">
                <a16:creationId xmlns:a16="http://schemas.microsoft.com/office/drawing/2014/main" id="{E6ADBF14-32B0-DE95-9B78-D9705C41E347}"/>
              </a:ext>
            </a:extLst>
          </p:cNvPr>
          <p:cNvSpPr/>
          <p:nvPr/>
        </p:nvSpPr>
        <p:spPr>
          <a:xfrm flipH="1">
            <a:off x="1990110" y="4650214"/>
            <a:ext cx="552767" cy="0"/>
          </a:xfrm>
          <a:prstGeom prst="line">
            <a:avLst/>
          </a:prstGeom>
          <a:ln w="57150" cap="flat">
            <a:solidFill>
              <a:srgbClr val="000000"/>
            </a:solidFill>
            <a:prstDash val="solid"/>
            <a:headEnd type="none" w="sm" len="sm"/>
            <a:tailEnd type="arrow" w="med" len="sm"/>
          </a:ln>
        </p:spPr>
        <p:txBody>
          <a:bodyPr/>
          <a:lstStyle/>
          <a:p>
            <a:endParaRPr lang="en-US"/>
          </a:p>
        </p:txBody>
      </p:sp>
      <p:sp>
        <p:nvSpPr>
          <p:cNvPr id="113" name="AutoShape 41">
            <a:extLst>
              <a:ext uri="{FF2B5EF4-FFF2-40B4-BE49-F238E27FC236}">
                <a16:creationId xmlns:a16="http://schemas.microsoft.com/office/drawing/2014/main" id="{7F65DC46-9526-2CDA-5BCE-F22ADDAF4CC8}"/>
              </a:ext>
            </a:extLst>
          </p:cNvPr>
          <p:cNvSpPr/>
          <p:nvPr/>
        </p:nvSpPr>
        <p:spPr>
          <a:xfrm flipH="1">
            <a:off x="1990110" y="5821759"/>
            <a:ext cx="552767" cy="0"/>
          </a:xfrm>
          <a:prstGeom prst="line">
            <a:avLst/>
          </a:prstGeom>
          <a:ln w="57150" cap="flat">
            <a:solidFill>
              <a:srgbClr val="000000"/>
            </a:solidFill>
            <a:prstDash val="solid"/>
            <a:headEnd type="none" w="sm" len="sm"/>
            <a:tailEnd type="arrow" w="med" len="sm"/>
          </a:ln>
        </p:spPr>
        <p:txBody>
          <a:bodyPr/>
          <a:lstStyle/>
          <a:p>
            <a:endParaRPr lang="en-US"/>
          </a:p>
        </p:txBody>
      </p:sp>
      <p:sp>
        <p:nvSpPr>
          <p:cNvPr id="2" name="Title 1">
            <a:extLst>
              <a:ext uri="{FF2B5EF4-FFF2-40B4-BE49-F238E27FC236}">
                <a16:creationId xmlns:a16="http://schemas.microsoft.com/office/drawing/2014/main" id="{68123767-C527-D1A3-A532-A48422F22D05}"/>
              </a:ext>
            </a:extLst>
          </p:cNvPr>
          <p:cNvSpPr>
            <a:spLocks noGrp="1"/>
          </p:cNvSpPr>
          <p:nvPr>
            <p:ph type="title"/>
          </p:nvPr>
        </p:nvSpPr>
        <p:spPr/>
        <p:txBody>
          <a:bodyPr/>
          <a:lstStyle/>
          <a:p>
            <a:r>
              <a:rPr lang="en-US"/>
              <a:t>System message framework</a:t>
            </a:r>
          </a:p>
        </p:txBody>
      </p:sp>
      <p:grpSp>
        <p:nvGrpSpPr>
          <p:cNvPr id="61" name="Group 5">
            <a:extLst>
              <a:ext uri="{FF2B5EF4-FFF2-40B4-BE49-F238E27FC236}">
                <a16:creationId xmlns:a16="http://schemas.microsoft.com/office/drawing/2014/main" id="{D47ECD7E-4E6F-1D1C-F5C2-AE90AA4A27A1}"/>
              </a:ext>
            </a:extLst>
          </p:cNvPr>
          <p:cNvGrpSpPr/>
          <p:nvPr/>
        </p:nvGrpSpPr>
        <p:grpSpPr>
          <a:xfrm>
            <a:off x="-502040" y="1580750"/>
            <a:ext cx="2419193" cy="826676"/>
            <a:chOff x="672900" y="-144202"/>
            <a:chExt cx="3225592" cy="1102236"/>
          </a:xfrm>
        </p:grpSpPr>
        <p:grpSp>
          <p:nvGrpSpPr>
            <p:cNvPr id="62" name="Group 6">
              <a:extLst>
                <a:ext uri="{FF2B5EF4-FFF2-40B4-BE49-F238E27FC236}">
                  <a16:creationId xmlns:a16="http://schemas.microsoft.com/office/drawing/2014/main" id="{92571175-B74F-642D-83FF-09A98B549804}"/>
                </a:ext>
              </a:extLst>
            </p:cNvPr>
            <p:cNvGrpSpPr/>
            <p:nvPr/>
          </p:nvGrpSpPr>
          <p:grpSpPr>
            <a:xfrm>
              <a:off x="672900" y="-144202"/>
              <a:ext cx="3225592" cy="1102236"/>
              <a:chOff x="266684" y="-57150"/>
              <a:chExt cx="1278367" cy="436838"/>
            </a:xfrm>
          </p:grpSpPr>
          <p:sp>
            <p:nvSpPr>
              <p:cNvPr id="64" name="Freeform 7">
                <a:extLst>
                  <a:ext uri="{FF2B5EF4-FFF2-40B4-BE49-F238E27FC236}">
                    <a16:creationId xmlns:a16="http://schemas.microsoft.com/office/drawing/2014/main" id="{6BAF2A6F-6A54-FFFF-54D9-1E98EFAE4F11}"/>
                  </a:ext>
                </a:extLst>
              </p:cNvPr>
              <p:cNvSpPr/>
              <p:nvPr/>
            </p:nvSpPr>
            <p:spPr>
              <a:xfrm>
                <a:off x="844629" y="0"/>
                <a:ext cx="700422" cy="379688"/>
              </a:xfrm>
              <a:custGeom>
                <a:avLst/>
                <a:gdLst/>
                <a:ahLst/>
                <a:cxnLst/>
                <a:rect l="l" t="t" r="r" b="b"/>
                <a:pathLst>
                  <a:path w="1545051" h="379688">
                    <a:moveTo>
                      <a:pt x="98011" y="0"/>
                    </a:moveTo>
                    <a:lnTo>
                      <a:pt x="1447040" y="0"/>
                    </a:lnTo>
                    <a:cubicBezTo>
                      <a:pt x="1501170" y="0"/>
                      <a:pt x="1545051" y="43881"/>
                      <a:pt x="1545051" y="98011"/>
                    </a:cubicBezTo>
                    <a:lnTo>
                      <a:pt x="1545051" y="281677"/>
                    </a:lnTo>
                    <a:cubicBezTo>
                      <a:pt x="1545051" y="335807"/>
                      <a:pt x="1501170" y="379688"/>
                      <a:pt x="1447040" y="379688"/>
                    </a:cubicBezTo>
                    <a:lnTo>
                      <a:pt x="98011" y="379688"/>
                    </a:lnTo>
                    <a:cubicBezTo>
                      <a:pt x="43881" y="379688"/>
                      <a:pt x="0" y="335807"/>
                      <a:pt x="0" y="281677"/>
                    </a:cubicBezTo>
                    <a:lnTo>
                      <a:pt x="0" y="98011"/>
                    </a:lnTo>
                    <a:cubicBezTo>
                      <a:pt x="0" y="43881"/>
                      <a:pt x="43881" y="0"/>
                      <a:pt x="98011" y="0"/>
                    </a:cubicBezTo>
                    <a:close/>
                  </a:path>
                </a:pathLst>
              </a:custGeom>
              <a:solidFill>
                <a:srgbClr val="217CE9"/>
              </a:solidFill>
            </p:spPr>
            <p:txBody>
              <a:bodyPr/>
              <a:lstStyle/>
              <a:p>
                <a:endParaRPr lang="en-US"/>
              </a:p>
            </p:txBody>
          </p:sp>
          <p:sp>
            <p:nvSpPr>
              <p:cNvPr id="65" name="TextBox 8">
                <a:extLst>
                  <a:ext uri="{FF2B5EF4-FFF2-40B4-BE49-F238E27FC236}">
                    <a16:creationId xmlns:a16="http://schemas.microsoft.com/office/drawing/2014/main" id="{70D39A80-431C-D28A-E557-78889BFD263C}"/>
                  </a:ext>
                </a:extLst>
              </p:cNvPr>
              <p:cNvSpPr txBox="1"/>
              <p:nvPr/>
            </p:nvSpPr>
            <p:spPr>
              <a:xfrm>
                <a:off x="266684" y="-57150"/>
                <a:ext cx="1278367" cy="436838"/>
              </a:xfrm>
              <a:prstGeom prst="rect">
                <a:avLst/>
              </a:prstGeom>
            </p:spPr>
            <p:txBody>
              <a:bodyPr lIns="50800" tIns="50800" rIns="50800" bIns="50800" rtlCol="0" anchor="ctr"/>
              <a:lstStyle/>
              <a:p>
                <a:pPr algn="ctr">
                  <a:lnSpc>
                    <a:spcPts val="3500"/>
                  </a:lnSpc>
                </a:pPr>
                <a:endParaRPr/>
              </a:p>
            </p:txBody>
          </p:sp>
        </p:grpSp>
        <p:sp>
          <p:nvSpPr>
            <p:cNvPr id="63" name="TextBox 9">
              <a:extLst>
                <a:ext uri="{FF2B5EF4-FFF2-40B4-BE49-F238E27FC236}">
                  <a16:creationId xmlns:a16="http://schemas.microsoft.com/office/drawing/2014/main" id="{3EFCBD7C-A20F-6B11-E456-417D4BDC4163}"/>
                </a:ext>
              </a:extLst>
            </p:cNvPr>
            <p:cNvSpPr txBox="1"/>
            <p:nvPr/>
          </p:nvSpPr>
          <p:spPr>
            <a:xfrm>
              <a:off x="2131179" y="148490"/>
              <a:ext cx="1761525" cy="594379"/>
            </a:xfrm>
            <a:prstGeom prst="rect">
              <a:avLst/>
            </a:prstGeom>
          </p:spPr>
          <p:txBody>
            <a:bodyPr wrap="square" lIns="0" tIns="0" rIns="0" bIns="0" rtlCol="0" anchor="t">
              <a:spAutoFit/>
            </a:bodyPr>
            <a:lstStyle/>
            <a:p>
              <a:pPr algn="ctr">
                <a:lnSpc>
                  <a:spcPts val="3654"/>
                </a:lnSpc>
                <a:spcBef>
                  <a:spcPct val="0"/>
                </a:spcBef>
              </a:pPr>
              <a:r>
                <a:rPr lang="en-US" sz="2610" b="1">
                  <a:solidFill>
                    <a:srgbClr val="FFFFFF"/>
                  </a:solidFill>
                  <a:latin typeface="Poppins Bold"/>
                  <a:ea typeface="Poppins Bold"/>
                  <a:cs typeface="Poppins Bold"/>
                  <a:sym typeface="Poppins Bold"/>
                </a:rPr>
                <a:t>Agent</a:t>
              </a:r>
            </a:p>
          </p:txBody>
        </p:sp>
      </p:grpSp>
      <p:grpSp>
        <p:nvGrpSpPr>
          <p:cNvPr id="66" name="Group 10">
            <a:extLst>
              <a:ext uri="{FF2B5EF4-FFF2-40B4-BE49-F238E27FC236}">
                <a16:creationId xmlns:a16="http://schemas.microsoft.com/office/drawing/2014/main" id="{9167A16F-FC1D-2B5F-387F-D437FF8F4D7A}"/>
              </a:ext>
            </a:extLst>
          </p:cNvPr>
          <p:cNvGrpSpPr/>
          <p:nvPr/>
        </p:nvGrpSpPr>
        <p:grpSpPr>
          <a:xfrm>
            <a:off x="6487448" y="2407426"/>
            <a:ext cx="3553896" cy="1940076"/>
            <a:chOff x="0" y="0"/>
            <a:chExt cx="964692" cy="526626"/>
          </a:xfrm>
        </p:grpSpPr>
        <p:sp>
          <p:nvSpPr>
            <p:cNvPr id="67" name="Freeform 11">
              <a:extLst>
                <a:ext uri="{FF2B5EF4-FFF2-40B4-BE49-F238E27FC236}">
                  <a16:creationId xmlns:a16="http://schemas.microsoft.com/office/drawing/2014/main" id="{58DC05AE-F2DC-A3C0-1780-A457759D131B}"/>
                </a:ext>
              </a:extLst>
            </p:cNvPr>
            <p:cNvSpPr/>
            <p:nvPr/>
          </p:nvSpPr>
          <p:spPr>
            <a:xfrm>
              <a:off x="0" y="0"/>
              <a:ext cx="964692" cy="526626"/>
            </a:xfrm>
            <a:custGeom>
              <a:avLst/>
              <a:gdLst/>
              <a:ahLst/>
              <a:cxnLst/>
              <a:rect l="l" t="t" r="r" b="b"/>
              <a:pathLst>
                <a:path w="964692" h="526626">
                  <a:moveTo>
                    <a:pt x="111100" y="0"/>
                  </a:moveTo>
                  <a:lnTo>
                    <a:pt x="853592" y="0"/>
                  </a:lnTo>
                  <a:cubicBezTo>
                    <a:pt x="883057" y="0"/>
                    <a:pt x="911316" y="11705"/>
                    <a:pt x="932151" y="32540"/>
                  </a:cubicBezTo>
                  <a:cubicBezTo>
                    <a:pt x="952987" y="53376"/>
                    <a:pt x="964692" y="81634"/>
                    <a:pt x="964692" y="111100"/>
                  </a:cubicBezTo>
                  <a:lnTo>
                    <a:pt x="964692" y="415526"/>
                  </a:lnTo>
                  <a:cubicBezTo>
                    <a:pt x="964692" y="444992"/>
                    <a:pt x="952987" y="473251"/>
                    <a:pt x="932151" y="494086"/>
                  </a:cubicBezTo>
                  <a:cubicBezTo>
                    <a:pt x="911316" y="514921"/>
                    <a:pt x="883057" y="526626"/>
                    <a:pt x="853592" y="526626"/>
                  </a:cubicBezTo>
                  <a:lnTo>
                    <a:pt x="111100" y="526626"/>
                  </a:lnTo>
                  <a:cubicBezTo>
                    <a:pt x="49741" y="526626"/>
                    <a:pt x="0" y="476885"/>
                    <a:pt x="0" y="415526"/>
                  </a:cubicBezTo>
                  <a:lnTo>
                    <a:pt x="0" y="111100"/>
                  </a:lnTo>
                  <a:cubicBezTo>
                    <a:pt x="0" y="81634"/>
                    <a:pt x="11705" y="53376"/>
                    <a:pt x="32540" y="32540"/>
                  </a:cubicBezTo>
                  <a:cubicBezTo>
                    <a:pt x="53376" y="11705"/>
                    <a:pt x="81634" y="0"/>
                    <a:pt x="111100" y="0"/>
                  </a:cubicBezTo>
                  <a:close/>
                </a:path>
              </a:pathLst>
            </a:custGeom>
            <a:solidFill>
              <a:srgbClr val="217CE9"/>
            </a:solidFill>
          </p:spPr>
          <p:txBody>
            <a:bodyPr/>
            <a:lstStyle/>
            <a:p>
              <a:endParaRPr lang="en-US"/>
            </a:p>
          </p:txBody>
        </p:sp>
        <p:sp>
          <p:nvSpPr>
            <p:cNvPr id="68" name="TextBox 12">
              <a:extLst>
                <a:ext uri="{FF2B5EF4-FFF2-40B4-BE49-F238E27FC236}">
                  <a16:creationId xmlns:a16="http://schemas.microsoft.com/office/drawing/2014/main" id="{2E568120-EFFC-6D0F-939B-9773239A5455}"/>
                </a:ext>
              </a:extLst>
            </p:cNvPr>
            <p:cNvSpPr txBox="1"/>
            <p:nvPr/>
          </p:nvSpPr>
          <p:spPr>
            <a:xfrm>
              <a:off x="0" y="-76200"/>
              <a:ext cx="964692" cy="602826"/>
            </a:xfrm>
            <a:prstGeom prst="rect">
              <a:avLst/>
            </a:prstGeom>
          </p:spPr>
          <p:txBody>
            <a:bodyPr lIns="50800" tIns="50800" rIns="50800" bIns="50800" rtlCol="0" anchor="ctr"/>
            <a:lstStyle/>
            <a:p>
              <a:pPr algn="ctr">
                <a:lnSpc>
                  <a:spcPts val="3500"/>
                </a:lnSpc>
              </a:pPr>
              <a:r>
                <a:rPr lang="en-US" sz="2500" b="1">
                  <a:solidFill>
                    <a:srgbClr val="FFFFFF"/>
                  </a:solidFill>
                  <a:latin typeface="Poppins Bold"/>
                  <a:ea typeface="Poppins Bold"/>
                  <a:cs typeface="Poppins Bold"/>
                  <a:sym typeface="Poppins Bold"/>
                </a:rPr>
                <a:t>System message</a:t>
              </a:r>
            </a:p>
            <a:p>
              <a:pPr algn="ctr">
                <a:lnSpc>
                  <a:spcPts val="3500"/>
                </a:lnSpc>
              </a:pPr>
              <a:r>
                <a:rPr lang="en-US" sz="2500" b="1">
                  <a:solidFill>
                    <a:srgbClr val="FFFFFF"/>
                  </a:solidFill>
                  <a:latin typeface="Poppins Bold"/>
                  <a:ea typeface="Poppins Bold"/>
                  <a:cs typeface="Poppins Bold"/>
                  <a:sym typeface="Poppins Bold"/>
                </a:rPr>
                <a:t>for generating</a:t>
              </a:r>
            </a:p>
            <a:p>
              <a:pPr algn="ctr">
                <a:lnSpc>
                  <a:spcPts val="3500"/>
                </a:lnSpc>
              </a:pPr>
              <a:r>
                <a:rPr lang="en-US" sz="2500" b="1">
                  <a:solidFill>
                    <a:srgbClr val="FFFFFF"/>
                  </a:solidFill>
                  <a:latin typeface="Poppins Bold"/>
                  <a:ea typeface="Poppins Bold"/>
                  <a:cs typeface="Poppins Bold"/>
                  <a:sym typeface="Poppins Bold"/>
                </a:rPr>
                <a:t>system messages</a:t>
              </a:r>
            </a:p>
          </p:txBody>
        </p:sp>
      </p:grpSp>
      <p:grpSp>
        <p:nvGrpSpPr>
          <p:cNvPr id="69" name="Group 13">
            <a:extLst>
              <a:ext uri="{FF2B5EF4-FFF2-40B4-BE49-F238E27FC236}">
                <a16:creationId xmlns:a16="http://schemas.microsoft.com/office/drawing/2014/main" id="{38C6B935-4347-F9DF-CAB1-06CA41DE374B}"/>
              </a:ext>
            </a:extLst>
          </p:cNvPr>
          <p:cNvGrpSpPr/>
          <p:nvPr/>
        </p:nvGrpSpPr>
        <p:grpSpPr>
          <a:xfrm>
            <a:off x="2474261" y="1372721"/>
            <a:ext cx="3334866" cy="1093814"/>
            <a:chOff x="0" y="-66675"/>
            <a:chExt cx="823244" cy="270019"/>
          </a:xfrm>
        </p:grpSpPr>
        <p:sp>
          <p:nvSpPr>
            <p:cNvPr id="70" name="Freeform 14">
              <a:extLst>
                <a:ext uri="{FF2B5EF4-FFF2-40B4-BE49-F238E27FC236}">
                  <a16:creationId xmlns:a16="http://schemas.microsoft.com/office/drawing/2014/main" id="{2EED9C91-AEC2-59DC-0566-C9B52A6D0DDE}"/>
                </a:ext>
              </a:extLst>
            </p:cNvPr>
            <p:cNvSpPr/>
            <p:nvPr/>
          </p:nvSpPr>
          <p:spPr>
            <a:xfrm>
              <a:off x="0" y="0"/>
              <a:ext cx="823244" cy="203344"/>
            </a:xfrm>
            <a:custGeom>
              <a:avLst/>
              <a:gdLst/>
              <a:ahLst/>
              <a:cxnLst/>
              <a:rect l="l" t="t" r="r" b="b"/>
              <a:pathLst>
                <a:path w="908019" h="203344">
                  <a:moveTo>
                    <a:pt x="0" y="0"/>
                  </a:moveTo>
                  <a:lnTo>
                    <a:pt x="908019" y="0"/>
                  </a:lnTo>
                  <a:lnTo>
                    <a:pt x="908019" y="203344"/>
                  </a:lnTo>
                  <a:lnTo>
                    <a:pt x="0" y="203344"/>
                  </a:lnTo>
                  <a:close/>
                </a:path>
              </a:pathLst>
            </a:custGeom>
            <a:solidFill>
              <a:srgbClr val="F152F9"/>
            </a:solidFill>
          </p:spPr>
          <p:txBody>
            <a:bodyPr/>
            <a:lstStyle/>
            <a:p>
              <a:endParaRPr lang="en-US"/>
            </a:p>
          </p:txBody>
        </p:sp>
        <p:sp>
          <p:nvSpPr>
            <p:cNvPr id="71" name="TextBox 15">
              <a:extLst>
                <a:ext uri="{FF2B5EF4-FFF2-40B4-BE49-F238E27FC236}">
                  <a16:creationId xmlns:a16="http://schemas.microsoft.com/office/drawing/2014/main" id="{14BF3F62-B4FB-1B24-3F80-B832716258BF}"/>
                </a:ext>
              </a:extLst>
            </p:cNvPr>
            <p:cNvSpPr txBox="1"/>
            <p:nvPr/>
          </p:nvSpPr>
          <p:spPr>
            <a:xfrm>
              <a:off x="0" y="-66675"/>
              <a:ext cx="823244" cy="270019"/>
            </a:xfrm>
            <a:prstGeom prst="rect">
              <a:avLst/>
            </a:prstGeom>
          </p:spPr>
          <p:txBody>
            <a:bodyPr lIns="50800" tIns="50800" rIns="50800" bIns="50800" rtlCol="0" anchor="ctr"/>
            <a:lstStyle/>
            <a:p>
              <a:pPr algn="ctr">
                <a:lnSpc>
                  <a:spcPts val="3653"/>
                </a:lnSpc>
              </a:pPr>
              <a:r>
                <a:rPr lang="en-US" sz="2610" b="1">
                  <a:solidFill>
                    <a:srgbClr val="FFFFFF"/>
                  </a:solidFill>
                  <a:latin typeface="Poppins Bold"/>
                  <a:ea typeface="Poppins Bold"/>
                  <a:cs typeface="Poppins Bold"/>
                  <a:sym typeface="Poppins Bold"/>
                </a:rPr>
                <a:t>System message</a:t>
              </a:r>
            </a:p>
          </p:txBody>
        </p:sp>
      </p:grpSp>
      <p:sp>
        <p:nvSpPr>
          <p:cNvPr id="81" name="TextBox 24">
            <a:extLst>
              <a:ext uri="{FF2B5EF4-FFF2-40B4-BE49-F238E27FC236}">
                <a16:creationId xmlns:a16="http://schemas.microsoft.com/office/drawing/2014/main" id="{22A2BF28-FC0E-B223-078E-EC2166474C98}"/>
              </a:ext>
            </a:extLst>
          </p:cNvPr>
          <p:cNvSpPr txBox="1"/>
          <p:nvPr/>
        </p:nvSpPr>
        <p:spPr>
          <a:xfrm>
            <a:off x="-933759" y="4182801"/>
            <a:ext cx="2923869" cy="826676"/>
          </a:xfrm>
          <a:prstGeom prst="rect">
            <a:avLst/>
          </a:prstGeom>
        </p:spPr>
        <p:txBody>
          <a:bodyPr lIns="50800" tIns="50800" rIns="50800" bIns="50800" rtlCol="0" anchor="ctr"/>
          <a:lstStyle/>
          <a:p>
            <a:pPr algn="ctr">
              <a:lnSpc>
                <a:spcPts val="3500"/>
              </a:lnSpc>
            </a:pPr>
            <a:endParaRPr/>
          </a:p>
        </p:txBody>
      </p:sp>
      <p:sp>
        <p:nvSpPr>
          <p:cNvPr id="86" name="TextBox 29">
            <a:extLst>
              <a:ext uri="{FF2B5EF4-FFF2-40B4-BE49-F238E27FC236}">
                <a16:creationId xmlns:a16="http://schemas.microsoft.com/office/drawing/2014/main" id="{CDB027A3-FD90-4D90-3E74-9ACA8CCD57A8}"/>
              </a:ext>
            </a:extLst>
          </p:cNvPr>
          <p:cNvSpPr txBox="1"/>
          <p:nvPr/>
        </p:nvSpPr>
        <p:spPr>
          <a:xfrm>
            <a:off x="-933759" y="5340224"/>
            <a:ext cx="2923869" cy="826676"/>
          </a:xfrm>
          <a:prstGeom prst="rect">
            <a:avLst/>
          </a:prstGeom>
        </p:spPr>
        <p:txBody>
          <a:bodyPr lIns="50800" tIns="50800" rIns="50800" bIns="50800" rtlCol="0" anchor="ctr"/>
          <a:lstStyle/>
          <a:p>
            <a:pPr algn="ctr">
              <a:lnSpc>
                <a:spcPts val="3500"/>
              </a:lnSpc>
            </a:pPr>
            <a:endParaRPr/>
          </a:p>
        </p:txBody>
      </p:sp>
      <p:grpSp>
        <p:nvGrpSpPr>
          <p:cNvPr id="87" name="Group 31">
            <a:extLst>
              <a:ext uri="{FF2B5EF4-FFF2-40B4-BE49-F238E27FC236}">
                <a16:creationId xmlns:a16="http://schemas.microsoft.com/office/drawing/2014/main" id="{7C89EA65-35F7-0CC1-CF6F-DC0AAB9889D4}"/>
              </a:ext>
            </a:extLst>
          </p:cNvPr>
          <p:cNvGrpSpPr/>
          <p:nvPr/>
        </p:nvGrpSpPr>
        <p:grpSpPr>
          <a:xfrm>
            <a:off x="2474261" y="2723755"/>
            <a:ext cx="3334866" cy="1093814"/>
            <a:chOff x="0" y="-66675"/>
            <a:chExt cx="823244" cy="270019"/>
          </a:xfrm>
        </p:grpSpPr>
        <p:sp>
          <p:nvSpPr>
            <p:cNvPr id="88" name="Freeform 32">
              <a:extLst>
                <a:ext uri="{FF2B5EF4-FFF2-40B4-BE49-F238E27FC236}">
                  <a16:creationId xmlns:a16="http://schemas.microsoft.com/office/drawing/2014/main" id="{75403C70-F510-D1B9-599D-ED0FA6283EDC}"/>
                </a:ext>
              </a:extLst>
            </p:cNvPr>
            <p:cNvSpPr/>
            <p:nvPr/>
          </p:nvSpPr>
          <p:spPr>
            <a:xfrm>
              <a:off x="0" y="0"/>
              <a:ext cx="823244" cy="203344"/>
            </a:xfrm>
            <a:custGeom>
              <a:avLst/>
              <a:gdLst/>
              <a:ahLst/>
              <a:cxnLst/>
              <a:rect l="l" t="t" r="r" b="b"/>
              <a:pathLst>
                <a:path w="908019" h="203344">
                  <a:moveTo>
                    <a:pt x="0" y="0"/>
                  </a:moveTo>
                  <a:lnTo>
                    <a:pt x="908019" y="0"/>
                  </a:lnTo>
                  <a:lnTo>
                    <a:pt x="908019" y="203344"/>
                  </a:lnTo>
                  <a:lnTo>
                    <a:pt x="0" y="203344"/>
                  </a:lnTo>
                  <a:close/>
                </a:path>
              </a:pathLst>
            </a:custGeom>
            <a:solidFill>
              <a:srgbClr val="F152F9"/>
            </a:solidFill>
          </p:spPr>
          <p:txBody>
            <a:bodyPr/>
            <a:lstStyle/>
            <a:p>
              <a:endParaRPr lang="en-US"/>
            </a:p>
          </p:txBody>
        </p:sp>
        <p:sp>
          <p:nvSpPr>
            <p:cNvPr id="89" name="TextBox 33">
              <a:extLst>
                <a:ext uri="{FF2B5EF4-FFF2-40B4-BE49-F238E27FC236}">
                  <a16:creationId xmlns:a16="http://schemas.microsoft.com/office/drawing/2014/main" id="{BE98E1C9-5949-2F1D-C77D-BDF697F7D330}"/>
                </a:ext>
              </a:extLst>
            </p:cNvPr>
            <p:cNvSpPr txBox="1"/>
            <p:nvPr/>
          </p:nvSpPr>
          <p:spPr>
            <a:xfrm>
              <a:off x="0" y="-66675"/>
              <a:ext cx="823244" cy="270019"/>
            </a:xfrm>
            <a:prstGeom prst="rect">
              <a:avLst/>
            </a:prstGeom>
          </p:spPr>
          <p:txBody>
            <a:bodyPr lIns="50800" tIns="50800" rIns="50800" bIns="50800" rtlCol="0" anchor="ctr"/>
            <a:lstStyle/>
            <a:p>
              <a:pPr algn="ctr">
                <a:lnSpc>
                  <a:spcPts val="3653"/>
                </a:lnSpc>
              </a:pPr>
              <a:r>
                <a:rPr lang="en-US" sz="2610" b="1">
                  <a:solidFill>
                    <a:srgbClr val="FFFFFF"/>
                  </a:solidFill>
                  <a:latin typeface="Poppins Bold"/>
                  <a:ea typeface="Poppins Bold"/>
                  <a:cs typeface="Poppins Bold"/>
                  <a:sym typeface="Poppins Bold"/>
                </a:rPr>
                <a:t>System message</a:t>
              </a:r>
            </a:p>
          </p:txBody>
        </p:sp>
      </p:grpSp>
      <p:grpSp>
        <p:nvGrpSpPr>
          <p:cNvPr id="90" name="Group 34">
            <a:extLst>
              <a:ext uri="{FF2B5EF4-FFF2-40B4-BE49-F238E27FC236}">
                <a16:creationId xmlns:a16="http://schemas.microsoft.com/office/drawing/2014/main" id="{11BF9BD8-EA6D-EE55-F1BE-7218BB76C273}"/>
              </a:ext>
            </a:extLst>
          </p:cNvPr>
          <p:cNvGrpSpPr/>
          <p:nvPr/>
        </p:nvGrpSpPr>
        <p:grpSpPr>
          <a:xfrm>
            <a:off x="2474261" y="3974772"/>
            <a:ext cx="3334866" cy="1093814"/>
            <a:chOff x="0" y="-66675"/>
            <a:chExt cx="823244" cy="270019"/>
          </a:xfrm>
        </p:grpSpPr>
        <p:sp>
          <p:nvSpPr>
            <p:cNvPr id="91" name="Freeform 35">
              <a:extLst>
                <a:ext uri="{FF2B5EF4-FFF2-40B4-BE49-F238E27FC236}">
                  <a16:creationId xmlns:a16="http://schemas.microsoft.com/office/drawing/2014/main" id="{2BEC9D60-EC6B-720E-26FA-A9DE603A45B3}"/>
                </a:ext>
              </a:extLst>
            </p:cNvPr>
            <p:cNvSpPr/>
            <p:nvPr/>
          </p:nvSpPr>
          <p:spPr>
            <a:xfrm>
              <a:off x="0" y="0"/>
              <a:ext cx="823244" cy="203344"/>
            </a:xfrm>
            <a:custGeom>
              <a:avLst/>
              <a:gdLst/>
              <a:ahLst/>
              <a:cxnLst/>
              <a:rect l="l" t="t" r="r" b="b"/>
              <a:pathLst>
                <a:path w="908019" h="203344">
                  <a:moveTo>
                    <a:pt x="0" y="0"/>
                  </a:moveTo>
                  <a:lnTo>
                    <a:pt x="908019" y="0"/>
                  </a:lnTo>
                  <a:lnTo>
                    <a:pt x="908019" y="203344"/>
                  </a:lnTo>
                  <a:lnTo>
                    <a:pt x="0" y="203344"/>
                  </a:lnTo>
                  <a:close/>
                </a:path>
              </a:pathLst>
            </a:custGeom>
            <a:solidFill>
              <a:srgbClr val="F152F9"/>
            </a:solidFill>
          </p:spPr>
          <p:txBody>
            <a:bodyPr/>
            <a:lstStyle/>
            <a:p>
              <a:endParaRPr lang="en-US"/>
            </a:p>
          </p:txBody>
        </p:sp>
        <p:sp>
          <p:nvSpPr>
            <p:cNvPr id="92" name="TextBox 36">
              <a:extLst>
                <a:ext uri="{FF2B5EF4-FFF2-40B4-BE49-F238E27FC236}">
                  <a16:creationId xmlns:a16="http://schemas.microsoft.com/office/drawing/2014/main" id="{EF1969AA-BCE2-6608-CC6D-3B16BDD6C03C}"/>
                </a:ext>
              </a:extLst>
            </p:cNvPr>
            <p:cNvSpPr txBox="1"/>
            <p:nvPr/>
          </p:nvSpPr>
          <p:spPr>
            <a:xfrm>
              <a:off x="0" y="-66675"/>
              <a:ext cx="823244" cy="270019"/>
            </a:xfrm>
            <a:prstGeom prst="rect">
              <a:avLst/>
            </a:prstGeom>
          </p:spPr>
          <p:txBody>
            <a:bodyPr lIns="50800" tIns="50800" rIns="50800" bIns="50800" rtlCol="0" anchor="ctr"/>
            <a:lstStyle/>
            <a:p>
              <a:pPr algn="ctr">
                <a:lnSpc>
                  <a:spcPts val="3653"/>
                </a:lnSpc>
              </a:pPr>
              <a:r>
                <a:rPr lang="en-US" sz="2610" b="1">
                  <a:solidFill>
                    <a:srgbClr val="FFFFFF"/>
                  </a:solidFill>
                  <a:latin typeface="Poppins Bold"/>
                  <a:ea typeface="Poppins Bold"/>
                  <a:cs typeface="Poppins Bold"/>
                  <a:sym typeface="Poppins Bold"/>
                </a:rPr>
                <a:t>System message</a:t>
              </a:r>
            </a:p>
          </p:txBody>
        </p:sp>
      </p:grpSp>
      <p:grpSp>
        <p:nvGrpSpPr>
          <p:cNvPr id="93" name="Group 37">
            <a:extLst>
              <a:ext uri="{FF2B5EF4-FFF2-40B4-BE49-F238E27FC236}">
                <a16:creationId xmlns:a16="http://schemas.microsoft.com/office/drawing/2014/main" id="{69FE4705-8B14-9B45-042F-D8CB80417CED}"/>
              </a:ext>
            </a:extLst>
          </p:cNvPr>
          <p:cNvGrpSpPr/>
          <p:nvPr/>
        </p:nvGrpSpPr>
        <p:grpSpPr>
          <a:xfrm>
            <a:off x="2474261" y="5146318"/>
            <a:ext cx="3334866" cy="1093814"/>
            <a:chOff x="0" y="-66675"/>
            <a:chExt cx="823244" cy="270019"/>
          </a:xfrm>
        </p:grpSpPr>
        <p:sp>
          <p:nvSpPr>
            <p:cNvPr id="94" name="Freeform 38">
              <a:extLst>
                <a:ext uri="{FF2B5EF4-FFF2-40B4-BE49-F238E27FC236}">
                  <a16:creationId xmlns:a16="http://schemas.microsoft.com/office/drawing/2014/main" id="{F1A0D4A2-128C-57C9-2F40-BD599D43FDCD}"/>
                </a:ext>
              </a:extLst>
            </p:cNvPr>
            <p:cNvSpPr/>
            <p:nvPr/>
          </p:nvSpPr>
          <p:spPr>
            <a:xfrm>
              <a:off x="0" y="0"/>
              <a:ext cx="823244" cy="203344"/>
            </a:xfrm>
            <a:custGeom>
              <a:avLst/>
              <a:gdLst/>
              <a:ahLst/>
              <a:cxnLst/>
              <a:rect l="l" t="t" r="r" b="b"/>
              <a:pathLst>
                <a:path w="908019" h="203344">
                  <a:moveTo>
                    <a:pt x="0" y="0"/>
                  </a:moveTo>
                  <a:lnTo>
                    <a:pt x="908019" y="0"/>
                  </a:lnTo>
                  <a:lnTo>
                    <a:pt x="908019" y="203344"/>
                  </a:lnTo>
                  <a:lnTo>
                    <a:pt x="0" y="203344"/>
                  </a:lnTo>
                  <a:close/>
                </a:path>
              </a:pathLst>
            </a:custGeom>
            <a:solidFill>
              <a:srgbClr val="F152F9"/>
            </a:solidFill>
          </p:spPr>
          <p:txBody>
            <a:bodyPr/>
            <a:lstStyle/>
            <a:p>
              <a:endParaRPr lang="en-US"/>
            </a:p>
          </p:txBody>
        </p:sp>
        <p:sp>
          <p:nvSpPr>
            <p:cNvPr id="95" name="TextBox 39">
              <a:extLst>
                <a:ext uri="{FF2B5EF4-FFF2-40B4-BE49-F238E27FC236}">
                  <a16:creationId xmlns:a16="http://schemas.microsoft.com/office/drawing/2014/main" id="{CB026E92-F3C5-F5D8-CFF7-9144A623B548}"/>
                </a:ext>
              </a:extLst>
            </p:cNvPr>
            <p:cNvSpPr txBox="1"/>
            <p:nvPr/>
          </p:nvSpPr>
          <p:spPr>
            <a:xfrm>
              <a:off x="0" y="-66675"/>
              <a:ext cx="823244" cy="270019"/>
            </a:xfrm>
            <a:prstGeom prst="rect">
              <a:avLst/>
            </a:prstGeom>
          </p:spPr>
          <p:txBody>
            <a:bodyPr lIns="50800" tIns="50800" rIns="50800" bIns="50800" rtlCol="0" anchor="ctr"/>
            <a:lstStyle/>
            <a:p>
              <a:pPr algn="ctr">
                <a:lnSpc>
                  <a:spcPts val="3653"/>
                </a:lnSpc>
              </a:pPr>
              <a:r>
                <a:rPr lang="en-US" sz="2610" b="1">
                  <a:solidFill>
                    <a:srgbClr val="FFFFFF"/>
                  </a:solidFill>
                  <a:latin typeface="Poppins Bold"/>
                  <a:ea typeface="Poppins Bold"/>
                  <a:cs typeface="Poppins Bold"/>
                  <a:sym typeface="Poppins Bold"/>
                </a:rPr>
                <a:t>System message</a:t>
              </a:r>
            </a:p>
          </p:txBody>
        </p:sp>
      </p:grpSp>
      <p:sp>
        <p:nvSpPr>
          <p:cNvPr id="96" name="AutoShape 40">
            <a:extLst>
              <a:ext uri="{FF2B5EF4-FFF2-40B4-BE49-F238E27FC236}">
                <a16:creationId xmlns:a16="http://schemas.microsoft.com/office/drawing/2014/main" id="{7EA3C616-7F29-D56B-8823-2AE1A45DA896}"/>
              </a:ext>
            </a:extLst>
          </p:cNvPr>
          <p:cNvSpPr/>
          <p:nvPr/>
        </p:nvSpPr>
        <p:spPr>
          <a:xfrm flipH="1" flipV="1">
            <a:off x="1917155" y="2048163"/>
            <a:ext cx="557106" cy="0"/>
          </a:xfrm>
          <a:prstGeom prst="line">
            <a:avLst/>
          </a:prstGeom>
          <a:ln w="57150" cap="flat">
            <a:solidFill>
              <a:srgbClr val="000000"/>
            </a:solidFill>
            <a:prstDash val="solid"/>
            <a:headEnd type="none" w="sm" len="sm"/>
            <a:tailEnd type="arrow" w="med" len="sm"/>
          </a:ln>
        </p:spPr>
        <p:txBody>
          <a:bodyPr/>
          <a:lstStyle/>
          <a:p>
            <a:endParaRPr lang="en-US"/>
          </a:p>
        </p:txBody>
      </p:sp>
      <p:sp>
        <p:nvSpPr>
          <p:cNvPr id="97" name="AutoShape 41">
            <a:extLst>
              <a:ext uri="{FF2B5EF4-FFF2-40B4-BE49-F238E27FC236}">
                <a16:creationId xmlns:a16="http://schemas.microsoft.com/office/drawing/2014/main" id="{EB36F75D-1D21-84CD-3CDC-5934EFF0F569}"/>
              </a:ext>
            </a:extLst>
          </p:cNvPr>
          <p:cNvSpPr/>
          <p:nvPr/>
        </p:nvSpPr>
        <p:spPr>
          <a:xfrm flipH="1">
            <a:off x="1921494" y="3399197"/>
            <a:ext cx="552767" cy="0"/>
          </a:xfrm>
          <a:prstGeom prst="line">
            <a:avLst/>
          </a:prstGeom>
          <a:ln w="57150" cap="flat">
            <a:solidFill>
              <a:srgbClr val="000000"/>
            </a:solidFill>
            <a:prstDash val="solid"/>
            <a:headEnd type="none" w="sm" len="sm"/>
            <a:tailEnd type="arrow" w="med" len="sm"/>
          </a:ln>
        </p:spPr>
        <p:txBody>
          <a:bodyPr/>
          <a:lstStyle/>
          <a:p>
            <a:endParaRPr lang="en-US"/>
          </a:p>
        </p:txBody>
      </p:sp>
      <p:sp>
        <p:nvSpPr>
          <p:cNvPr id="100" name="AutoShape 44">
            <a:extLst>
              <a:ext uri="{FF2B5EF4-FFF2-40B4-BE49-F238E27FC236}">
                <a16:creationId xmlns:a16="http://schemas.microsoft.com/office/drawing/2014/main" id="{85F94637-1917-3BF8-9C2B-20302111521B}"/>
              </a:ext>
            </a:extLst>
          </p:cNvPr>
          <p:cNvSpPr/>
          <p:nvPr/>
        </p:nvSpPr>
        <p:spPr>
          <a:xfrm flipH="1" flipV="1">
            <a:off x="5809126" y="1983093"/>
            <a:ext cx="678320" cy="703267"/>
          </a:xfrm>
          <a:prstGeom prst="line">
            <a:avLst/>
          </a:prstGeom>
          <a:ln w="57150" cap="flat">
            <a:solidFill>
              <a:srgbClr val="000000"/>
            </a:solidFill>
            <a:prstDash val="solid"/>
            <a:headEnd type="none" w="sm" len="sm"/>
            <a:tailEnd type="arrow" w="med" len="sm"/>
          </a:ln>
        </p:spPr>
        <p:txBody>
          <a:bodyPr/>
          <a:lstStyle/>
          <a:p>
            <a:endParaRPr lang="en-US"/>
          </a:p>
        </p:txBody>
      </p:sp>
      <p:sp>
        <p:nvSpPr>
          <p:cNvPr id="101" name="AutoShape 45">
            <a:extLst>
              <a:ext uri="{FF2B5EF4-FFF2-40B4-BE49-F238E27FC236}">
                <a16:creationId xmlns:a16="http://schemas.microsoft.com/office/drawing/2014/main" id="{9E37199D-EE4A-ED76-6402-169CC2A75174}"/>
              </a:ext>
            </a:extLst>
          </p:cNvPr>
          <p:cNvSpPr/>
          <p:nvPr/>
        </p:nvSpPr>
        <p:spPr>
          <a:xfrm flipH="1">
            <a:off x="5809126" y="3377464"/>
            <a:ext cx="678321" cy="0"/>
          </a:xfrm>
          <a:prstGeom prst="line">
            <a:avLst/>
          </a:prstGeom>
          <a:ln w="57150" cap="flat">
            <a:solidFill>
              <a:srgbClr val="000000"/>
            </a:solidFill>
            <a:prstDash val="solid"/>
            <a:headEnd type="none" w="sm" len="sm"/>
            <a:tailEnd type="arrow" w="med" len="sm"/>
          </a:ln>
        </p:spPr>
        <p:txBody>
          <a:bodyPr/>
          <a:lstStyle/>
          <a:p>
            <a:endParaRPr lang="en-US"/>
          </a:p>
        </p:txBody>
      </p:sp>
      <p:sp>
        <p:nvSpPr>
          <p:cNvPr id="102" name="AutoShape 46">
            <a:extLst>
              <a:ext uri="{FF2B5EF4-FFF2-40B4-BE49-F238E27FC236}">
                <a16:creationId xmlns:a16="http://schemas.microsoft.com/office/drawing/2014/main" id="{67AE9535-3A01-FD41-8268-75CE934AC189}"/>
              </a:ext>
            </a:extLst>
          </p:cNvPr>
          <p:cNvSpPr/>
          <p:nvPr/>
        </p:nvSpPr>
        <p:spPr>
          <a:xfrm flipH="1">
            <a:off x="5809127" y="4127676"/>
            <a:ext cx="769088" cy="572578"/>
          </a:xfrm>
          <a:prstGeom prst="line">
            <a:avLst/>
          </a:prstGeom>
          <a:ln w="57150" cap="flat">
            <a:solidFill>
              <a:srgbClr val="000000"/>
            </a:solidFill>
            <a:prstDash val="solid"/>
            <a:headEnd type="none" w="sm" len="sm"/>
            <a:tailEnd type="arrow" w="med" len="sm"/>
          </a:ln>
        </p:spPr>
        <p:txBody>
          <a:bodyPr/>
          <a:lstStyle/>
          <a:p>
            <a:endParaRPr lang="en-US"/>
          </a:p>
        </p:txBody>
      </p:sp>
      <p:sp>
        <p:nvSpPr>
          <p:cNvPr id="103" name="AutoShape 47">
            <a:extLst>
              <a:ext uri="{FF2B5EF4-FFF2-40B4-BE49-F238E27FC236}">
                <a16:creationId xmlns:a16="http://schemas.microsoft.com/office/drawing/2014/main" id="{C180F165-3ECB-8237-1084-87A311C574B6}"/>
              </a:ext>
            </a:extLst>
          </p:cNvPr>
          <p:cNvSpPr/>
          <p:nvPr/>
        </p:nvSpPr>
        <p:spPr>
          <a:xfrm flipH="1">
            <a:off x="5809125" y="4283979"/>
            <a:ext cx="875193" cy="1544292"/>
          </a:xfrm>
          <a:prstGeom prst="line">
            <a:avLst/>
          </a:prstGeom>
          <a:ln w="57150" cap="flat">
            <a:solidFill>
              <a:srgbClr val="000000"/>
            </a:solidFill>
            <a:prstDash val="solid"/>
            <a:headEnd type="none" w="sm" len="sm"/>
            <a:tailEnd type="arrow" w="med" len="sm"/>
          </a:ln>
        </p:spPr>
        <p:txBody>
          <a:bodyPr/>
          <a:lstStyle/>
          <a:p>
            <a:endParaRPr lang="en-US"/>
          </a:p>
        </p:txBody>
      </p:sp>
      <p:sp>
        <p:nvSpPr>
          <p:cNvPr id="104" name="AutoShape 48">
            <a:extLst>
              <a:ext uri="{FF2B5EF4-FFF2-40B4-BE49-F238E27FC236}">
                <a16:creationId xmlns:a16="http://schemas.microsoft.com/office/drawing/2014/main" id="{A2D465F3-7848-9431-681B-CC634C2D7D50}"/>
              </a:ext>
            </a:extLst>
          </p:cNvPr>
          <p:cNvSpPr/>
          <p:nvPr/>
        </p:nvSpPr>
        <p:spPr>
          <a:xfrm>
            <a:off x="8264396" y="4347502"/>
            <a:ext cx="0" cy="721084"/>
          </a:xfrm>
          <a:prstGeom prst="line">
            <a:avLst/>
          </a:prstGeom>
          <a:ln w="57150" cap="flat">
            <a:solidFill>
              <a:srgbClr val="000000"/>
            </a:solidFill>
            <a:prstDash val="solid"/>
            <a:headEnd type="none" w="sm" len="sm"/>
            <a:tailEnd type="arrow" w="med" len="sm"/>
          </a:ln>
        </p:spPr>
        <p:txBody>
          <a:bodyPr/>
          <a:lstStyle/>
          <a:p>
            <a:endParaRPr lang="en-US"/>
          </a:p>
        </p:txBody>
      </p:sp>
      <p:grpSp>
        <p:nvGrpSpPr>
          <p:cNvPr id="105" name="Group 49">
            <a:extLst>
              <a:ext uri="{FF2B5EF4-FFF2-40B4-BE49-F238E27FC236}">
                <a16:creationId xmlns:a16="http://schemas.microsoft.com/office/drawing/2014/main" id="{15791D1C-0038-6408-6926-B5EFC3EAE525}"/>
              </a:ext>
            </a:extLst>
          </p:cNvPr>
          <p:cNvGrpSpPr/>
          <p:nvPr/>
        </p:nvGrpSpPr>
        <p:grpSpPr>
          <a:xfrm>
            <a:off x="6902819" y="4822957"/>
            <a:ext cx="2723155" cy="1005313"/>
            <a:chOff x="0" y="-66675"/>
            <a:chExt cx="739190" cy="272888"/>
          </a:xfrm>
        </p:grpSpPr>
        <p:sp>
          <p:nvSpPr>
            <p:cNvPr id="106" name="Freeform 50">
              <a:extLst>
                <a:ext uri="{FF2B5EF4-FFF2-40B4-BE49-F238E27FC236}">
                  <a16:creationId xmlns:a16="http://schemas.microsoft.com/office/drawing/2014/main" id="{A0A9909D-BF0B-C5B9-4C52-C429FD8358AA}"/>
                </a:ext>
              </a:extLst>
            </p:cNvPr>
            <p:cNvSpPr/>
            <p:nvPr/>
          </p:nvSpPr>
          <p:spPr>
            <a:xfrm>
              <a:off x="203345" y="-5041"/>
              <a:ext cx="342037" cy="206213"/>
            </a:xfrm>
            <a:custGeom>
              <a:avLst/>
              <a:gdLst/>
              <a:ahLst/>
              <a:cxnLst/>
              <a:rect l="l" t="t" r="r" b="b"/>
              <a:pathLst>
                <a:path w="739190" h="206213">
                  <a:moveTo>
                    <a:pt x="103107" y="0"/>
                  </a:moveTo>
                  <a:lnTo>
                    <a:pt x="636084" y="0"/>
                  </a:lnTo>
                  <a:cubicBezTo>
                    <a:pt x="693028" y="0"/>
                    <a:pt x="739190" y="46162"/>
                    <a:pt x="739190" y="103107"/>
                  </a:cubicBezTo>
                  <a:lnTo>
                    <a:pt x="739190" y="103107"/>
                  </a:lnTo>
                  <a:cubicBezTo>
                    <a:pt x="739190" y="160051"/>
                    <a:pt x="693028" y="206213"/>
                    <a:pt x="636084" y="206213"/>
                  </a:cubicBezTo>
                  <a:lnTo>
                    <a:pt x="103107" y="206213"/>
                  </a:lnTo>
                  <a:cubicBezTo>
                    <a:pt x="46162" y="206213"/>
                    <a:pt x="0" y="160051"/>
                    <a:pt x="0" y="103107"/>
                  </a:cubicBezTo>
                  <a:lnTo>
                    <a:pt x="0" y="103107"/>
                  </a:lnTo>
                  <a:cubicBezTo>
                    <a:pt x="0" y="46162"/>
                    <a:pt x="46162" y="0"/>
                    <a:pt x="103107" y="0"/>
                  </a:cubicBezTo>
                  <a:close/>
                </a:path>
              </a:pathLst>
            </a:custGeom>
            <a:solidFill>
              <a:srgbClr val="F152F9"/>
            </a:solidFill>
          </p:spPr>
          <p:txBody>
            <a:bodyPr/>
            <a:lstStyle/>
            <a:p>
              <a:endParaRPr lang="en-US"/>
            </a:p>
          </p:txBody>
        </p:sp>
        <p:sp>
          <p:nvSpPr>
            <p:cNvPr id="107" name="TextBox 51">
              <a:extLst>
                <a:ext uri="{FF2B5EF4-FFF2-40B4-BE49-F238E27FC236}">
                  <a16:creationId xmlns:a16="http://schemas.microsoft.com/office/drawing/2014/main" id="{B0B1D859-EC2B-1F43-B795-4B7AC1AB5608}"/>
                </a:ext>
              </a:extLst>
            </p:cNvPr>
            <p:cNvSpPr txBox="1"/>
            <p:nvPr/>
          </p:nvSpPr>
          <p:spPr>
            <a:xfrm>
              <a:off x="0" y="-66675"/>
              <a:ext cx="739190" cy="272888"/>
            </a:xfrm>
            <a:prstGeom prst="rect">
              <a:avLst/>
            </a:prstGeom>
          </p:spPr>
          <p:txBody>
            <a:bodyPr lIns="50800" tIns="50800" rIns="50800" bIns="50800" rtlCol="0" anchor="ctr"/>
            <a:lstStyle/>
            <a:p>
              <a:pPr algn="ctr">
                <a:lnSpc>
                  <a:spcPts val="3640"/>
                </a:lnSpc>
              </a:pPr>
              <a:r>
                <a:rPr lang="en-US" sz="2600" b="1">
                  <a:solidFill>
                    <a:srgbClr val="FFFFFF"/>
                  </a:solidFill>
                  <a:latin typeface="Poppins Bold"/>
                  <a:ea typeface="Poppins Bold"/>
                  <a:cs typeface="Poppins Bold"/>
                  <a:sym typeface="Poppins Bold"/>
                </a:rPr>
                <a:t>LLM</a:t>
              </a:r>
            </a:p>
          </p:txBody>
        </p:sp>
      </p:grpSp>
      <p:grpSp>
        <p:nvGrpSpPr>
          <p:cNvPr id="108" name="Group 52">
            <a:extLst>
              <a:ext uri="{FF2B5EF4-FFF2-40B4-BE49-F238E27FC236}">
                <a16:creationId xmlns:a16="http://schemas.microsoft.com/office/drawing/2014/main" id="{7B5FE47E-6AB1-7B5C-E229-7F34596D9A4C}"/>
              </a:ext>
            </a:extLst>
          </p:cNvPr>
          <p:cNvGrpSpPr/>
          <p:nvPr/>
        </p:nvGrpSpPr>
        <p:grpSpPr>
          <a:xfrm>
            <a:off x="9733649" y="4691784"/>
            <a:ext cx="2348622" cy="1411654"/>
            <a:chOff x="-202705" y="-53647"/>
            <a:chExt cx="637525" cy="383189"/>
          </a:xfrm>
        </p:grpSpPr>
        <p:sp>
          <p:nvSpPr>
            <p:cNvPr id="109" name="Freeform 53">
              <a:extLst>
                <a:ext uri="{FF2B5EF4-FFF2-40B4-BE49-F238E27FC236}">
                  <a16:creationId xmlns:a16="http://schemas.microsoft.com/office/drawing/2014/main" id="{37BBC099-C29D-B299-4894-C788B1444907}"/>
                </a:ext>
              </a:extLst>
            </p:cNvPr>
            <p:cNvSpPr/>
            <p:nvPr/>
          </p:nvSpPr>
          <p:spPr>
            <a:xfrm>
              <a:off x="-202705" y="1322"/>
              <a:ext cx="637525" cy="306989"/>
            </a:xfrm>
            <a:custGeom>
              <a:avLst/>
              <a:gdLst/>
              <a:ahLst/>
              <a:cxnLst/>
              <a:rect l="l" t="t" r="r" b="b"/>
              <a:pathLst>
                <a:path w="964692" h="306989">
                  <a:moveTo>
                    <a:pt x="111100" y="0"/>
                  </a:moveTo>
                  <a:lnTo>
                    <a:pt x="853592" y="0"/>
                  </a:lnTo>
                  <a:cubicBezTo>
                    <a:pt x="883057" y="0"/>
                    <a:pt x="911316" y="11705"/>
                    <a:pt x="932151" y="32540"/>
                  </a:cubicBezTo>
                  <a:cubicBezTo>
                    <a:pt x="952987" y="53376"/>
                    <a:pt x="964692" y="81634"/>
                    <a:pt x="964692" y="111100"/>
                  </a:cubicBezTo>
                  <a:lnTo>
                    <a:pt x="964692" y="195888"/>
                  </a:lnTo>
                  <a:cubicBezTo>
                    <a:pt x="964692" y="225354"/>
                    <a:pt x="952987" y="253613"/>
                    <a:pt x="932151" y="274448"/>
                  </a:cubicBezTo>
                  <a:cubicBezTo>
                    <a:pt x="911316" y="295283"/>
                    <a:pt x="883057" y="306989"/>
                    <a:pt x="853592" y="306989"/>
                  </a:cubicBezTo>
                  <a:lnTo>
                    <a:pt x="111100" y="306989"/>
                  </a:lnTo>
                  <a:cubicBezTo>
                    <a:pt x="81634" y="306989"/>
                    <a:pt x="53376" y="295283"/>
                    <a:pt x="32540" y="274448"/>
                  </a:cubicBezTo>
                  <a:cubicBezTo>
                    <a:pt x="11705" y="253613"/>
                    <a:pt x="0" y="225354"/>
                    <a:pt x="0" y="195888"/>
                  </a:cubicBezTo>
                  <a:lnTo>
                    <a:pt x="0" y="111100"/>
                  </a:lnTo>
                  <a:cubicBezTo>
                    <a:pt x="0" y="81634"/>
                    <a:pt x="11705" y="53376"/>
                    <a:pt x="32540" y="32540"/>
                  </a:cubicBezTo>
                  <a:cubicBezTo>
                    <a:pt x="53376" y="11705"/>
                    <a:pt x="81634" y="0"/>
                    <a:pt x="111100" y="0"/>
                  </a:cubicBezTo>
                  <a:close/>
                </a:path>
              </a:pathLst>
            </a:custGeom>
            <a:solidFill>
              <a:srgbClr val="217CE9"/>
            </a:solidFill>
          </p:spPr>
          <p:txBody>
            <a:bodyPr/>
            <a:lstStyle/>
            <a:p>
              <a:endParaRPr lang="en-US"/>
            </a:p>
          </p:txBody>
        </p:sp>
        <p:sp>
          <p:nvSpPr>
            <p:cNvPr id="110" name="TextBox 54">
              <a:extLst>
                <a:ext uri="{FF2B5EF4-FFF2-40B4-BE49-F238E27FC236}">
                  <a16:creationId xmlns:a16="http://schemas.microsoft.com/office/drawing/2014/main" id="{FFEDE4EF-980E-A1E3-8E97-455513897AB6}"/>
                </a:ext>
              </a:extLst>
            </p:cNvPr>
            <p:cNvSpPr txBox="1"/>
            <p:nvPr/>
          </p:nvSpPr>
          <p:spPr>
            <a:xfrm>
              <a:off x="-202705" y="-53647"/>
              <a:ext cx="637523" cy="383189"/>
            </a:xfrm>
            <a:prstGeom prst="rect">
              <a:avLst/>
            </a:prstGeom>
          </p:spPr>
          <p:txBody>
            <a:bodyPr lIns="50800" tIns="50800" rIns="50800" bIns="50800" rtlCol="0" anchor="ctr"/>
            <a:lstStyle/>
            <a:p>
              <a:pPr algn="ctr">
                <a:lnSpc>
                  <a:spcPts val="3500"/>
                </a:lnSpc>
              </a:pPr>
              <a:r>
                <a:rPr lang="en-US" sz="2500" b="1">
                  <a:solidFill>
                    <a:srgbClr val="FFFFFF"/>
                  </a:solidFill>
                  <a:latin typeface="Poppins Bold"/>
                  <a:ea typeface="Poppins Bold"/>
                  <a:cs typeface="Poppins Bold"/>
                  <a:sym typeface="Poppins Bold"/>
                </a:rPr>
                <a:t>Basic</a:t>
              </a:r>
            </a:p>
            <a:p>
              <a:pPr algn="ctr">
                <a:lnSpc>
                  <a:spcPts val="3500"/>
                </a:lnSpc>
              </a:pPr>
              <a:r>
                <a:rPr lang="en-US" sz="2500" b="1">
                  <a:solidFill>
                    <a:srgbClr val="FFFFFF"/>
                  </a:solidFill>
                  <a:latin typeface="Poppins Bold"/>
                  <a:ea typeface="Poppins Bold"/>
                  <a:cs typeface="Poppins Bold"/>
                  <a:sym typeface="Poppins Bold"/>
                </a:rPr>
                <a:t>system message</a:t>
              </a:r>
            </a:p>
          </p:txBody>
        </p:sp>
      </p:grpSp>
      <p:sp>
        <p:nvSpPr>
          <p:cNvPr id="111" name="AutoShape 55">
            <a:extLst>
              <a:ext uri="{FF2B5EF4-FFF2-40B4-BE49-F238E27FC236}">
                <a16:creationId xmlns:a16="http://schemas.microsoft.com/office/drawing/2014/main" id="{4B486933-15BB-654F-4D90-9784CE13CE69}"/>
              </a:ext>
            </a:extLst>
          </p:cNvPr>
          <p:cNvSpPr/>
          <p:nvPr/>
        </p:nvSpPr>
        <p:spPr>
          <a:xfrm flipH="1" flipV="1">
            <a:off x="8911990" y="5423399"/>
            <a:ext cx="854435" cy="6458"/>
          </a:xfrm>
          <a:prstGeom prst="line">
            <a:avLst/>
          </a:prstGeom>
          <a:ln w="57150" cap="flat">
            <a:solidFill>
              <a:srgbClr val="000000"/>
            </a:solidFill>
            <a:prstDash val="solid"/>
            <a:headEnd type="none" w="sm" len="sm"/>
            <a:tailEnd type="arrow" w="med" len="sm"/>
          </a:ln>
        </p:spPr>
        <p:txBody>
          <a:bodyPr/>
          <a:lstStyle/>
          <a:p>
            <a:endParaRPr lang="en-US"/>
          </a:p>
        </p:txBody>
      </p:sp>
      <p:sp>
        <p:nvSpPr>
          <p:cNvPr id="114" name="Freeform 7">
            <a:extLst>
              <a:ext uri="{FF2B5EF4-FFF2-40B4-BE49-F238E27FC236}">
                <a16:creationId xmlns:a16="http://schemas.microsoft.com/office/drawing/2014/main" id="{77F5BA99-8E27-C1BC-6A3E-345F9BF7E3BD}"/>
              </a:ext>
            </a:extLst>
          </p:cNvPr>
          <p:cNvSpPr/>
          <p:nvPr/>
        </p:nvSpPr>
        <p:spPr>
          <a:xfrm>
            <a:off x="601921" y="3039934"/>
            <a:ext cx="1325485" cy="718525"/>
          </a:xfrm>
          <a:custGeom>
            <a:avLst/>
            <a:gdLst/>
            <a:ahLst/>
            <a:cxnLst/>
            <a:rect l="l" t="t" r="r" b="b"/>
            <a:pathLst>
              <a:path w="1545051" h="379688">
                <a:moveTo>
                  <a:pt x="98011" y="0"/>
                </a:moveTo>
                <a:lnTo>
                  <a:pt x="1447040" y="0"/>
                </a:lnTo>
                <a:cubicBezTo>
                  <a:pt x="1501170" y="0"/>
                  <a:pt x="1545051" y="43881"/>
                  <a:pt x="1545051" y="98011"/>
                </a:cubicBezTo>
                <a:lnTo>
                  <a:pt x="1545051" y="281677"/>
                </a:lnTo>
                <a:cubicBezTo>
                  <a:pt x="1545051" y="335807"/>
                  <a:pt x="1501170" y="379688"/>
                  <a:pt x="1447040" y="379688"/>
                </a:cubicBezTo>
                <a:lnTo>
                  <a:pt x="98011" y="379688"/>
                </a:lnTo>
                <a:cubicBezTo>
                  <a:pt x="43881" y="379688"/>
                  <a:pt x="0" y="335807"/>
                  <a:pt x="0" y="281677"/>
                </a:cubicBezTo>
                <a:lnTo>
                  <a:pt x="0" y="98011"/>
                </a:lnTo>
                <a:cubicBezTo>
                  <a:pt x="0" y="43881"/>
                  <a:pt x="43881" y="0"/>
                  <a:pt x="98011" y="0"/>
                </a:cubicBezTo>
                <a:close/>
              </a:path>
            </a:pathLst>
          </a:custGeom>
          <a:solidFill>
            <a:srgbClr val="217CE9"/>
          </a:solidFill>
        </p:spPr>
        <p:txBody>
          <a:bodyPr/>
          <a:lstStyle/>
          <a:p>
            <a:endParaRPr lang="en-US"/>
          </a:p>
        </p:txBody>
      </p:sp>
      <p:sp>
        <p:nvSpPr>
          <p:cNvPr id="115" name="TextBox 9">
            <a:extLst>
              <a:ext uri="{FF2B5EF4-FFF2-40B4-BE49-F238E27FC236}">
                <a16:creationId xmlns:a16="http://schemas.microsoft.com/office/drawing/2014/main" id="{1A466885-A0B5-504D-9AC7-8D4E23358453}"/>
              </a:ext>
            </a:extLst>
          </p:cNvPr>
          <p:cNvSpPr txBox="1"/>
          <p:nvPr/>
        </p:nvSpPr>
        <p:spPr>
          <a:xfrm>
            <a:off x="601922" y="3151302"/>
            <a:ext cx="1321143" cy="445784"/>
          </a:xfrm>
          <a:prstGeom prst="rect">
            <a:avLst/>
          </a:prstGeom>
        </p:spPr>
        <p:txBody>
          <a:bodyPr wrap="square" lIns="0" tIns="0" rIns="0" bIns="0" rtlCol="0" anchor="t">
            <a:spAutoFit/>
          </a:bodyPr>
          <a:lstStyle/>
          <a:p>
            <a:pPr algn="ctr">
              <a:lnSpc>
                <a:spcPts val="3654"/>
              </a:lnSpc>
              <a:spcBef>
                <a:spcPct val="0"/>
              </a:spcBef>
            </a:pPr>
            <a:r>
              <a:rPr lang="en-US" sz="2610" b="1">
                <a:solidFill>
                  <a:srgbClr val="FFFFFF"/>
                </a:solidFill>
                <a:latin typeface="Poppins Bold"/>
                <a:ea typeface="Poppins Bold"/>
                <a:cs typeface="Poppins Bold"/>
                <a:sym typeface="Poppins Bold"/>
              </a:rPr>
              <a:t>Agent</a:t>
            </a:r>
          </a:p>
        </p:txBody>
      </p:sp>
      <p:sp>
        <p:nvSpPr>
          <p:cNvPr id="116" name="Freeform 7">
            <a:extLst>
              <a:ext uri="{FF2B5EF4-FFF2-40B4-BE49-F238E27FC236}">
                <a16:creationId xmlns:a16="http://schemas.microsoft.com/office/drawing/2014/main" id="{C2805230-B862-FC63-CD7D-19172914E28E}"/>
              </a:ext>
            </a:extLst>
          </p:cNvPr>
          <p:cNvSpPr/>
          <p:nvPr/>
        </p:nvSpPr>
        <p:spPr>
          <a:xfrm>
            <a:off x="664625" y="4283978"/>
            <a:ext cx="1325485" cy="718525"/>
          </a:xfrm>
          <a:custGeom>
            <a:avLst/>
            <a:gdLst/>
            <a:ahLst/>
            <a:cxnLst/>
            <a:rect l="l" t="t" r="r" b="b"/>
            <a:pathLst>
              <a:path w="1545051" h="379688">
                <a:moveTo>
                  <a:pt x="98011" y="0"/>
                </a:moveTo>
                <a:lnTo>
                  <a:pt x="1447040" y="0"/>
                </a:lnTo>
                <a:cubicBezTo>
                  <a:pt x="1501170" y="0"/>
                  <a:pt x="1545051" y="43881"/>
                  <a:pt x="1545051" y="98011"/>
                </a:cubicBezTo>
                <a:lnTo>
                  <a:pt x="1545051" y="281677"/>
                </a:lnTo>
                <a:cubicBezTo>
                  <a:pt x="1545051" y="335807"/>
                  <a:pt x="1501170" y="379688"/>
                  <a:pt x="1447040" y="379688"/>
                </a:cubicBezTo>
                <a:lnTo>
                  <a:pt x="98011" y="379688"/>
                </a:lnTo>
                <a:cubicBezTo>
                  <a:pt x="43881" y="379688"/>
                  <a:pt x="0" y="335807"/>
                  <a:pt x="0" y="281677"/>
                </a:cubicBezTo>
                <a:lnTo>
                  <a:pt x="0" y="98011"/>
                </a:lnTo>
                <a:cubicBezTo>
                  <a:pt x="0" y="43881"/>
                  <a:pt x="43881" y="0"/>
                  <a:pt x="98011" y="0"/>
                </a:cubicBezTo>
                <a:close/>
              </a:path>
            </a:pathLst>
          </a:custGeom>
          <a:solidFill>
            <a:srgbClr val="217CE9"/>
          </a:solidFill>
        </p:spPr>
        <p:txBody>
          <a:bodyPr/>
          <a:lstStyle/>
          <a:p>
            <a:endParaRPr lang="en-US"/>
          </a:p>
        </p:txBody>
      </p:sp>
      <p:sp>
        <p:nvSpPr>
          <p:cNvPr id="117" name="TextBox 9">
            <a:extLst>
              <a:ext uri="{FF2B5EF4-FFF2-40B4-BE49-F238E27FC236}">
                <a16:creationId xmlns:a16="http://schemas.microsoft.com/office/drawing/2014/main" id="{B46D31BA-7F14-E0C5-C8F4-C4B7C40C4D58}"/>
              </a:ext>
            </a:extLst>
          </p:cNvPr>
          <p:cNvSpPr txBox="1"/>
          <p:nvPr/>
        </p:nvSpPr>
        <p:spPr>
          <a:xfrm>
            <a:off x="664626" y="4395346"/>
            <a:ext cx="1321143" cy="445784"/>
          </a:xfrm>
          <a:prstGeom prst="rect">
            <a:avLst/>
          </a:prstGeom>
        </p:spPr>
        <p:txBody>
          <a:bodyPr wrap="square" lIns="0" tIns="0" rIns="0" bIns="0" rtlCol="0" anchor="t">
            <a:spAutoFit/>
          </a:bodyPr>
          <a:lstStyle/>
          <a:p>
            <a:pPr algn="ctr">
              <a:lnSpc>
                <a:spcPts val="3654"/>
              </a:lnSpc>
              <a:spcBef>
                <a:spcPct val="0"/>
              </a:spcBef>
            </a:pPr>
            <a:r>
              <a:rPr lang="en-US" sz="2610" b="1">
                <a:solidFill>
                  <a:srgbClr val="FFFFFF"/>
                </a:solidFill>
                <a:latin typeface="Poppins Bold"/>
                <a:ea typeface="Poppins Bold"/>
                <a:cs typeface="Poppins Bold"/>
                <a:sym typeface="Poppins Bold"/>
              </a:rPr>
              <a:t>Agent</a:t>
            </a:r>
          </a:p>
        </p:txBody>
      </p:sp>
      <p:sp>
        <p:nvSpPr>
          <p:cNvPr id="118" name="Freeform 7">
            <a:extLst>
              <a:ext uri="{FF2B5EF4-FFF2-40B4-BE49-F238E27FC236}">
                <a16:creationId xmlns:a16="http://schemas.microsoft.com/office/drawing/2014/main" id="{B4EFA705-D85C-17C2-F2D3-693597729EC1}"/>
              </a:ext>
            </a:extLst>
          </p:cNvPr>
          <p:cNvSpPr/>
          <p:nvPr/>
        </p:nvSpPr>
        <p:spPr>
          <a:xfrm>
            <a:off x="681402" y="5459758"/>
            <a:ext cx="1325485" cy="718525"/>
          </a:xfrm>
          <a:custGeom>
            <a:avLst/>
            <a:gdLst/>
            <a:ahLst/>
            <a:cxnLst/>
            <a:rect l="l" t="t" r="r" b="b"/>
            <a:pathLst>
              <a:path w="1545051" h="379688">
                <a:moveTo>
                  <a:pt x="98011" y="0"/>
                </a:moveTo>
                <a:lnTo>
                  <a:pt x="1447040" y="0"/>
                </a:lnTo>
                <a:cubicBezTo>
                  <a:pt x="1501170" y="0"/>
                  <a:pt x="1545051" y="43881"/>
                  <a:pt x="1545051" y="98011"/>
                </a:cubicBezTo>
                <a:lnTo>
                  <a:pt x="1545051" y="281677"/>
                </a:lnTo>
                <a:cubicBezTo>
                  <a:pt x="1545051" y="335807"/>
                  <a:pt x="1501170" y="379688"/>
                  <a:pt x="1447040" y="379688"/>
                </a:cubicBezTo>
                <a:lnTo>
                  <a:pt x="98011" y="379688"/>
                </a:lnTo>
                <a:cubicBezTo>
                  <a:pt x="43881" y="379688"/>
                  <a:pt x="0" y="335807"/>
                  <a:pt x="0" y="281677"/>
                </a:cubicBezTo>
                <a:lnTo>
                  <a:pt x="0" y="98011"/>
                </a:lnTo>
                <a:cubicBezTo>
                  <a:pt x="0" y="43881"/>
                  <a:pt x="43881" y="0"/>
                  <a:pt x="98011" y="0"/>
                </a:cubicBezTo>
                <a:close/>
              </a:path>
            </a:pathLst>
          </a:custGeom>
          <a:solidFill>
            <a:srgbClr val="217CE9"/>
          </a:solidFill>
        </p:spPr>
        <p:txBody>
          <a:bodyPr/>
          <a:lstStyle/>
          <a:p>
            <a:endParaRPr lang="en-US"/>
          </a:p>
        </p:txBody>
      </p:sp>
      <p:sp>
        <p:nvSpPr>
          <p:cNvPr id="119" name="TextBox 9">
            <a:extLst>
              <a:ext uri="{FF2B5EF4-FFF2-40B4-BE49-F238E27FC236}">
                <a16:creationId xmlns:a16="http://schemas.microsoft.com/office/drawing/2014/main" id="{D2B04C22-0309-BE4F-0CDE-DFDBEB7C2612}"/>
              </a:ext>
            </a:extLst>
          </p:cNvPr>
          <p:cNvSpPr txBox="1"/>
          <p:nvPr/>
        </p:nvSpPr>
        <p:spPr>
          <a:xfrm>
            <a:off x="681403" y="5571126"/>
            <a:ext cx="1321143" cy="445784"/>
          </a:xfrm>
          <a:prstGeom prst="rect">
            <a:avLst/>
          </a:prstGeom>
        </p:spPr>
        <p:txBody>
          <a:bodyPr wrap="square" lIns="0" tIns="0" rIns="0" bIns="0" rtlCol="0" anchor="t">
            <a:spAutoFit/>
          </a:bodyPr>
          <a:lstStyle/>
          <a:p>
            <a:pPr algn="ctr">
              <a:lnSpc>
                <a:spcPts val="3654"/>
              </a:lnSpc>
              <a:spcBef>
                <a:spcPct val="0"/>
              </a:spcBef>
            </a:pPr>
            <a:r>
              <a:rPr lang="en-US" sz="2610" b="1">
                <a:solidFill>
                  <a:srgbClr val="FFFFFF"/>
                </a:solidFill>
                <a:latin typeface="Poppins Bold"/>
                <a:ea typeface="Poppins Bold"/>
                <a:cs typeface="Poppins Bold"/>
                <a:sym typeface="Poppins Bold"/>
              </a:rPr>
              <a:t>Agent</a:t>
            </a:r>
          </a:p>
        </p:txBody>
      </p:sp>
    </p:spTree>
    <p:extLst>
      <p:ext uri="{BB962C8B-B14F-4D97-AF65-F5344CB8AC3E}">
        <p14:creationId xmlns:p14="http://schemas.microsoft.com/office/powerpoint/2010/main" val="152465443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E69C6-A8DE-08CF-7A55-839575ED27C1}"/>
              </a:ext>
            </a:extLst>
          </p:cNvPr>
          <p:cNvSpPr>
            <a:spLocks noGrp="1"/>
          </p:cNvSpPr>
          <p:nvPr>
            <p:ph type="title"/>
          </p:nvPr>
        </p:nvSpPr>
        <p:spPr>
          <a:xfrm>
            <a:off x="588263" y="457200"/>
            <a:ext cx="11018520" cy="553998"/>
          </a:xfrm>
        </p:spPr>
        <p:txBody>
          <a:bodyPr/>
          <a:lstStyle/>
          <a:p>
            <a:r>
              <a:rPr kumimoji="0" lang="en-US" sz="3600" b="0" i="0" u="none" strike="noStrike" kern="1200" cap="none" spc="0" normalizeH="0" noProof="0" dirty="0">
                <a:ln w="3175">
                  <a:noFill/>
                </a:ln>
                <a:solidFill>
                  <a:srgbClr val="000000"/>
                </a:solidFill>
                <a:effectLst/>
                <a:uLnTx/>
                <a:uFillTx/>
                <a:latin typeface="Segoe UI Semibold"/>
                <a:ea typeface="+mn-ea"/>
                <a:cs typeface="Segoe UI" pitchFamily="34" charset="0"/>
              </a:rPr>
              <a:t>Human-in-the-loop</a:t>
            </a:r>
            <a:endParaRPr lang="en-US"/>
          </a:p>
        </p:txBody>
      </p:sp>
      <p:pic>
        <p:nvPicPr>
          <p:cNvPr id="4" name="Graphic 3">
            <a:extLst>
              <a:ext uri="{FF2B5EF4-FFF2-40B4-BE49-F238E27FC236}">
                <a16:creationId xmlns:a16="http://schemas.microsoft.com/office/drawing/2014/main" id="{7F89E78D-7D62-FB53-DA0F-39FF7F4B22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8263" y="1453892"/>
            <a:ext cx="9620739" cy="5117007"/>
          </a:xfrm>
          <a:prstGeom prst="rect">
            <a:avLst/>
          </a:prstGeom>
        </p:spPr>
      </p:pic>
    </p:spTree>
    <p:extLst>
      <p:ext uri="{BB962C8B-B14F-4D97-AF65-F5344CB8AC3E}">
        <p14:creationId xmlns:p14="http://schemas.microsoft.com/office/powerpoint/2010/main" val="170928487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F4704-D74A-4AFF-9EC2-88D18B1D7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C2746-ACDA-4CB8-4EFC-98685A00F01C}"/>
              </a:ext>
            </a:extLst>
          </p:cNvPr>
          <p:cNvSpPr>
            <a:spLocks noGrp="1"/>
          </p:cNvSpPr>
          <p:nvPr>
            <p:ph type="title"/>
          </p:nvPr>
        </p:nvSpPr>
        <p:spPr>
          <a:xfrm>
            <a:off x="588263" y="457200"/>
            <a:ext cx="11018520" cy="553998"/>
          </a:xfrm>
        </p:spPr>
        <p:txBody>
          <a:bodyPr/>
          <a:lstStyle/>
          <a:p>
            <a:r>
              <a:rPr kumimoji="0" lang="en-US" sz="3600" b="0" i="0" u="none" strike="noStrike" kern="1200" cap="none" spc="0" normalizeH="0" noProof="0" dirty="0">
                <a:ln w="3175">
                  <a:noFill/>
                </a:ln>
                <a:solidFill>
                  <a:srgbClr val="000000"/>
                </a:solidFill>
                <a:effectLst/>
                <a:uLnTx/>
                <a:uFillTx/>
                <a:latin typeface="Segoe UI Semibold"/>
                <a:ea typeface="+mn-ea"/>
                <a:cs typeface="Segoe UI" pitchFamily="34" charset="0"/>
              </a:rPr>
              <a:t>Human-in-the-loop</a:t>
            </a:r>
            <a:endParaRPr lang="en-US"/>
          </a:p>
        </p:txBody>
      </p:sp>
      <p:grpSp>
        <p:nvGrpSpPr>
          <p:cNvPr id="3" name="Group 3">
            <a:extLst>
              <a:ext uri="{FF2B5EF4-FFF2-40B4-BE49-F238E27FC236}">
                <a16:creationId xmlns:a16="http://schemas.microsoft.com/office/drawing/2014/main" id="{32581362-9A32-5F7F-9D81-AC4A272B066B}"/>
              </a:ext>
            </a:extLst>
          </p:cNvPr>
          <p:cNvGrpSpPr/>
          <p:nvPr/>
        </p:nvGrpSpPr>
        <p:grpSpPr>
          <a:xfrm>
            <a:off x="4998480" y="4415542"/>
            <a:ext cx="2195039" cy="1120613"/>
            <a:chOff x="0" y="0"/>
            <a:chExt cx="812800" cy="414951"/>
          </a:xfrm>
        </p:grpSpPr>
        <p:sp>
          <p:nvSpPr>
            <p:cNvPr id="5" name="Freeform 4">
              <a:extLst>
                <a:ext uri="{FF2B5EF4-FFF2-40B4-BE49-F238E27FC236}">
                  <a16:creationId xmlns:a16="http://schemas.microsoft.com/office/drawing/2014/main" id="{4AAE5891-B357-5CFE-057A-E368D3BE721B}"/>
                </a:ext>
              </a:extLst>
            </p:cNvPr>
            <p:cNvSpPr/>
            <p:nvPr/>
          </p:nvSpPr>
          <p:spPr>
            <a:xfrm>
              <a:off x="0" y="0"/>
              <a:ext cx="812800" cy="414951"/>
            </a:xfrm>
            <a:custGeom>
              <a:avLst/>
              <a:gdLst/>
              <a:ahLst/>
              <a:cxnLst/>
              <a:rect l="l" t="t" r="r" b="b"/>
              <a:pathLst>
                <a:path w="812800" h="414951">
                  <a:moveTo>
                    <a:pt x="0" y="0"/>
                  </a:moveTo>
                  <a:lnTo>
                    <a:pt x="812800" y="0"/>
                  </a:lnTo>
                  <a:lnTo>
                    <a:pt x="812800" y="414951"/>
                  </a:lnTo>
                  <a:lnTo>
                    <a:pt x="0" y="414951"/>
                  </a:lnTo>
                  <a:close/>
                </a:path>
              </a:pathLst>
            </a:custGeom>
            <a:solidFill>
              <a:srgbClr val="F152F9"/>
            </a:solidFill>
          </p:spPr>
          <p:txBody>
            <a:bodyPr/>
            <a:lstStyle/>
            <a:p>
              <a:endParaRPr lang="en-US" sz="1200"/>
            </a:p>
          </p:txBody>
        </p:sp>
        <p:sp>
          <p:nvSpPr>
            <p:cNvPr id="6" name="TextBox 5">
              <a:extLst>
                <a:ext uri="{FF2B5EF4-FFF2-40B4-BE49-F238E27FC236}">
                  <a16:creationId xmlns:a16="http://schemas.microsoft.com/office/drawing/2014/main" id="{FE7F7651-4EED-571D-E86B-3B74D29295D5}"/>
                </a:ext>
              </a:extLst>
            </p:cNvPr>
            <p:cNvSpPr txBox="1"/>
            <p:nvPr/>
          </p:nvSpPr>
          <p:spPr>
            <a:xfrm>
              <a:off x="0" y="-114300"/>
              <a:ext cx="812800" cy="529251"/>
            </a:xfrm>
            <a:prstGeom prst="rect">
              <a:avLst/>
            </a:prstGeom>
          </p:spPr>
          <p:txBody>
            <a:bodyPr lIns="33867" tIns="33867" rIns="33867" bIns="33867" rtlCol="0" anchor="ctr"/>
            <a:lstStyle/>
            <a:p>
              <a:pPr algn="ctr">
                <a:lnSpc>
                  <a:spcPts val="3546"/>
                </a:lnSpc>
              </a:pPr>
              <a:r>
                <a:rPr lang="en-US" sz="2533" b="1">
                  <a:solidFill>
                    <a:srgbClr val="FFFFFF"/>
                  </a:solidFill>
                  <a:latin typeface="Poppins Bold"/>
                  <a:ea typeface="Poppins Bold"/>
                  <a:cs typeface="Poppins Bold"/>
                  <a:sym typeface="Poppins Bold"/>
                </a:rPr>
                <a:t>User</a:t>
              </a:r>
            </a:p>
            <a:p>
              <a:pPr algn="ctr">
                <a:lnSpc>
                  <a:spcPts val="3546"/>
                </a:lnSpc>
              </a:pPr>
              <a:r>
                <a:rPr lang="en-US" sz="2533" b="1">
                  <a:solidFill>
                    <a:srgbClr val="FFFFFF"/>
                  </a:solidFill>
                  <a:latin typeface="Poppins Bold"/>
                  <a:ea typeface="Poppins Bold"/>
                  <a:cs typeface="Poppins Bold"/>
                  <a:sym typeface="Poppins Bold"/>
                </a:rPr>
                <a:t>agent</a:t>
              </a:r>
            </a:p>
          </p:txBody>
        </p:sp>
      </p:grpSp>
      <p:grpSp>
        <p:nvGrpSpPr>
          <p:cNvPr id="7" name="Group 6">
            <a:extLst>
              <a:ext uri="{FF2B5EF4-FFF2-40B4-BE49-F238E27FC236}">
                <a16:creationId xmlns:a16="http://schemas.microsoft.com/office/drawing/2014/main" id="{788DE924-0007-9B0B-50EF-044837F93BBD}"/>
              </a:ext>
            </a:extLst>
          </p:cNvPr>
          <p:cNvGrpSpPr/>
          <p:nvPr/>
        </p:nvGrpSpPr>
        <p:grpSpPr>
          <a:xfrm>
            <a:off x="778286" y="4093473"/>
            <a:ext cx="2789422" cy="1662387"/>
            <a:chOff x="-1891583" y="-120177"/>
            <a:chExt cx="5578843" cy="3324776"/>
          </a:xfrm>
        </p:grpSpPr>
        <p:grpSp>
          <p:nvGrpSpPr>
            <p:cNvPr id="8" name="Group 7">
              <a:extLst>
                <a:ext uri="{FF2B5EF4-FFF2-40B4-BE49-F238E27FC236}">
                  <a16:creationId xmlns:a16="http://schemas.microsoft.com/office/drawing/2014/main" id="{26B1DCFC-8AEE-1ECD-5CB4-7809CD91F0F9}"/>
                </a:ext>
              </a:extLst>
            </p:cNvPr>
            <p:cNvGrpSpPr/>
            <p:nvPr/>
          </p:nvGrpSpPr>
          <p:grpSpPr>
            <a:xfrm>
              <a:off x="-1891583" y="-120177"/>
              <a:ext cx="5578843" cy="3324776"/>
              <a:chOff x="-899536" y="-57150"/>
              <a:chExt cx="2653000" cy="1581086"/>
            </a:xfrm>
          </p:grpSpPr>
          <p:sp>
            <p:nvSpPr>
              <p:cNvPr id="10" name="Freeform 8">
                <a:extLst>
                  <a:ext uri="{FF2B5EF4-FFF2-40B4-BE49-F238E27FC236}">
                    <a16:creationId xmlns:a16="http://schemas.microsoft.com/office/drawing/2014/main" id="{13A41A5D-1E9C-AF71-A2F5-0539C42A0812}"/>
                  </a:ext>
                </a:extLst>
              </p:cNvPr>
              <p:cNvSpPr/>
              <p:nvPr/>
            </p:nvSpPr>
            <p:spPr>
              <a:xfrm>
                <a:off x="-899536" y="120159"/>
                <a:ext cx="1753464" cy="1403777"/>
              </a:xfrm>
              <a:custGeom>
                <a:avLst/>
                <a:gdLst/>
                <a:ahLst/>
                <a:cxnLst/>
                <a:rect l="l" t="t" r="r" b="b"/>
                <a:pathLst>
                  <a:path w="1753464" h="1403777">
                    <a:moveTo>
                      <a:pt x="142776" y="0"/>
                    </a:moveTo>
                    <a:lnTo>
                      <a:pt x="1610689" y="0"/>
                    </a:lnTo>
                    <a:cubicBezTo>
                      <a:pt x="1648555" y="0"/>
                      <a:pt x="1684871" y="15042"/>
                      <a:pt x="1711646" y="41818"/>
                    </a:cubicBezTo>
                    <a:cubicBezTo>
                      <a:pt x="1738422" y="68594"/>
                      <a:pt x="1753464" y="104909"/>
                      <a:pt x="1753464" y="142776"/>
                    </a:cubicBezTo>
                    <a:lnTo>
                      <a:pt x="1753464" y="1261002"/>
                    </a:lnTo>
                    <a:cubicBezTo>
                      <a:pt x="1753464" y="1339854"/>
                      <a:pt x="1689541" y="1403777"/>
                      <a:pt x="1610689" y="1403777"/>
                    </a:cubicBezTo>
                    <a:lnTo>
                      <a:pt x="142776" y="1403777"/>
                    </a:lnTo>
                    <a:cubicBezTo>
                      <a:pt x="104909" y="1403777"/>
                      <a:pt x="68594" y="1388735"/>
                      <a:pt x="41818" y="1361959"/>
                    </a:cubicBezTo>
                    <a:cubicBezTo>
                      <a:pt x="15042" y="1335184"/>
                      <a:pt x="0" y="1298868"/>
                      <a:pt x="0" y="1261002"/>
                    </a:cubicBezTo>
                    <a:lnTo>
                      <a:pt x="0" y="142776"/>
                    </a:lnTo>
                    <a:cubicBezTo>
                      <a:pt x="0" y="104909"/>
                      <a:pt x="15042" y="68594"/>
                      <a:pt x="41818" y="41818"/>
                    </a:cubicBezTo>
                    <a:cubicBezTo>
                      <a:pt x="68594" y="15042"/>
                      <a:pt x="104909" y="0"/>
                      <a:pt x="142776" y="0"/>
                    </a:cubicBezTo>
                    <a:close/>
                  </a:path>
                </a:pathLst>
              </a:custGeom>
              <a:solidFill>
                <a:srgbClr val="217CE9"/>
              </a:solidFill>
            </p:spPr>
            <p:txBody>
              <a:bodyPr/>
              <a:lstStyle/>
              <a:p>
                <a:endParaRPr lang="en-US" sz="1200"/>
              </a:p>
            </p:txBody>
          </p:sp>
          <p:sp>
            <p:nvSpPr>
              <p:cNvPr id="11" name="TextBox 9">
                <a:extLst>
                  <a:ext uri="{FF2B5EF4-FFF2-40B4-BE49-F238E27FC236}">
                    <a16:creationId xmlns:a16="http://schemas.microsoft.com/office/drawing/2014/main" id="{3125B179-946C-54A9-D1E3-052680F7C73A}"/>
                  </a:ext>
                </a:extLst>
              </p:cNvPr>
              <p:cNvSpPr txBox="1"/>
              <p:nvPr/>
            </p:nvSpPr>
            <p:spPr>
              <a:xfrm>
                <a:off x="0" y="-57150"/>
                <a:ext cx="1753464" cy="1460927"/>
              </a:xfrm>
              <a:prstGeom prst="rect">
                <a:avLst/>
              </a:prstGeom>
            </p:spPr>
            <p:txBody>
              <a:bodyPr lIns="20485" tIns="20485" rIns="20485" bIns="20485" rtlCol="0" anchor="ctr"/>
              <a:lstStyle/>
              <a:p>
                <a:pPr algn="ctr">
                  <a:lnSpc>
                    <a:spcPts val="2333"/>
                  </a:lnSpc>
                </a:pPr>
                <a:endParaRPr sz="1200"/>
              </a:p>
            </p:txBody>
          </p:sp>
        </p:grpSp>
        <p:sp>
          <p:nvSpPr>
            <p:cNvPr id="9" name="TextBox 10">
              <a:extLst>
                <a:ext uri="{FF2B5EF4-FFF2-40B4-BE49-F238E27FC236}">
                  <a16:creationId xmlns:a16="http://schemas.microsoft.com/office/drawing/2014/main" id="{06C0A8EE-BC63-4031-0BD9-20751C412596}"/>
                </a:ext>
              </a:extLst>
            </p:cNvPr>
            <p:cNvSpPr txBox="1"/>
            <p:nvPr/>
          </p:nvSpPr>
          <p:spPr>
            <a:xfrm>
              <a:off x="-1430061" y="706131"/>
              <a:ext cx="2764220" cy="1887057"/>
            </a:xfrm>
            <a:prstGeom prst="rect">
              <a:avLst/>
            </a:prstGeom>
          </p:spPr>
          <p:txBody>
            <a:bodyPr lIns="0" tIns="0" rIns="0" bIns="0" rtlCol="0" anchor="t">
              <a:spAutoFit/>
            </a:bodyPr>
            <a:lstStyle/>
            <a:p>
              <a:pPr algn="ctr">
                <a:lnSpc>
                  <a:spcPts val="3751"/>
                </a:lnSpc>
              </a:pPr>
              <a:r>
                <a:rPr lang="en-US" sz="2679" b="1">
                  <a:solidFill>
                    <a:srgbClr val="FFFFFF"/>
                  </a:solidFill>
                  <a:latin typeface="Poppins Bold"/>
                  <a:ea typeface="Poppins Bold"/>
                  <a:cs typeface="Poppins Bold"/>
                  <a:sym typeface="Poppins Bold"/>
                </a:rPr>
                <a:t>AI</a:t>
              </a:r>
              <a:br>
                <a:rPr lang="en-US" sz="2679" b="1">
                  <a:solidFill>
                    <a:srgbClr val="FFFFFF"/>
                  </a:solidFill>
                  <a:latin typeface="Poppins Bold"/>
                  <a:ea typeface="Poppins Bold"/>
                  <a:cs typeface="Poppins Bold"/>
                  <a:sym typeface="Poppins Bold"/>
                </a:rPr>
              </a:br>
              <a:r>
                <a:rPr lang="en-US" sz="2679" b="1">
                  <a:solidFill>
                    <a:srgbClr val="FFFFFF"/>
                  </a:solidFill>
                  <a:latin typeface="Poppins Bold"/>
                  <a:ea typeface="Poppins Bold"/>
                  <a:cs typeface="Poppins Bold"/>
                  <a:sym typeface="Poppins Bold"/>
                </a:rPr>
                <a:t>Agent</a:t>
              </a:r>
            </a:p>
          </p:txBody>
        </p:sp>
      </p:grpSp>
      <p:grpSp>
        <p:nvGrpSpPr>
          <p:cNvPr id="12" name="Group 11">
            <a:extLst>
              <a:ext uri="{FF2B5EF4-FFF2-40B4-BE49-F238E27FC236}">
                <a16:creationId xmlns:a16="http://schemas.microsoft.com/office/drawing/2014/main" id="{595BF466-B9B2-C800-4B64-275694DD0DD4}"/>
              </a:ext>
            </a:extLst>
          </p:cNvPr>
          <p:cNvGrpSpPr/>
          <p:nvPr/>
        </p:nvGrpSpPr>
        <p:grpSpPr>
          <a:xfrm>
            <a:off x="8624291" y="4093472"/>
            <a:ext cx="2510181" cy="1752607"/>
            <a:chOff x="0" y="-120178"/>
            <a:chExt cx="5020362" cy="3505215"/>
          </a:xfrm>
        </p:grpSpPr>
        <p:grpSp>
          <p:nvGrpSpPr>
            <p:cNvPr id="13" name="Group 12">
              <a:extLst>
                <a:ext uri="{FF2B5EF4-FFF2-40B4-BE49-F238E27FC236}">
                  <a16:creationId xmlns:a16="http://schemas.microsoft.com/office/drawing/2014/main" id="{B2B4D8F0-DE17-1AEE-0C3D-5E988D1BE747}"/>
                </a:ext>
              </a:extLst>
            </p:cNvPr>
            <p:cNvGrpSpPr/>
            <p:nvPr/>
          </p:nvGrpSpPr>
          <p:grpSpPr>
            <a:xfrm>
              <a:off x="0" y="-120178"/>
              <a:ext cx="5020362" cy="3505215"/>
              <a:chOff x="0" y="-57150"/>
              <a:chExt cx="2387416" cy="1666893"/>
            </a:xfrm>
          </p:grpSpPr>
          <p:sp>
            <p:nvSpPr>
              <p:cNvPr id="15" name="Freeform 13">
                <a:extLst>
                  <a:ext uri="{FF2B5EF4-FFF2-40B4-BE49-F238E27FC236}">
                    <a16:creationId xmlns:a16="http://schemas.microsoft.com/office/drawing/2014/main" id="{1C9132F1-E1B2-99DF-9CF3-2CAFE355ACEA}"/>
                  </a:ext>
                </a:extLst>
              </p:cNvPr>
              <p:cNvSpPr/>
              <p:nvPr/>
            </p:nvSpPr>
            <p:spPr>
              <a:xfrm>
                <a:off x="633952" y="205966"/>
                <a:ext cx="1753464" cy="1403777"/>
              </a:xfrm>
              <a:custGeom>
                <a:avLst/>
                <a:gdLst/>
                <a:ahLst/>
                <a:cxnLst/>
                <a:rect l="l" t="t" r="r" b="b"/>
                <a:pathLst>
                  <a:path w="1753464" h="1403777">
                    <a:moveTo>
                      <a:pt x="142776" y="0"/>
                    </a:moveTo>
                    <a:lnTo>
                      <a:pt x="1610689" y="0"/>
                    </a:lnTo>
                    <a:cubicBezTo>
                      <a:pt x="1648555" y="0"/>
                      <a:pt x="1684871" y="15042"/>
                      <a:pt x="1711646" y="41818"/>
                    </a:cubicBezTo>
                    <a:cubicBezTo>
                      <a:pt x="1738422" y="68594"/>
                      <a:pt x="1753464" y="104909"/>
                      <a:pt x="1753464" y="142776"/>
                    </a:cubicBezTo>
                    <a:lnTo>
                      <a:pt x="1753464" y="1261002"/>
                    </a:lnTo>
                    <a:cubicBezTo>
                      <a:pt x="1753464" y="1339854"/>
                      <a:pt x="1689541" y="1403777"/>
                      <a:pt x="1610689" y="1403777"/>
                    </a:cubicBezTo>
                    <a:lnTo>
                      <a:pt x="142776" y="1403777"/>
                    </a:lnTo>
                    <a:cubicBezTo>
                      <a:pt x="104909" y="1403777"/>
                      <a:pt x="68594" y="1388735"/>
                      <a:pt x="41818" y="1361959"/>
                    </a:cubicBezTo>
                    <a:cubicBezTo>
                      <a:pt x="15042" y="1335184"/>
                      <a:pt x="0" y="1298868"/>
                      <a:pt x="0" y="1261002"/>
                    </a:cubicBezTo>
                    <a:lnTo>
                      <a:pt x="0" y="142776"/>
                    </a:lnTo>
                    <a:cubicBezTo>
                      <a:pt x="0" y="104909"/>
                      <a:pt x="15042" y="68594"/>
                      <a:pt x="41818" y="41818"/>
                    </a:cubicBezTo>
                    <a:cubicBezTo>
                      <a:pt x="68594" y="15042"/>
                      <a:pt x="104909" y="0"/>
                      <a:pt x="142776" y="0"/>
                    </a:cubicBezTo>
                    <a:close/>
                  </a:path>
                </a:pathLst>
              </a:custGeom>
              <a:solidFill>
                <a:srgbClr val="217CE9"/>
              </a:solidFill>
            </p:spPr>
            <p:txBody>
              <a:bodyPr/>
              <a:lstStyle/>
              <a:p>
                <a:endParaRPr lang="en-US" sz="1200"/>
              </a:p>
            </p:txBody>
          </p:sp>
          <p:sp>
            <p:nvSpPr>
              <p:cNvPr id="16" name="TextBox 14">
                <a:extLst>
                  <a:ext uri="{FF2B5EF4-FFF2-40B4-BE49-F238E27FC236}">
                    <a16:creationId xmlns:a16="http://schemas.microsoft.com/office/drawing/2014/main" id="{9903DAFC-553D-F263-CB10-D67AAB432D0D}"/>
                  </a:ext>
                </a:extLst>
              </p:cNvPr>
              <p:cNvSpPr txBox="1"/>
              <p:nvPr/>
            </p:nvSpPr>
            <p:spPr>
              <a:xfrm>
                <a:off x="0" y="-57150"/>
                <a:ext cx="1753464" cy="1460927"/>
              </a:xfrm>
              <a:prstGeom prst="rect">
                <a:avLst/>
              </a:prstGeom>
            </p:spPr>
            <p:txBody>
              <a:bodyPr lIns="20485" tIns="20485" rIns="20485" bIns="20485" rtlCol="0" anchor="ctr"/>
              <a:lstStyle/>
              <a:p>
                <a:pPr algn="ctr">
                  <a:lnSpc>
                    <a:spcPts val="2333"/>
                  </a:lnSpc>
                </a:pPr>
                <a:endParaRPr sz="1200"/>
              </a:p>
            </p:txBody>
          </p:sp>
        </p:grpSp>
        <p:sp>
          <p:nvSpPr>
            <p:cNvPr id="14" name="TextBox 15">
              <a:extLst>
                <a:ext uri="{FF2B5EF4-FFF2-40B4-BE49-F238E27FC236}">
                  <a16:creationId xmlns:a16="http://schemas.microsoft.com/office/drawing/2014/main" id="{F6B4FE6D-A35C-4984-2B41-C35503DFD2E9}"/>
                </a:ext>
              </a:extLst>
            </p:cNvPr>
            <p:cNvSpPr txBox="1"/>
            <p:nvPr/>
          </p:nvSpPr>
          <p:spPr>
            <a:xfrm>
              <a:off x="1794624" y="886570"/>
              <a:ext cx="2764220" cy="1887057"/>
            </a:xfrm>
            <a:prstGeom prst="rect">
              <a:avLst/>
            </a:prstGeom>
          </p:spPr>
          <p:txBody>
            <a:bodyPr lIns="0" tIns="0" rIns="0" bIns="0" rtlCol="0" anchor="t">
              <a:spAutoFit/>
            </a:bodyPr>
            <a:lstStyle/>
            <a:p>
              <a:pPr algn="ctr">
                <a:lnSpc>
                  <a:spcPts val="3751"/>
                </a:lnSpc>
              </a:pPr>
              <a:r>
                <a:rPr lang="en-US" sz="2679" b="1">
                  <a:solidFill>
                    <a:srgbClr val="FFFFFF"/>
                  </a:solidFill>
                  <a:latin typeface="Poppins Bold"/>
                  <a:ea typeface="Poppins Bold"/>
                  <a:cs typeface="Poppins Bold"/>
                  <a:sym typeface="Poppins Bold"/>
                </a:rPr>
                <a:t>AI</a:t>
              </a:r>
            </a:p>
            <a:p>
              <a:pPr algn="ctr">
                <a:lnSpc>
                  <a:spcPts val="3751"/>
                </a:lnSpc>
              </a:pPr>
              <a:r>
                <a:rPr lang="en-US" sz="2679" b="1">
                  <a:solidFill>
                    <a:srgbClr val="FFFFFF"/>
                  </a:solidFill>
                  <a:latin typeface="Poppins Bold"/>
                  <a:ea typeface="Poppins Bold"/>
                  <a:cs typeface="Poppins Bold"/>
                  <a:sym typeface="Poppins Bold"/>
                </a:rPr>
                <a:t>Agent</a:t>
              </a:r>
            </a:p>
          </p:txBody>
        </p:sp>
      </p:grpSp>
      <p:grpSp>
        <p:nvGrpSpPr>
          <p:cNvPr id="17" name="Group 16">
            <a:extLst>
              <a:ext uri="{FF2B5EF4-FFF2-40B4-BE49-F238E27FC236}">
                <a16:creationId xmlns:a16="http://schemas.microsoft.com/office/drawing/2014/main" id="{D081A405-623D-161F-14F7-9D9A67922E80}"/>
              </a:ext>
            </a:extLst>
          </p:cNvPr>
          <p:cNvGrpSpPr/>
          <p:nvPr/>
        </p:nvGrpSpPr>
        <p:grpSpPr>
          <a:xfrm>
            <a:off x="4840933" y="1700191"/>
            <a:ext cx="2578657" cy="1742897"/>
            <a:chOff x="0" y="0"/>
            <a:chExt cx="812800" cy="812800"/>
          </a:xfrm>
        </p:grpSpPr>
        <p:sp>
          <p:nvSpPr>
            <p:cNvPr id="18" name="Freeform 17">
              <a:extLst>
                <a:ext uri="{FF2B5EF4-FFF2-40B4-BE49-F238E27FC236}">
                  <a16:creationId xmlns:a16="http://schemas.microsoft.com/office/drawing/2014/main" id="{096B1D36-6AB0-9EFC-1F95-654EA3A3C6D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52F9"/>
            </a:solidFill>
          </p:spPr>
          <p:txBody>
            <a:bodyPr/>
            <a:lstStyle/>
            <a:p>
              <a:endParaRPr lang="en-US" sz="1200"/>
            </a:p>
          </p:txBody>
        </p:sp>
        <p:sp>
          <p:nvSpPr>
            <p:cNvPr id="19" name="TextBox 18">
              <a:extLst>
                <a:ext uri="{FF2B5EF4-FFF2-40B4-BE49-F238E27FC236}">
                  <a16:creationId xmlns:a16="http://schemas.microsoft.com/office/drawing/2014/main" id="{F0337A8A-026F-E6D6-7CE7-00FE81184DF2}"/>
                </a:ext>
              </a:extLst>
            </p:cNvPr>
            <p:cNvSpPr txBox="1"/>
            <p:nvPr/>
          </p:nvSpPr>
          <p:spPr>
            <a:xfrm>
              <a:off x="76200" y="9525"/>
              <a:ext cx="660400" cy="727075"/>
            </a:xfrm>
            <a:prstGeom prst="rect">
              <a:avLst/>
            </a:prstGeom>
          </p:spPr>
          <p:txBody>
            <a:bodyPr lIns="33867" tIns="33867" rIns="33867" bIns="33867" rtlCol="0" anchor="ctr"/>
            <a:lstStyle/>
            <a:p>
              <a:pPr algn="ctr">
                <a:lnSpc>
                  <a:spcPts val="2434"/>
                </a:lnSpc>
              </a:pPr>
              <a:endParaRPr sz="1200"/>
            </a:p>
          </p:txBody>
        </p:sp>
      </p:grpSp>
      <p:sp>
        <p:nvSpPr>
          <p:cNvPr id="20" name="TextBox 21">
            <a:extLst>
              <a:ext uri="{FF2B5EF4-FFF2-40B4-BE49-F238E27FC236}">
                <a16:creationId xmlns:a16="http://schemas.microsoft.com/office/drawing/2014/main" id="{DC627A53-CA6A-D034-C60A-9676DA929298}"/>
              </a:ext>
            </a:extLst>
          </p:cNvPr>
          <p:cNvSpPr txBox="1"/>
          <p:nvPr/>
        </p:nvSpPr>
        <p:spPr>
          <a:xfrm>
            <a:off x="5275552" y="2059406"/>
            <a:ext cx="1742897" cy="920637"/>
          </a:xfrm>
          <a:prstGeom prst="rect">
            <a:avLst/>
          </a:prstGeom>
        </p:spPr>
        <p:txBody>
          <a:bodyPr lIns="0" tIns="0" rIns="0" bIns="0" rtlCol="0" anchor="t">
            <a:spAutoFit/>
          </a:bodyPr>
          <a:lstStyle/>
          <a:p>
            <a:pPr algn="ctr">
              <a:lnSpc>
                <a:spcPts val="3733"/>
              </a:lnSpc>
            </a:pPr>
            <a:r>
              <a:rPr lang="en-US" sz="2666" b="1">
                <a:solidFill>
                  <a:srgbClr val="FFFFFF"/>
                </a:solidFill>
                <a:latin typeface="Poppins Bold"/>
                <a:ea typeface="Poppins Bold"/>
                <a:cs typeface="Poppins Bold"/>
                <a:sym typeface="Poppins Bold"/>
              </a:rPr>
              <a:t>User</a:t>
            </a:r>
          </a:p>
          <a:p>
            <a:pPr algn="ctr">
              <a:lnSpc>
                <a:spcPts val="3733"/>
              </a:lnSpc>
            </a:pPr>
            <a:r>
              <a:rPr lang="en-US" sz="2666" b="1">
                <a:solidFill>
                  <a:srgbClr val="FFFFFF"/>
                </a:solidFill>
                <a:latin typeface="Poppins Bold"/>
                <a:ea typeface="Poppins Bold"/>
                <a:cs typeface="Poppins Bold"/>
                <a:sym typeface="Poppins Bold"/>
              </a:rPr>
              <a:t>goal</a:t>
            </a:r>
          </a:p>
        </p:txBody>
      </p:sp>
      <p:sp>
        <p:nvSpPr>
          <p:cNvPr id="21" name="AutoShape 22">
            <a:extLst>
              <a:ext uri="{FF2B5EF4-FFF2-40B4-BE49-F238E27FC236}">
                <a16:creationId xmlns:a16="http://schemas.microsoft.com/office/drawing/2014/main" id="{6516861F-5D0C-C83B-3AEF-18DF6FC12657}"/>
              </a:ext>
            </a:extLst>
          </p:cNvPr>
          <p:cNvSpPr/>
          <p:nvPr/>
        </p:nvSpPr>
        <p:spPr>
          <a:xfrm flipV="1">
            <a:off x="1706311" y="2720823"/>
            <a:ext cx="3216979" cy="1559076"/>
          </a:xfrm>
          <a:prstGeom prst="line">
            <a:avLst/>
          </a:prstGeom>
          <a:ln w="47625" cap="flat">
            <a:solidFill>
              <a:srgbClr val="000000"/>
            </a:solidFill>
            <a:prstDash val="solid"/>
            <a:headEnd type="none" w="sm" len="sm"/>
            <a:tailEnd type="arrow" w="med" len="sm"/>
          </a:ln>
        </p:spPr>
        <p:txBody>
          <a:bodyPr/>
          <a:lstStyle/>
          <a:p>
            <a:endParaRPr lang="en-US" sz="1200"/>
          </a:p>
        </p:txBody>
      </p:sp>
      <p:sp>
        <p:nvSpPr>
          <p:cNvPr id="22" name="AutoShape 23">
            <a:extLst>
              <a:ext uri="{FF2B5EF4-FFF2-40B4-BE49-F238E27FC236}">
                <a16:creationId xmlns:a16="http://schemas.microsoft.com/office/drawing/2014/main" id="{E795EFEF-99AC-C760-7B5A-CC215DB06B66}"/>
              </a:ext>
            </a:extLst>
          </p:cNvPr>
          <p:cNvSpPr/>
          <p:nvPr/>
        </p:nvSpPr>
        <p:spPr>
          <a:xfrm flipH="1" flipV="1">
            <a:off x="7360571" y="2771427"/>
            <a:ext cx="2741712" cy="1559075"/>
          </a:xfrm>
          <a:prstGeom prst="line">
            <a:avLst/>
          </a:prstGeom>
          <a:ln w="38100" cap="flat">
            <a:solidFill>
              <a:srgbClr val="000000"/>
            </a:solidFill>
            <a:prstDash val="solid"/>
            <a:headEnd type="none" w="sm" len="sm"/>
            <a:tailEnd type="arrow" w="med" len="sm"/>
          </a:ln>
        </p:spPr>
        <p:txBody>
          <a:bodyPr/>
          <a:lstStyle/>
          <a:p>
            <a:endParaRPr lang="en-US" sz="1200"/>
          </a:p>
        </p:txBody>
      </p:sp>
      <p:sp>
        <p:nvSpPr>
          <p:cNvPr id="23" name="AutoShape 24">
            <a:extLst>
              <a:ext uri="{FF2B5EF4-FFF2-40B4-BE49-F238E27FC236}">
                <a16:creationId xmlns:a16="http://schemas.microsoft.com/office/drawing/2014/main" id="{C9D62429-7C14-505E-A127-14885C9D3FF4}"/>
              </a:ext>
            </a:extLst>
          </p:cNvPr>
          <p:cNvSpPr/>
          <p:nvPr/>
        </p:nvSpPr>
        <p:spPr>
          <a:xfrm flipV="1">
            <a:off x="6095999" y="3443088"/>
            <a:ext cx="0" cy="972454"/>
          </a:xfrm>
          <a:prstGeom prst="line">
            <a:avLst/>
          </a:prstGeom>
          <a:ln w="47625" cap="flat">
            <a:solidFill>
              <a:srgbClr val="000000"/>
            </a:solidFill>
            <a:prstDash val="solid"/>
            <a:headEnd type="none" w="sm" len="sm"/>
            <a:tailEnd type="arrow" w="med" len="sm"/>
          </a:ln>
        </p:spPr>
        <p:txBody>
          <a:bodyPr/>
          <a:lstStyle/>
          <a:p>
            <a:endParaRPr lang="en-US" sz="1200"/>
          </a:p>
        </p:txBody>
      </p:sp>
      <p:sp>
        <p:nvSpPr>
          <p:cNvPr id="24" name="AutoShape 25">
            <a:extLst>
              <a:ext uri="{FF2B5EF4-FFF2-40B4-BE49-F238E27FC236}">
                <a16:creationId xmlns:a16="http://schemas.microsoft.com/office/drawing/2014/main" id="{2FDA7C3A-1CA3-710B-60E1-D95F9D77DFD3}"/>
              </a:ext>
            </a:extLst>
          </p:cNvPr>
          <p:cNvSpPr/>
          <p:nvPr/>
        </p:nvSpPr>
        <p:spPr>
          <a:xfrm>
            <a:off x="2621916" y="4975848"/>
            <a:ext cx="2376563" cy="0"/>
          </a:xfrm>
          <a:prstGeom prst="line">
            <a:avLst/>
          </a:prstGeom>
          <a:ln w="47625" cap="flat">
            <a:solidFill>
              <a:srgbClr val="000000"/>
            </a:solidFill>
            <a:prstDash val="solid"/>
            <a:headEnd type="none" w="sm" len="sm"/>
            <a:tailEnd type="arrow" w="med" len="sm"/>
          </a:ln>
        </p:spPr>
        <p:txBody>
          <a:bodyPr/>
          <a:lstStyle/>
          <a:p>
            <a:endParaRPr lang="en-US" sz="1200"/>
          </a:p>
        </p:txBody>
      </p:sp>
      <p:sp>
        <p:nvSpPr>
          <p:cNvPr id="25" name="AutoShape 26">
            <a:extLst>
              <a:ext uri="{FF2B5EF4-FFF2-40B4-BE49-F238E27FC236}">
                <a16:creationId xmlns:a16="http://schemas.microsoft.com/office/drawing/2014/main" id="{2D074B5F-152F-4081-0F72-554EF60AE166}"/>
              </a:ext>
            </a:extLst>
          </p:cNvPr>
          <p:cNvSpPr/>
          <p:nvPr/>
        </p:nvSpPr>
        <p:spPr>
          <a:xfrm flipH="1">
            <a:off x="7193518" y="4975848"/>
            <a:ext cx="2097323" cy="0"/>
          </a:xfrm>
          <a:prstGeom prst="line">
            <a:avLst/>
          </a:prstGeom>
          <a:ln w="47625" cap="flat">
            <a:solidFill>
              <a:srgbClr val="000000"/>
            </a:solidFill>
            <a:prstDash val="solid"/>
            <a:headEnd type="none" w="sm" len="sm"/>
            <a:tailEnd type="arrow" w="med" len="sm"/>
          </a:ln>
        </p:spPr>
        <p:txBody>
          <a:bodyPr/>
          <a:lstStyle/>
          <a:p>
            <a:endParaRPr lang="en-US" sz="1200"/>
          </a:p>
        </p:txBody>
      </p:sp>
      <p:sp>
        <p:nvSpPr>
          <p:cNvPr id="26" name="TextBox 27">
            <a:extLst>
              <a:ext uri="{FF2B5EF4-FFF2-40B4-BE49-F238E27FC236}">
                <a16:creationId xmlns:a16="http://schemas.microsoft.com/office/drawing/2014/main" id="{B017D07D-4E10-A2F8-15AF-810B17536418}"/>
              </a:ext>
            </a:extLst>
          </p:cNvPr>
          <p:cNvSpPr txBox="1"/>
          <p:nvPr/>
        </p:nvSpPr>
        <p:spPr>
          <a:xfrm rot="20083452">
            <a:off x="1816207" y="2948280"/>
            <a:ext cx="2389882" cy="547842"/>
          </a:xfrm>
          <a:prstGeom prst="rect">
            <a:avLst/>
          </a:prstGeom>
        </p:spPr>
        <p:txBody>
          <a:bodyPr lIns="0" tIns="0" rIns="0" bIns="0" rtlCol="0" anchor="t">
            <a:spAutoFit/>
          </a:bodyPr>
          <a:lstStyle/>
          <a:p>
            <a:pPr algn="ctr">
              <a:lnSpc>
                <a:spcPts val="2239"/>
              </a:lnSpc>
            </a:pPr>
            <a:r>
              <a:rPr lang="en-US" sz="1600" b="1">
                <a:solidFill>
                  <a:srgbClr val="230A50"/>
                </a:solidFill>
                <a:latin typeface="Poppins Bold"/>
                <a:ea typeface="Poppins Bold"/>
                <a:cs typeface="Poppins Bold"/>
                <a:sym typeface="Poppins Bold"/>
              </a:rPr>
              <a:t>The user goal</a:t>
            </a:r>
          </a:p>
          <a:p>
            <a:pPr algn="ctr">
              <a:lnSpc>
                <a:spcPts val="2239"/>
              </a:lnSpc>
            </a:pPr>
            <a:r>
              <a:rPr lang="en-US" sz="1600" b="1">
                <a:solidFill>
                  <a:srgbClr val="230A50"/>
                </a:solidFill>
                <a:latin typeface="Poppins Bold"/>
                <a:ea typeface="Poppins Bold"/>
                <a:cs typeface="Poppins Bold"/>
                <a:sym typeface="Poppins Bold"/>
              </a:rPr>
              <a:t>was achieved by the agent</a:t>
            </a:r>
          </a:p>
        </p:txBody>
      </p:sp>
      <p:sp>
        <p:nvSpPr>
          <p:cNvPr id="27" name="TextBox 28">
            <a:extLst>
              <a:ext uri="{FF2B5EF4-FFF2-40B4-BE49-F238E27FC236}">
                <a16:creationId xmlns:a16="http://schemas.microsoft.com/office/drawing/2014/main" id="{3273C79C-6AB7-4558-5D94-530563F5ADE6}"/>
              </a:ext>
            </a:extLst>
          </p:cNvPr>
          <p:cNvSpPr txBox="1"/>
          <p:nvPr/>
        </p:nvSpPr>
        <p:spPr>
          <a:xfrm>
            <a:off x="2454620" y="4279899"/>
            <a:ext cx="2591088" cy="547842"/>
          </a:xfrm>
          <a:prstGeom prst="rect">
            <a:avLst/>
          </a:prstGeom>
        </p:spPr>
        <p:txBody>
          <a:bodyPr wrap="square" lIns="0" tIns="0" rIns="0" bIns="0" rtlCol="0" anchor="t">
            <a:spAutoFit/>
          </a:bodyPr>
          <a:lstStyle/>
          <a:p>
            <a:pPr algn="ctr">
              <a:lnSpc>
                <a:spcPts val="2239"/>
              </a:lnSpc>
            </a:pPr>
            <a:r>
              <a:rPr lang="en-US" sz="1600" b="1">
                <a:solidFill>
                  <a:srgbClr val="230A50"/>
                </a:solidFill>
                <a:latin typeface="Poppins Bold"/>
                <a:ea typeface="Poppins Bold"/>
                <a:cs typeface="Poppins Bold"/>
                <a:sym typeface="Poppins Bold"/>
              </a:rPr>
              <a:t>Response sent</a:t>
            </a:r>
          </a:p>
          <a:p>
            <a:pPr algn="ctr">
              <a:lnSpc>
                <a:spcPts val="2239"/>
              </a:lnSpc>
            </a:pPr>
            <a:r>
              <a:rPr lang="en-US" sz="1600" b="1">
                <a:solidFill>
                  <a:srgbClr val="230A50"/>
                </a:solidFill>
                <a:latin typeface="Poppins Bold"/>
                <a:ea typeface="Poppins Bold"/>
                <a:cs typeface="Poppins Bold"/>
                <a:sym typeface="Poppins Bold"/>
              </a:rPr>
              <a:t>to the user agent</a:t>
            </a:r>
          </a:p>
        </p:txBody>
      </p:sp>
      <p:sp>
        <p:nvSpPr>
          <p:cNvPr id="28" name="TextBox 29">
            <a:extLst>
              <a:ext uri="{FF2B5EF4-FFF2-40B4-BE49-F238E27FC236}">
                <a16:creationId xmlns:a16="http://schemas.microsoft.com/office/drawing/2014/main" id="{0AE02DE8-409D-A3B4-988B-456A2D97CC48}"/>
              </a:ext>
            </a:extLst>
          </p:cNvPr>
          <p:cNvSpPr txBox="1"/>
          <p:nvPr/>
        </p:nvSpPr>
        <p:spPr>
          <a:xfrm>
            <a:off x="7211288" y="4279899"/>
            <a:ext cx="2097323" cy="547842"/>
          </a:xfrm>
          <a:prstGeom prst="rect">
            <a:avLst/>
          </a:prstGeom>
        </p:spPr>
        <p:txBody>
          <a:bodyPr wrap="square" lIns="0" tIns="0" rIns="0" bIns="0" rtlCol="0" anchor="t">
            <a:spAutoFit/>
          </a:bodyPr>
          <a:lstStyle/>
          <a:p>
            <a:pPr algn="ctr">
              <a:lnSpc>
                <a:spcPts val="2239"/>
              </a:lnSpc>
            </a:pPr>
            <a:r>
              <a:rPr lang="en-US" sz="1600" b="1">
                <a:solidFill>
                  <a:srgbClr val="230A50"/>
                </a:solidFill>
                <a:latin typeface="Poppins Bold"/>
                <a:ea typeface="Poppins Bold"/>
                <a:cs typeface="Poppins Bold"/>
                <a:sym typeface="Poppins Bold"/>
              </a:rPr>
              <a:t>The work was</a:t>
            </a:r>
          </a:p>
          <a:p>
            <a:pPr algn="ctr">
              <a:lnSpc>
                <a:spcPts val="2239"/>
              </a:lnSpc>
            </a:pPr>
            <a:r>
              <a:rPr lang="en-US" sz="1600" b="1">
                <a:solidFill>
                  <a:srgbClr val="230A50"/>
                </a:solidFill>
                <a:latin typeface="Poppins Bold"/>
                <a:ea typeface="Poppins Bold"/>
                <a:cs typeface="Poppins Bold"/>
                <a:sym typeface="Poppins Bold"/>
              </a:rPr>
              <a:t>completed or continued</a:t>
            </a:r>
          </a:p>
        </p:txBody>
      </p:sp>
    </p:spTree>
    <p:extLst>
      <p:ext uri="{BB962C8B-B14F-4D97-AF65-F5344CB8AC3E}">
        <p14:creationId xmlns:p14="http://schemas.microsoft.com/office/powerpoint/2010/main" val="155470556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10D8D79-920F-BB8B-88E0-1F424171B655}"/>
              </a:ext>
            </a:extLst>
          </p:cNvPr>
          <p:cNvSpPr txBox="1">
            <a:spLocks/>
          </p:cNvSpPr>
          <p:nvPr/>
        </p:nvSpPr>
        <p:spPr>
          <a:xfrm>
            <a:off x="588263" y="457200"/>
            <a:ext cx="11018520"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r>
              <a:rPr lang="en-US"/>
              <a:t>Evaluating AI agents</a:t>
            </a:r>
          </a:p>
        </p:txBody>
      </p:sp>
      <p:sp>
        <p:nvSpPr>
          <p:cNvPr id="5" name="Rounded Rectangle 4">
            <a:extLst>
              <a:ext uri="{FF2B5EF4-FFF2-40B4-BE49-F238E27FC236}">
                <a16:creationId xmlns:a16="http://schemas.microsoft.com/office/drawing/2014/main" id="{B74E5109-BA95-6BC3-8655-8F3BE4CE8D76}"/>
              </a:ext>
            </a:extLst>
          </p:cNvPr>
          <p:cNvSpPr/>
          <p:nvPr/>
        </p:nvSpPr>
        <p:spPr bwMode="auto">
          <a:xfrm>
            <a:off x="4391378" y="1274032"/>
            <a:ext cx="3939822" cy="972453"/>
          </a:xfrm>
          <a:prstGeom prst="round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b="1" dirty="0" err="1">
                <a:solidFill>
                  <a:srgbClr val="FFFFFF"/>
                </a:solidFill>
                <a:ea typeface="Segoe UI" pitchFamily="34" charset="0"/>
                <a:cs typeface="Segoe UI" pitchFamily="34" charset="0"/>
              </a:rPr>
              <a:t>User question</a:t>
            </a:r>
          </a:p>
          <a:p>
            <a:pPr algn="l" defTabSz="932472" fontAlgn="base">
              <a:spcBef>
                <a:spcPct val="0"/>
              </a:spcBef>
              <a:spcAft>
                <a:spcPct val="0"/>
              </a:spcAft>
            </a:pPr>
            <a:r>
              <a:rPr lang="en-US" sz="2000" dirty="0" err="1">
                <a:solidFill>
                  <a:srgbClr val="FFFFFF"/>
                </a:solidFill>
                <a:ea typeface="Segoe UI" pitchFamily="34" charset="0"/>
                <a:cs typeface="Segoe UI" pitchFamily="34" charset="0"/>
              </a:rPr>
              <a:t>"What's weather tomorrow?"</a:t>
            </a:r>
          </a:p>
        </p:txBody>
      </p:sp>
      <p:sp>
        <p:nvSpPr>
          <p:cNvPr id="6" name="Rounded Rectangle 5">
            <a:extLst>
              <a:ext uri="{FF2B5EF4-FFF2-40B4-BE49-F238E27FC236}">
                <a16:creationId xmlns:a16="http://schemas.microsoft.com/office/drawing/2014/main" id="{D07536E5-CCBE-8C74-FF5E-7F9929179AE6}"/>
              </a:ext>
            </a:extLst>
          </p:cNvPr>
          <p:cNvSpPr/>
          <p:nvPr/>
        </p:nvSpPr>
        <p:spPr bwMode="auto">
          <a:xfrm>
            <a:off x="603956" y="2455329"/>
            <a:ext cx="3460044" cy="1303871"/>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b="1" dirty="0" err="1">
                <a:solidFill>
                  <a:srgbClr val="FFFFFF"/>
                </a:solidFill>
                <a:ea typeface="Segoe UI" pitchFamily="34" charset="0"/>
                <a:cs typeface="Segoe UI" pitchFamily="34" charset="0"/>
              </a:rPr>
              <a:t>Intent resolution</a:t>
            </a:r>
          </a:p>
          <a:p>
            <a:pPr algn="l" defTabSz="932472" fontAlgn="base">
              <a:spcBef>
                <a:spcPct val="0"/>
              </a:spcBef>
              <a:spcAft>
                <a:spcPct val="0"/>
              </a:spcAft>
            </a:pPr>
            <a:r>
              <a:rPr lang="en-US" sz="2000" dirty="0" err="1">
                <a:solidFill>
                  <a:srgbClr val="FFFFFF"/>
                </a:solidFill>
                <a:ea typeface="Segoe UI" pitchFamily="34" charset="0"/>
                <a:cs typeface="Segoe UI" pitchFamily="34" charset="0"/>
              </a:rPr>
              <a:t>User wants to know local weather for their location</a:t>
            </a:r>
          </a:p>
        </p:txBody>
      </p:sp>
      <p:sp>
        <p:nvSpPr>
          <p:cNvPr id="7" name="Rounded Rectangle 6">
            <a:extLst>
              <a:ext uri="{FF2B5EF4-FFF2-40B4-BE49-F238E27FC236}">
                <a16:creationId xmlns:a16="http://schemas.microsoft.com/office/drawing/2014/main" id="{C5135985-1810-A235-1BFE-E9AB934C3574}"/>
              </a:ext>
            </a:extLst>
          </p:cNvPr>
          <p:cNvSpPr/>
          <p:nvPr/>
        </p:nvSpPr>
        <p:spPr bwMode="auto">
          <a:xfrm>
            <a:off x="4667957" y="2455329"/>
            <a:ext cx="3324575" cy="1275651"/>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b="1" dirty="0" err="1">
                <a:solidFill>
                  <a:srgbClr val="FFFFFF"/>
                </a:solidFill>
                <a:ea typeface="Segoe UI" pitchFamily="34" charset="0"/>
                <a:cs typeface="Segoe UI" pitchFamily="34" charset="0"/>
              </a:rPr>
              <a:t>Tool calls</a:t>
            </a:r>
          </a:p>
          <a:p>
            <a:pPr algn="l" defTabSz="932472" fontAlgn="base">
              <a:spcBef>
                <a:spcPct val="0"/>
              </a:spcBef>
              <a:spcAft>
                <a:spcPct val="0"/>
              </a:spcAft>
            </a:pPr>
            <a:r>
              <a:rPr lang="en-US" sz="2000" dirty="0" err="1">
                <a:solidFill>
                  <a:srgbClr val="FFFFFF"/>
                </a:solidFill>
                <a:ea typeface="Segoe UI" pitchFamily="34" charset="0"/>
                <a:cs typeface="Segoe UI" pitchFamily="34" charset="0"/>
              </a:rPr>
              <a:t>Call location + time API</a:t>
            </a:r>
          </a:p>
          <a:p>
            <a:pPr algn="l" defTabSz="932472" fontAlgn="base">
              <a:spcBef>
                <a:spcPct val="0"/>
              </a:spcBef>
              <a:spcAft>
                <a:spcPct val="0"/>
              </a:spcAft>
            </a:pPr>
            <a:r>
              <a:rPr lang="en-US" sz="2000" dirty="0" err="1">
                <a:solidFill>
                  <a:srgbClr val="FFFFFF"/>
                </a:solidFill>
                <a:ea typeface="Segoe UI" pitchFamily="34" charset="0"/>
                <a:cs typeface="Segoe UI" pitchFamily="34" charset="0"/>
              </a:rPr>
              <a:t>Call weather API</a:t>
            </a:r>
          </a:p>
        </p:txBody>
      </p:sp>
      <p:sp>
        <p:nvSpPr>
          <p:cNvPr id="8" name="Rounded Rectangle 7">
            <a:extLst>
              <a:ext uri="{FF2B5EF4-FFF2-40B4-BE49-F238E27FC236}">
                <a16:creationId xmlns:a16="http://schemas.microsoft.com/office/drawing/2014/main" id="{E8C66132-4839-E812-3603-32C8B35EF892}"/>
              </a:ext>
            </a:extLst>
          </p:cNvPr>
          <p:cNvSpPr/>
          <p:nvPr/>
        </p:nvSpPr>
        <p:spPr bwMode="auto">
          <a:xfrm>
            <a:off x="8596489" y="2455329"/>
            <a:ext cx="3460044" cy="1275651"/>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b="1" dirty="0" err="1">
                <a:solidFill>
                  <a:srgbClr val="FFFFFF"/>
                </a:solidFill>
                <a:ea typeface="Segoe UI" pitchFamily="34" charset="0"/>
                <a:cs typeface="Segoe UI" pitchFamily="34" charset="0"/>
              </a:rPr>
              <a:t>Final response</a:t>
            </a:r>
          </a:p>
          <a:p>
            <a:pPr algn="l" defTabSz="932472" fontAlgn="base">
              <a:spcBef>
                <a:spcPct val="0"/>
              </a:spcBef>
              <a:spcAft>
                <a:spcPct val="0"/>
              </a:spcAft>
            </a:pPr>
            <a:r>
              <a:rPr lang="en-US" sz="2000" dirty="0" err="1">
                <a:solidFill>
                  <a:srgbClr val="FFFFFF"/>
                </a:solidFill>
                <a:ea typeface="Segoe UI" pitchFamily="34" charset="0"/>
                <a:cs typeface="Segoe UI" pitchFamily="34" charset="0"/>
              </a:rPr>
              <a:t>"The temperature will be 30 degrees. Rain will..."</a:t>
            </a:r>
          </a:p>
        </p:txBody>
      </p:sp>
      <p:sp>
        <p:nvSpPr>
          <p:cNvPr id="9" name="AutoShape 22">
            <a:extLst>
              <a:ext uri="{FF2B5EF4-FFF2-40B4-BE49-F238E27FC236}">
                <a16:creationId xmlns:a16="http://schemas.microsoft.com/office/drawing/2014/main" id="{AE893489-03D5-F04E-A3BE-6AEA165BB2AC}"/>
              </a:ext>
            </a:extLst>
          </p:cNvPr>
          <p:cNvSpPr/>
          <p:nvPr/>
        </p:nvSpPr>
        <p:spPr>
          <a:xfrm flipH="1">
            <a:off x="2156177" y="1752609"/>
            <a:ext cx="2235199" cy="630952"/>
          </a:xfrm>
          <a:prstGeom prst="line">
            <a:avLst/>
          </a:prstGeom>
          <a:ln w="47625" cap="flat">
            <a:solidFill>
              <a:srgbClr val="000000"/>
            </a:solidFill>
            <a:prstDash val="solid"/>
            <a:headEnd type="none" w="sm" len="sm"/>
            <a:tailEnd type="arrow" w="med" len="sm"/>
          </a:ln>
        </p:spPr>
        <p:txBody>
          <a:bodyPr/>
          <a:lstStyle/>
          <a:p>
            <a:endParaRPr lang="en-US" sz="1200"/>
          </a:p>
        </p:txBody>
      </p:sp>
      <p:sp>
        <p:nvSpPr>
          <p:cNvPr id="10" name="AutoShape 22">
            <a:extLst>
              <a:ext uri="{FF2B5EF4-FFF2-40B4-BE49-F238E27FC236}">
                <a16:creationId xmlns:a16="http://schemas.microsoft.com/office/drawing/2014/main" id="{599FFA6C-649E-B5E8-0C6E-F5386A9FFCD7}"/>
              </a:ext>
            </a:extLst>
          </p:cNvPr>
          <p:cNvSpPr/>
          <p:nvPr/>
        </p:nvSpPr>
        <p:spPr>
          <a:xfrm flipV="1">
            <a:off x="4064000" y="3217327"/>
            <a:ext cx="603958" cy="8467"/>
          </a:xfrm>
          <a:prstGeom prst="line">
            <a:avLst/>
          </a:prstGeom>
          <a:ln w="47625" cap="flat">
            <a:solidFill>
              <a:srgbClr val="000000"/>
            </a:solidFill>
            <a:prstDash val="solid"/>
            <a:headEnd type="none" w="sm" len="sm"/>
            <a:tailEnd type="arrow" w="med" len="sm"/>
          </a:ln>
        </p:spPr>
        <p:txBody>
          <a:bodyPr/>
          <a:lstStyle/>
          <a:p>
            <a:endParaRPr lang="en-US" sz="1200"/>
          </a:p>
        </p:txBody>
      </p:sp>
      <p:sp>
        <p:nvSpPr>
          <p:cNvPr id="11" name="AutoShape 22">
            <a:extLst>
              <a:ext uri="{FF2B5EF4-FFF2-40B4-BE49-F238E27FC236}">
                <a16:creationId xmlns:a16="http://schemas.microsoft.com/office/drawing/2014/main" id="{99827FA1-1441-2A54-F330-6C8211DED484}"/>
              </a:ext>
            </a:extLst>
          </p:cNvPr>
          <p:cNvSpPr/>
          <p:nvPr/>
        </p:nvSpPr>
        <p:spPr>
          <a:xfrm flipV="1">
            <a:off x="7992531" y="3208860"/>
            <a:ext cx="603958" cy="8467"/>
          </a:xfrm>
          <a:prstGeom prst="line">
            <a:avLst/>
          </a:prstGeom>
          <a:ln w="47625" cap="flat">
            <a:solidFill>
              <a:srgbClr val="000000"/>
            </a:solidFill>
            <a:prstDash val="solid"/>
            <a:headEnd type="none" w="sm" len="sm"/>
            <a:tailEnd type="arrow" w="med" len="sm"/>
          </a:ln>
        </p:spPr>
        <p:txBody>
          <a:bodyPr/>
          <a:lstStyle/>
          <a:p>
            <a:endParaRPr lang="en-US" sz="1200"/>
          </a:p>
        </p:txBody>
      </p:sp>
      <p:sp>
        <p:nvSpPr>
          <p:cNvPr id="12" name="AutoShape 22">
            <a:extLst>
              <a:ext uri="{FF2B5EF4-FFF2-40B4-BE49-F238E27FC236}">
                <a16:creationId xmlns:a16="http://schemas.microsoft.com/office/drawing/2014/main" id="{CFE29CD6-28C1-8741-89D1-E032F0CDF29E}"/>
              </a:ext>
            </a:extLst>
          </p:cNvPr>
          <p:cNvSpPr/>
          <p:nvPr/>
        </p:nvSpPr>
        <p:spPr>
          <a:xfrm flipH="1" flipV="1">
            <a:off x="8331198" y="1722385"/>
            <a:ext cx="2032001" cy="661176"/>
          </a:xfrm>
          <a:prstGeom prst="line">
            <a:avLst/>
          </a:prstGeom>
          <a:ln w="47625" cap="flat">
            <a:solidFill>
              <a:srgbClr val="000000"/>
            </a:solidFill>
            <a:prstDash val="solid"/>
            <a:headEnd type="none" w="sm" len="sm"/>
            <a:tailEnd type="arrow" w="med" len="sm"/>
          </a:ln>
        </p:spPr>
        <p:txBody>
          <a:bodyPr/>
          <a:lstStyle/>
          <a:p>
            <a:endParaRPr lang="en-US" sz="1200"/>
          </a:p>
        </p:txBody>
      </p:sp>
      <p:sp>
        <p:nvSpPr>
          <p:cNvPr id="13" name="Rounded Rectangle 12">
            <a:extLst>
              <a:ext uri="{FF2B5EF4-FFF2-40B4-BE49-F238E27FC236}">
                <a16:creationId xmlns:a16="http://schemas.microsoft.com/office/drawing/2014/main" id="{29C33D0E-6772-43ED-77E3-29F507FF3751}"/>
              </a:ext>
            </a:extLst>
          </p:cNvPr>
          <p:cNvSpPr/>
          <p:nvPr/>
        </p:nvSpPr>
        <p:spPr bwMode="auto">
          <a:xfrm>
            <a:off x="603956" y="3928514"/>
            <a:ext cx="3460044" cy="872076"/>
          </a:xfrm>
          <a:prstGeom prst="roundRect">
            <a:avLst/>
          </a:prstGeom>
          <a:noFill/>
          <a:ln>
            <a:solidFill>
              <a:schemeClr val="accent6">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342900" indent="-342900" algn="l" defTabSz="932472" fontAlgn="base">
              <a:spcBef>
                <a:spcPct val="0"/>
              </a:spcBef>
              <a:spcAft>
                <a:spcPct val="0"/>
              </a:spcAft>
              <a:buFont typeface="Arial" panose="020B0604020202020204" pitchFamily="34" charset="0"/>
              <a:buChar char="•"/>
            </a:pPr>
            <a:r>
              <a:rPr lang="en-US" dirty="0" err="1">
                <a:solidFill>
                  <a:schemeClr val="tx1"/>
                </a:solidFill>
                <a:ea typeface="Segoe UI" pitchFamily="34" charset="0"/>
                <a:cs typeface="Segoe UI" pitchFamily="34" charset="0"/>
              </a:rPr>
              <a:t>User intent identification</a:t>
            </a:r>
          </a:p>
          <a:p>
            <a:pPr marL="342900" indent="-342900" algn="l" defTabSz="932472" fontAlgn="base">
              <a:spcBef>
                <a:spcPct val="0"/>
              </a:spcBef>
              <a:spcAft>
                <a:spcPct val="0"/>
              </a:spcAft>
              <a:buFont typeface="Arial" panose="020B0604020202020204" pitchFamily="34" charset="0"/>
              <a:buChar char="•"/>
            </a:pPr>
            <a:r>
              <a:rPr lang="en-US" dirty="0" err="1">
                <a:solidFill>
                  <a:schemeClr val="tx1"/>
                </a:solidFill>
                <a:ea typeface="Segoe UI" pitchFamily="34" charset="0"/>
                <a:cs typeface="Segoe UI" pitchFamily="34" charset="0"/>
              </a:rPr>
              <a:t>Clarification for ambiguity</a:t>
            </a:r>
          </a:p>
        </p:txBody>
      </p:sp>
      <p:sp>
        <p:nvSpPr>
          <p:cNvPr id="14" name="Rounded Rectangle 13">
            <a:extLst>
              <a:ext uri="{FF2B5EF4-FFF2-40B4-BE49-F238E27FC236}">
                <a16:creationId xmlns:a16="http://schemas.microsoft.com/office/drawing/2014/main" id="{70A536B7-C8B8-069A-F303-432E6F6B61ED}"/>
              </a:ext>
            </a:extLst>
          </p:cNvPr>
          <p:cNvSpPr/>
          <p:nvPr/>
        </p:nvSpPr>
        <p:spPr bwMode="auto">
          <a:xfrm>
            <a:off x="4464756" y="3928514"/>
            <a:ext cx="3730975" cy="872076"/>
          </a:xfrm>
          <a:prstGeom prst="roundRect">
            <a:avLst/>
          </a:prstGeom>
          <a:noFill/>
          <a:ln>
            <a:solidFill>
              <a:schemeClr val="accent6">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342900" indent="-342900" algn="l" defTabSz="932472" fontAlgn="base">
              <a:spcBef>
                <a:spcPct val="0"/>
              </a:spcBef>
              <a:spcAft>
                <a:spcPct val="0"/>
              </a:spcAft>
              <a:buFont typeface="Arial" panose="020B0604020202020204" pitchFamily="34" charset="0"/>
              <a:buChar char="•"/>
            </a:pPr>
            <a:r>
              <a:rPr lang="en-US" dirty="0" err="1">
                <a:solidFill>
                  <a:schemeClr val="tx1"/>
                </a:solidFill>
                <a:ea typeface="Segoe UI" pitchFamily="34" charset="0"/>
                <a:cs typeface="Segoe UI" pitchFamily="34" charset="0"/>
              </a:rPr>
              <a:t>Correct tool call selection</a:t>
            </a:r>
          </a:p>
          <a:p>
            <a:pPr marL="342900" indent="-342900" algn="l" defTabSz="932472" fontAlgn="base">
              <a:spcBef>
                <a:spcPct val="0"/>
              </a:spcBef>
              <a:spcAft>
                <a:spcPct val="0"/>
              </a:spcAft>
              <a:buFont typeface="Arial" panose="020B0604020202020204" pitchFamily="34" charset="0"/>
              <a:buChar char="•"/>
            </a:pPr>
            <a:r>
              <a:rPr lang="en-US" dirty="0" err="1">
                <a:solidFill>
                  <a:schemeClr val="tx1"/>
                </a:solidFill>
                <a:ea typeface="Segoe UI" pitchFamily="34" charset="0"/>
                <a:cs typeface="Segoe UI" pitchFamily="34" charset="0"/>
              </a:rPr>
              <a:t>Correct parameter extraction</a:t>
            </a:r>
          </a:p>
        </p:txBody>
      </p:sp>
      <p:sp>
        <p:nvSpPr>
          <p:cNvPr id="15" name="Rounded Rectangle 14">
            <a:extLst>
              <a:ext uri="{FF2B5EF4-FFF2-40B4-BE49-F238E27FC236}">
                <a16:creationId xmlns:a16="http://schemas.microsoft.com/office/drawing/2014/main" id="{8E545BF2-7EBD-D483-9902-D909F660A9AB}"/>
              </a:ext>
            </a:extLst>
          </p:cNvPr>
          <p:cNvSpPr/>
          <p:nvPr/>
        </p:nvSpPr>
        <p:spPr bwMode="auto">
          <a:xfrm>
            <a:off x="8511822" y="3928514"/>
            <a:ext cx="3460044" cy="897478"/>
          </a:xfrm>
          <a:prstGeom prst="roundRect">
            <a:avLst/>
          </a:prstGeom>
          <a:noFill/>
          <a:ln>
            <a:solidFill>
              <a:schemeClr val="accent6">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285750" indent="-285750" algn="l" defTabSz="932472" fontAlgn="base">
              <a:spcBef>
                <a:spcPct val="0"/>
              </a:spcBef>
              <a:spcAft>
                <a:spcPct val="0"/>
              </a:spcAft>
              <a:buFont typeface="Arial" panose="020B0604020202020204" pitchFamily="34" charset="0"/>
              <a:buChar char="•"/>
            </a:pPr>
            <a:r>
              <a:rPr lang="en-US" dirty="0" err="1">
                <a:solidFill>
                  <a:schemeClr val="tx1"/>
                </a:solidFill>
                <a:ea typeface="Segoe UI" pitchFamily="34" charset="0"/>
                <a:cs typeface="Segoe UI" pitchFamily="34" charset="0"/>
              </a:rPr>
              <a:t>Task adherence</a:t>
            </a:r>
          </a:p>
          <a:p>
            <a:pPr marL="285750" indent="-285750" algn="l" defTabSz="932472" fontAlgn="base">
              <a:spcBef>
                <a:spcPct val="0"/>
              </a:spcBef>
              <a:spcAft>
                <a:spcPct val="0"/>
              </a:spcAft>
              <a:buFont typeface="Arial" panose="020B0604020202020204" pitchFamily="34" charset="0"/>
              <a:buChar char="•"/>
            </a:pPr>
            <a:r>
              <a:rPr lang="en-US" dirty="0" err="1">
                <a:solidFill>
                  <a:schemeClr val="tx1"/>
                </a:solidFill>
                <a:ea typeface="Segoe UI" pitchFamily="34" charset="0"/>
                <a:cs typeface="Segoe UI" pitchFamily="34" charset="0"/>
              </a:rPr>
              <a:t>Response completeness</a:t>
            </a:r>
          </a:p>
        </p:txBody>
      </p:sp>
      <p:sp>
        <p:nvSpPr>
          <p:cNvPr id="16" name="Rounded Rectangle 15">
            <a:extLst>
              <a:ext uri="{FF2B5EF4-FFF2-40B4-BE49-F238E27FC236}">
                <a16:creationId xmlns:a16="http://schemas.microsoft.com/office/drawing/2014/main" id="{22D6ECF5-B01C-F256-A0A4-E7F0DDF7A8A3}"/>
              </a:ext>
            </a:extLst>
          </p:cNvPr>
          <p:cNvSpPr/>
          <p:nvPr/>
        </p:nvSpPr>
        <p:spPr bwMode="auto">
          <a:xfrm>
            <a:off x="603955" y="4995336"/>
            <a:ext cx="11367911" cy="1253054"/>
          </a:xfrm>
          <a:prstGeom prst="roundRect">
            <a:avLst/>
          </a:prstGeom>
          <a:noFill/>
          <a:ln>
            <a:solidFill>
              <a:schemeClr val="accent6">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900" b="1" dirty="0" err="1">
                <a:solidFill>
                  <a:schemeClr val="tx1"/>
                </a:solidFill>
                <a:ea typeface="Segoe UI" pitchFamily="34" charset="0"/>
                <a:cs typeface="Segoe UI" pitchFamily="34" charset="0"/>
              </a:rPr>
              <a:t>Quality and safety evaluation throughout agent interactions as appropriate</a:t>
            </a:r>
          </a:p>
          <a:p>
            <a:pPr marL="285750" indent="-285750" algn="l" defTabSz="932472" fontAlgn="base">
              <a:spcBef>
                <a:spcPct val="0"/>
              </a:spcBef>
              <a:spcAft>
                <a:spcPct val="0"/>
              </a:spcAft>
              <a:buFont typeface="Arial" panose="020B0604020202020204" pitchFamily="34" charset="0"/>
              <a:buChar char="•"/>
            </a:pPr>
            <a:r>
              <a:rPr lang="en-US" sz="1900" dirty="0" err="1">
                <a:solidFill>
                  <a:schemeClr val="tx1"/>
                </a:solidFill>
                <a:ea typeface="Segoe UI" pitchFamily="34" charset="0"/>
                <a:cs typeface="Segoe UI" pitchFamily="34" charset="0"/>
              </a:rPr>
              <a:t>RAG quality – Groundedness / Relevance / Retrieval</a:t>
            </a:r>
          </a:p>
          <a:p>
            <a:pPr marL="285750" indent="-285750" algn="l" defTabSz="932472" fontAlgn="base">
              <a:spcBef>
                <a:spcPct val="0"/>
              </a:spcBef>
              <a:spcAft>
                <a:spcPct val="0"/>
              </a:spcAft>
              <a:buFont typeface="Arial" panose="020B0604020202020204" pitchFamily="34" charset="0"/>
              <a:buChar char="•"/>
            </a:pPr>
            <a:r>
              <a:rPr lang="en-US" sz="1900" dirty="0" err="1">
                <a:solidFill>
                  <a:schemeClr val="tx1"/>
                </a:solidFill>
                <a:ea typeface="Segoe UI" pitchFamily="34" charset="0"/>
                <a:cs typeface="Segoe UI" pitchFamily="34" charset="0"/>
              </a:rPr>
              <a:t>Risks and Safety – Jailbreak/Code Vulnerabilities/Ungrounded Attributes</a:t>
            </a:r>
          </a:p>
        </p:txBody>
      </p:sp>
      <p:sp>
        <p:nvSpPr>
          <p:cNvPr id="17" name="TextBox 16">
            <a:extLst>
              <a:ext uri="{FF2B5EF4-FFF2-40B4-BE49-F238E27FC236}">
                <a16:creationId xmlns:a16="http://schemas.microsoft.com/office/drawing/2014/main" id="{5229597B-48EA-B5FA-2AB4-F2F163329CB6}"/>
              </a:ext>
            </a:extLst>
          </p:cNvPr>
          <p:cNvSpPr txBox="1"/>
          <p:nvPr/>
        </p:nvSpPr>
        <p:spPr>
          <a:xfrm rot="16200000">
            <a:off x="-739415" y="4779892"/>
            <a:ext cx="2150519" cy="430887"/>
          </a:xfrm>
          <a:prstGeom prst="rect">
            <a:avLst/>
          </a:prstGeom>
          <a:noFill/>
        </p:spPr>
        <p:txBody>
          <a:bodyPr wrap="square">
            <a:spAutoFit/>
          </a:bodyPr>
          <a:lstStyle/>
          <a:p>
            <a:r>
              <a:rPr lang="en-US" sz="2200" b="1" dirty="0" err="1">
                <a:solidFill>
                  <a:schemeClr val="tx1"/>
                </a:solidFill>
                <a:ea typeface="Segoe UI" pitchFamily="34" charset="0"/>
                <a:cs typeface="Segoe UI" pitchFamily="34" charset="0"/>
              </a:rPr>
              <a:t>EVALUATION</a:t>
            </a:r>
            <a:endParaRPr lang="en-US" sz="2200"/>
          </a:p>
        </p:txBody>
      </p:sp>
      <p:sp>
        <p:nvSpPr>
          <p:cNvPr id="18" name="TextBox 17">
            <a:extLst>
              <a:ext uri="{FF2B5EF4-FFF2-40B4-BE49-F238E27FC236}">
                <a16:creationId xmlns:a16="http://schemas.microsoft.com/office/drawing/2014/main" id="{4763D2E7-E39B-95AD-B856-3666D4652144}"/>
              </a:ext>
            </a:extLst>
          </p:cNvPr>
          <p:cNvSpPr txBox="1"/>
          <p:nvPr/>
        </p:nvSpPr>
        <p:spPr>
          <a:xfrm>
            <a:off x="603955" y="6385466"/>
            <a:ext cx="9451622" cy="369332"/>
          </a:xfrm>
          <a:prstGeom prst="rect">
            <a:avLst/>
          </a:prstGeom>
          <a:noFill/>
        </p:spPr>
        <p:txBody>
          <a:bodyPr wrap="square">
            <a:spAutoFit/>
          </a:bodyPr>
          <a:lstStyle/>
          <a:p>
            <a:r>
              <a:rPr lang="en-US">
                <a:hlinkClick r:id="rId2"/>
              </a:rPr>
              <a:t>https://learn.microsoft.com/azure/ai-foundry/how-to/develop/agent-evaluate-sdk</a:t>
            </a:r>
            <a:endParaRPr lang="en-US"/>
          </a:p>
        </p:txBody>
      </p:sp>
    </p:spTree>
    <p:extLst>
      <p:ext uri="{BB962C8B-B14F-4D97-AF65-F5344CB8AC3E}">
        <p14:creationId xmlns:p14="http://schemas.microsoft.com/office/powerpoint/2010/main" val="28046139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3F75B-8A0C-FC76-53A5-1DD52A9B2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987CB-E137-9698-7C7E-0C84464961DC}"/>
              </a:ext>
            </a:extLst>
          </p:cNvPr>
          <p:cNvSpPr>
            <a:spLocks noGrp="1"/>
          </p:cNvSpPr>
          <p:nvPr>
            <p:ph type="title"/>
          </p:nvPr>
        </p:nvSpPr>
        <p:spPr>
          <a:xfrm>
            <a:off x="1460427" y="2463884"/>
            <a:ext cx="9144000" cy="1495794"/>
          </a:xfrm>
        </p:spPr>
        <p:txBody>
          <a:bodyPr/>
          <a:lstStyle/>
          <a:p>
            <a:pPr algn="ctr"/>
            <a:r>
              <a:rPr lang="en-US" sz="5400" dirty="0">
                <a:solidFill>
                  <a:srgbClr val="000000"/>
                </a:solidFill>
              </a:rPr>
              <a:t>My advice on</a:t>
            </a:r>
            <a:br>
              <a:rPr lang="en-US" sz="5400" dirty="0">
                <a:solidFill>
                  <a:srgbClr val="000000"/>
                </a:solidFill>
              </a:rPr>
            </a:br>
            <a:r>
              <a:rPr lang="en-US" sz="5400" dirty="0">
                <a:solidFill>
                  <a:srgbClr val="000000"/>
                </a:solidFill>
              </a:rPr>
              <a:t>building AI agents</a:t>
            </a:r>
          </a:p>
        </p:txBody>
      </p:sp>
    </p:spTree>
    <p:extLst>
      <p:ext uri="{BB962C8B-B14F-4D97-AF65-F5344CB8AC3E}">
        <p14:creationId xmlns:p14="http://schemas.microsoft.com/office/powerpoint/2010/main" val="2238592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142B1-5AE1-D531-655A-F8A36BEAB75A}"/>
              </a:ext>
            </a:extLst>
          </p:cNvPr>
          <p:cNvSpPr>
            <a:spLocks noGrp="1"/>
          </p:cNvSpPr>
          <p:nvPr>
            <p:ph type="title"/>
          </p:nvPr>
        </p:nvSpPr>
        <p:spPr/>
        <p:txBody>
          <a:bodyPr/>
          <a:lstStyle/>
          <a:p>
            <a:r>
              <a:rPr lang="en-US" sz="3600" dirty="0"/>
              <a:t>It's very fun!</a:t>
            </a:r>
            <a:endParaRPr lang="en-US"/>
          </a:p>
        </p:txBody>
      </p:sp>
      <p:pic>
        <p:nvPicPr>
          <p:cNvPr id="1026" name="Picture 2" descr="Free Children Win photo and picture">
            <a:extLst>
              <a:ext uri="{FF2B5EF4-FFF2-40B4-BE49-F238E27FC236}">
                <a16:creationId xmlns:a16="http://schemas.microsoft.com/office/drawing/2014/main" id="{B58D6A1A-0934-5E1C-0F14-C3811DA645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63" y="1317811"/>
            <a:ext cx="7305133" cy="4867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440623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D8AB6-CBFB-C849-7324-A212C7F4B1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EA26E-8EAF-6D17-F385-9FEA3A5B0BE8}"/>
              </a:ext>
            </a:extLst>
          </p:cNvPr>
          <p:cNvSpPr>
            <a:spLocks noGrp="1"/>
          </p:cNvSpPr>
          <p:nvPr>
            <p:ph type="title"/>
          </p:nvPr>
        </p:nvSpPr>
        <p:spPr/>
        <p:txBody>
          <a:bodyPr/>
          <a:lstStyle/>
          <a:p>
            <a:r>
              <a:rPr lang="en-US" sz="3600" dirty="0"/>
              <a:t>But can be very hard!</a:t>
            </a:r>
            <a:endParaRPr lang="en-US"/>
          </a:p>
        </p:txBody>
      </p:sp>
      <p:sp>
        <p:nvSpPr>
          <p:cNvPr id="3" name="TextBox 2">
            <a:extLst>
              <a:ext uri="{FF2B5EF4-FFF2-40B4-BE49-F238E27FC236}">
                <a16:creationId xmlns:a16="http://schemas.microsoft.com/office/drawing/2014/main" id="{D63735F0-71F9-7696-34E1-295E8074D21F}"/>
              </a:ext>
            </a:extLst>
          </p:cNvPr>
          <p:cNvSpPr txBox="1"/>
          <p:nvPr/>
        </p:nvSpPr>
        <p:spPr>
          <a:xfrm>
            <a:off x="588263" y="2005679"/>
            <a:ext cx="8360229" cy="1446550"/>
          </a:xfrm>
          <a:prstGeom prst="rect">
            <a:avLst/>
          </a:prstGeom>
          <a:noFill/>
        </p:spPr>
        <p:txBody>
          <a:bodyPr wrap="square">
            <a:spAutoFit/>
          </a:bodyPr>
          <a:lstStyle/>
          <a:p>
            <a:pPr lvl="0"/>
            <a:r>
              <a:rPr kumimoji="0" lang="en-US" sz="4400" u="none" strike="noStrike" kern="1200" cap="none" spc="0" normalizeH="0" baseline="0" noProof="0" dirty="0">
                <a:ln w="3175">
                  <a:noFill/>
                </a:ln>
                <a:solidFill>
                  <a:srgbClr val="000000"/>
                </a:solidFill>
                <a:effectLst/>
                <a:uLnTx/>
                <a:uFillTx/>
                <a:latin typeface="Segoe UI" panose="020B0502040204020203" pitchFamily="34" charset="0"/>
                <a:cs typeface="Segoe UI" panose="020B0502040204020203" pitchFamily="34" charset="0"/>
              </a:rPr>
              <a:t>"If you think we are close to AGI,</a:t>
            </a:r>
          </a:p>
          <a:p>
            <a:pPr lvl="0"/>
            <a:r>
              <a:rPr lang="en-US" sz="4400" dirty="0">
                <a:ln w="3175">
                  <a:noFill/>
                </a:ln>
                <a:solidFill>
                  <a:srgbClr val="000000"/>
                </a:solidFill>
                <a:latin typeface="Segoe UI" panose="020B0502040204020203" pitchFamily="34" charset="0"/>
                <a:cs typeface="Segoe UI" panose="020B0502040204020203" pitchFamily="34" charset="0"/>
              </a:rPr>
              <a:t>try building an AI Agent."</a:t>
            </a:r>
            <a:endParaRPr kumimoji="0" lang="en-US" sz="4400" u="none" strike="noStrike" kern="1200" cap="none" spc="0" normalizeH="0" baseline="0" noProof="0" dirty="0">
              <a:ln w="3175">
                <a:noFill/>
              </a:ln>
              <a:solidFill>
                <a:srgbClr val="000000"/>
              </a:solidFill>
              <a:effectLst/>
              <a:uLnTx/>
              <a:uFillTx/>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04456106-1032-E5EF-DB8E-8FA810A74128}"/>
              </a:ext>
            </a:extLst>
          </p:cNvPr>
          <p:cNvSpPr txBox="1"/>
          <p:nvPr/>
        </p:nvSpPr>
        <p:spPr>
          <a:xfrm>
            <a:off x="707190" y="3688416"/>
            <a:ext cx="6812280" cy="523220"/>
          </a:xfrm>
          <a:prstGeom prst="rect">
            <a:avLst/>
          </a:prstGeom>
          <a:noFill/>
        </p:spPr>
        <p:txBody>
          <a:bodyPr wrap="square">
            <a:spAutoFit/>
          </a:bodyPr>
          <a:lstStyle/>
          <a:p>
            <a:pPr lvl="0"/>
            <a:r>
              <a:rPr lang="en-US" sz="2800" dirty="0">
                <a:solidFill>
                  <a:srgbClr val="000000"/>
                </a:solidFill>
                <a:latin typeface="Segoe UI" panose="020B0502040204020203" pitchFamily="34" charset="0"/>
                <a:cs typeface="Segoe UI" panose="020B0502040204020203" pitchFamily="34" charset="0"/>
              </a:rPr>
              <a:t>- Someone on the internet</a:t>
            </a:r>
          </a:p>
        </p:txBody>
      </p:sp>
    </p:spTree>
    <p:extLst>
      <p:ext uri="{BB962C8B-B14F-4D97-AF65-F5344CB8AC3E}">
        <p14:creationId xmlns:p14="http://schemas.microsoft.com/office/powerpoint/2010/main" val="193042225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B57D2-C44A-37EC-0060-1EADCAFE6E65}"/>
              </a:ext>
            </a:extLst>
          </p:cNvPr>
          <p:cNvSpPr>
            <a:spLocks noGrp="1"/>
          </p:cNvSpPr>
          <p:nvPr>
            <p:ph type="title"/>
          </p:nvPr>
        </p:nvSpPr>
        <p:spPr/>
        <p:txBody>
          <a:bodyPr/>
          <a:lstStyle/>
          <a:p>
            <a:r>
              <a:rPr lang="en-US" sz="3600" dirty="0"/>
              <a:t>Don't give up!</a:t>
            </a:r>
            <a:endParaRPr lang="en-US"/>
          </a:p>
        </p:txBody>
      </p:sp>
      <p:sp>
        <p:nvSpPr>
          <p:cNvPr id="3" name="Text Placeholder 2">
            <a:extLst>
              <a:ext uri="{FF2B5EF4-FFF2-40B4-BE49-F238E27FC236}">
                <a16:creationId xmlns:a16="http://schemas.microsoft.com/office/drawing/2014/main" id="{0F9C5EF5-EBC6-6D95-8F85-5E2B41007099}"/>
              </a:ext>
            </a:extLst>
          </p:cNvPr>
          <p:cNvSpPr>
            <a:spLocks noGrp="1"/>
          </p:cNvSpPr>
          <p:nvPr>
            <p:ph type="body" sz="quarter" idx="10"/>
          </p:nvPr>
        </p:nvSpPr>
        <p:spPr>
          <a:xfrm>
            <a:off x="586740" y="1514269"/>
            <a:ext cx="11018520" cy="4481227"/>
          </a:xfrm>
        </p:spPr>
        <p:txBody>
          <a:bodyPr/>
          <a:lstStyle/>
          <a:p>
            <a:pPr marL="742950" lvl="0" indent="-742950">
              <a:buAutoNum type="arabicPeriod"/>
            </a:pPr>
            <a:r>
              <a:rPr kumimoji="0" lang="en-US" sz="2800" u="none" strike="noStrike" kern="1200" cap="none" spc="0" normalizeH="0" baseline="0" noProof="0" dirty="0">
                <a:ln w="3175">
                  <a:noFill/>
                </a:ln>
                <a:solidFill>
                  <a:srgbClr val="000000"/>
                </a:solidFill>
                <a:effectLst/>
                <a:uLnTx/>
                <a:uFillTx/>
                <a:latin typeface="Segoe UI" panose="020B0502040204020203" pitchFamily="34" charset="0"/>
              </a:rPr>
              <a:t>List the tools and knowledge needed</a:t>
            </a:r>
            <a:br>
              <a:rPr kumimoji="0" lang="en-US" sz="2800" u="none" strike="noStrike" kern="1200" cap="none" spc="0" normalizeH="0" baseline="0" noProof="0" dirty="0">
                <a:ln w="3175">
                  <a:noFill/>
                </a:ln>
                <a:solidFill>
                  <a:srgbClr val="000000"/>
                </a:solidFill>
                <a:effectLst/>
                <a:uLnTx/>
                <a:uFillTx/>
                <a:latin typeface="Segoe UI" panose="020B0502040204020203" pitchFamily="34" charset="0"/>
              </a:rPr>
            </a:br>
            <a:endParaRPr lang="en-US" sz="2800" dirty="0">
              <a:ln w="3175">
                <a:noFill/>
              </a:ln>
              <a:solidFill>
                <a:srgbClr val="000000"/>
              </a:solidFill>
              <a:latin typeface="Segoe UI" panose="020B0502040204020203" pitchFamily="34" charset="0"/>
            </a:endParaRPr>
          </a:p>
          <a:p>
            <a:pPr marL="742950" lvl="0" indent="-742950">
              <a:buAutoNum type="arabicPeriod"/>
            </a:pPr>
            <a:r>
              <a:rPr kumimoji="0" lang="en-US" sz="2800" u="none" strike="noStrike" kern="1200" cap="none" spc="0" normalizeH="0" baseline="0" noProof="0" dirty="0">
                <a:ln w="3175">
                  <a:noFill/>
                </a:ln>
                <a:solidFill>
                  <a:srgbClr val="000000"/>
                </a:solidFill>
                <a:effectLst/>
                <a:uLnTx/>
                <a:uFillTx/>
                <a:latin typeface="Segoe UI" panose="020B0502040204020203" pitchFamily="34" charset="0"/>
              </a:rPr>
              <a:t>Diagram the Agent Flow</a:t>
            </a:r>
          </a:p>
          <a:p>
            <a:pPr marL="742950" lvl="0" indent="-742950">
              <a:buAutoNum type="arabicPeriod"/>
            </a:pPr>
            <a:endParaRPr lang="en-US" sz="2800" dirty="0">
              <a:ln w="3175">
                <a:noFill/>
              </a:ln>
              <a:solidFill>
                <a:srgbClr val="000000"/>
              </a:solidFill>
              <a:latin typeface="Segoe UI" panose="020B0502040204020203" pitchFamily="34" charset="0"/>
            </a:endParaRPr>
          </a:p>
          <a:p>
            <a:pPr marL="742950" lvl="0" indent="-742950">
              <a:buAutoNum type="arabicPeriod"/>
            </a:pPr>
            <a:r>
              <a:rPr kumimoji="0" lang="en-US" sz="2800" u="none" strike="noStrike" kern="1200" cap="none" spc="0" normalizeH="0" baseline="0" noProof="0" dirty="0">
                <a:ln w="3175">
                  <a:noFill/>
                </a:ln>
                <a:solidFill>
                  <a:srgbClr val="000000"/>
                </a:solidFill>
                <a:effectLst/>
                <a:uLnTx/>
                <a:uFillTx/>
                <a:latin typeface="Segoe UI" panose="020B0502040204020203" pitchFamily="34" charset="0"/>
              </a:rPr>
              <a:t>Develop each agent/tool iteratively </a:t>
            </a:r>
          </a:p>
          <a:p>
            <a:pPr marL="742950" lvl="0" indent="-742950">
              <a:buAutoNum type="arabicPeriod"/>
            </a:pPr>
            <a:endParaRPr lang="en-US" sz="2800" dirty="0">
              <a:ln w="3175">
                <a:noFill/>
              </a:ln>
              <a:solidFill>
                <a:srgbClr val="000000"/>
              </a:solidFill>
              <a:latin typeface="Segoe UI" panose="020B0502040204020203" pitchFamily="34" charset="0"/>
            </a:endParaRPr>
          </a:p>
          <a:p>
            <a:pPr marL="742950" lvl="0" indent="-742950">
              <a:buAutoNum type="arabicPeriod"/>
            </a:pPr>
            <a:r>
              <a:rPr kumimoji="0" lang="en-US" sz="2800" u="none" strike="noStrike" kern="1200" cap="none" spc="0" normalizeH="0" baseline="0" noProof="0" dirty="0">
                <a:ln w="3175">
                  <a:noFill/>
                </a:ln>
                <a:solidFill>
                  <a:srgbClr val="000000"/>
                </a:solidFill>
                <a:effectLst/>
                <a:uLnTx/>
                <a:uFillTx/>
                <a:latin typeface="Segoe UI" panose="020B0502040204020203" pitchFamily="34" charset="0"/>
              </a:rPr>
              <a:t>Hardcode first if needed to test</a:t>
            </a:r>
          </a:p>
          <a:p>
            <a:pPr marL="742950" lvl="0" indent="-742950">
              <a:buAutoNum type="arabicPeriod"/>
            </a:pPr>
            <a:endParaRPr kumimoji="0" lang="en-US" sz="2800" u="none" strike="noStrike" kern="1200" cap="none" spc="0" normalizeH="0" baseline="0" noProof="0" dirty="0">
              <a:ln w="3175">
                <a:noFill/>
              </a:ln>
              <a:solidFill>
                <a:srgbClr val="000000"/>
              </a:solidFill>
              <a:effectLst/>
              <a:uLnTx/>
              <a:uFillTx/>
              <a:latin typeface="Segoe UI" panose="020B0502040204020203" pitchFamily="34" charset="0"/>
            </a:endParaRPr>
          </a:p>
          <a:p>
            <a:pPr marL="742950" lvl="0" indent="-742950">
              <a:buAutoNum type="arabicPeriod"/>
            </a:pPr>
            <a:r>
              <a:rPr lang="en-US" sz="2800" dirty="0">
                <a:ln w="3175">
                  <a:noFill/>
                </a:ln>
                <a:solidFill>
                  <a:srgbClr val="000000"/>
                </a:solidFill>
                <a:latin typeface="Segoe UI" panose="020B0502040204020203" pitchFamily="34" charset="0"/>
              </a:rPr>
              <a:t>Don’t over commit to one tool/pattern</a:t>
            </a:r>
            <a:endParaRPr kumimoji="0" lang="en-US" sz="2800" u="none" strike="noStrike" kern="1200" cap="none" spc="0" normalizeH="0" baseline="0" noProof="0" dirty="0">
              <a:ln w="3175">
                <a:noFill/>
              </a:ln>
              <a:solidFill>
                <a:srgbClr val="000000"/>
              </a:solidFill>
              <a:effectLst/>
              <a:uLnTx/>
              <a:uFillTx/>
              <a:latin typeface="Segoe UI" panose="020B0502040204020203" pitchFamily="34" charset="0"/>
            </a:endParaRPr>
          </a:p>
        </p:txBody>
      </p:sp>
    </p:spTree>
    <p:extLst>
      <p:ext uri="{BB962C8B-B14F-4D97-AF65-F5344CB8AC3E}">
        <p14:creationId xmlns:p14="http://schemas.microsoft.com/office/powerpoint/2010/main" val="369022190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F2684-E93E-8DBA-9A07-6382D0EFE7FB}"/>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83F7F855-91F6-D0EA-2EBD-E2A857133AF9}"/>
              </a:ext>
            </a:extLst>
          </p:cNvPr>
          <p:cNvSpPr txBox="1"/>
          <p:nvPr/>
        </p:nvSpPr>
        <p:spPr>
          <a:xfrm>
            <a:off x="0" y="1216022"/>
            <a:ext cx="6542843" cy="1865319"/>
          </a:xfrm>
          <a:prstGeom prst="rect">
            <a:avLst/>
          </a:prstGeom>
        </p:spPr>
        <p:txBody>
          <a:bodyPr wrap="square" lIns="0" tIns="0" rIns="0" bIns="0" rtlCol="0" anchor="t">
            <a:spAutoFit/>
          </a:bodyPr>
          <a:lstStyle/>
          <a:p>
            <a:pPr algn="ctr">
              <a:lnSpc>
                <a:spcPts val="15488"/>
              </a:lnSpc>
              <a:spcBef>
                <a:spcPct val="0"/>
              </a:spcBef>
            </a:pPr>
            <a:r>
              <a:rPr lang="en-US" sz="11063">
                <a:solidFill>
                  <a:srgbClr val="227CE8"/>
                </a:solidFill>
                <a:latin typeface="League Spartan"/>
                <a:ea typeface="League Spartan"/>
                <a:cs typeface="League Spartan"/>
                <a:sym typeface="League Spartan"/>
              </a:rPr>
              <a:t>AI Agents</a:t>
            </a:r>
          </a:p>
        </p:txBody>
      </p:sp>
      <p:sp>
        <p:nvSpPr>
          <p:cNvPr id="4" name="TextBox 4">
            <a:extLst>
              <a:ext uri="{FF2B5EF4-FFF2-40B4-BE49-F238E27FC236}">
                <a16:creationId xmlns:a16="http://schemas.microsoft.com/office/drawing/2014/main" id="{E3BBA28D-08CE-8FAB-29E4-2274D5B2DD22}"/>
              </a:ext>
            </a:extLst>
          </p:cNvPr>
          <p:cNvSpPr txBox="1"/>
          <p:nvPr/>
        </p:nvSpPr>
        <p:spPr>
          <a:xfrm>
            <a:off x="596158" y="2970642"/>
            <a:ext cx="4145910" cy="666657"/>
          </a:xfrm>
          <a:prstGeom prst="rect">
            <a:avLst/>
          </a:prstGeom>
        </p:spPr>
        <p:txBody>
          <a:bodyPr wrap="square" lIns="0" tIns="0" rIns="0" bIns="0" rtlCol="0" anchor="t">
            <a:spAutoFit/>
          </a:bodyPr>
          <a:lstStyle/>
          <a:p>
            <a:pPr algn="ctr">
              <a:lnSpc>
                <a:spcPts val="5360"/>
              </a:lnSpc>
              <a:spcBef>
                <a:spcPct val="0"/>
              </a:spcBef>
            </a:pPr>
            <a:r>
              <a:rPr lang="en-US" sz="3828">
                <a:solidFill>
                  <a:srgbClr val="F152F9"/>
                </a:solidFill>
                <a:latin typeface="Poppins"/>
                <a:ea typeface="Poppins"/>
                <a:cs typeface="Poppins"/>
                <a:sym typeface="Poppins"/>
              </a:rPr>
              <a:t>For Beginners</a:t>
            </a:r>
          </a:p>
        </p:txBody>
      </p:sp>
      <p:grpSp>
        <p:nvGrpSpPr>
          <p:cNvPr id="5" name="Group 5">
            <a:extLst>
              <a:ext uri="{FF2B5EF4-FFF2-40B4-BE49-F238E27FC236}">
                <a16:creationId xmlns:a16="http://schemas.microsoft.com/office/drawing/2014/main" id="{1CA8A5E2-2E89-1B82-3A09-FF281421B6C5}"/>
              </a:ext>
            </a:extLst>
          </p:cNvPr>
          <p:cNvGrpSpPr/>
          <p:nvPr/>
        </p:nvGrpSpPr>
        <p:grpSpPr>
          <a:xfrm>
            <a:off x="4535123" y="213261"/>
            <a:ext cx="3312625" cy="1199160"/>
            <a:chOff x="0" y="0"/>
            <a:chExt cx="1820992" cy="406400"/>
          </a:xfrm>
        </p:grpSpPr>
        <p:sp>
          <p:nvSpPr>
            <p:cNvPr id="6" name="Freeform 6">
              <a:extLst>
                <a:ext uri="{FF2B5EF4-FFF2-40B4-BE49-F238E27FC236}">
                  <a16:creationId xmlns:a16="http://schemas.microsoft.com/office/drawing/2014/main" id="{66588CE8-E267-A592-E52E-F8A3399CB3D5}"/>
                </a:ext>
              </a:extLst>
            </p:cNvPr>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227CE9"/>
            </a:solidFill>
          </p:spPr>
          <p:txBody>
            <a:bodyPr/>
            <a:lstStyle/>
            <a:p>
              <a:endParaRPr lang="en-US" sz="1200"/>
            </a:p>
          </p:txBody>
        </p:sp>
        <p:sp>
          <p:nvSpPr>
            <p:cNvPr id="7" name="TextBox 7">
              <a:extLst>
                <a:ext uri="{FF2B5EF4-FFF2-40B4-BE49-F238E27FC236}">
                  <a16:creationId xmlns:a16="http://schemas.microsoft.com/office/drawing/2014/main" id="{EB41C38B-244F-5303-6287-D61EF0E8A113}"/>
                </a:ext>
              </a:extLst>
            </p:cNvPr>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8" name="Group 8">
            <a:extLst>
              <a:ext uri="{FF2B5EF4-FFF2-40B4-BE49-F238E27FC236}">
                <a16:creationId xmlns:a16="http://schemas.microsoft.com/office/drawing/2014/main" id="{99022A2A-A737-015D-96F2-03C197B17459}"/>
              </a:ext>
            </a:extLst>
          </p:cNvPr>
          <p:cNvGrpSpPr/>
          <p:nvPr/>
        </p:nvGrpSpPr>
        <p:grpSpPr>
          <a:xfrm>
            <a:off x="8572192" y="213261"/>
            <a:ext cx="3312625" cy="739295"/>
            <a:chOff x="0" y="0"/>
            <a:chExt cx="1820992" cy="406400"/>
          </a:xfrm>
        </p:grpSpPr>
        <p:sp>
          <p:nvSpPr>
            <p:cNvPr id="9" name="Freeform 9">
              <a:extLst>
                <a:ext uri="{FF2B5EF4-FFF2-40B4-BE49-F238E27FC236}">
                  <a16:creationId xmlns:a16="http://schemas.microsoft.com/office/drawing/2014/main" id="{47A0320E-E233-76A2-7E48-7D02265B6A55}"/>
                </a:ext>
              </a:extLst>
            </p:cNvPr>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F152F9"/>
            </a:solidFill>
          </p:spPr>
          <p:txBody>
            <a:bodyPr/>
            <a:lstStyle/>
            <a:p>
              <a:endParaRPr lang="en-US" sz="1200"/>
            </a:p>
          </p:txBody>
        </p:sp>
        <p:sp>
          <p:nvSpPr>
            <p:cNvPr id="10" name="TextBox 10">
              <a:extLst>
                <a:ext uri="{FF2B5EF4-FFF2-40B4-BE49-F238E27FC236}">
                  <a16:creationId xmlns:a16="http://schemas.microsoft.com/office/drawing/2014/main" id="{AF762131-0BA0-F0E2-5962-2B02AF092948}"/>
                </a:ext>
              </a:extLst>
            </p:cNvPr>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11" name="Group 11">
            <a:extLst>
              <a:ext uri="{FF2B5EF4-FFF2-40B4-BE49-F238E27FC236}">
                <a16:creationId xmlns:a16="http://schemas.microsoft.com/office/drawing/2014/main" id="{901C262E-E62A-A2D4-B0D9-A83048F897E9}"/>
              </a:ext>
            </a:extLst>
          </p:cNvPr>
          <p:cNvGrpSpPr/>
          <p:nvPr/>
        </p:nvGrpSpPr>
        <p:grpSpPr>
          <a:xfrm>
            <a:off x="8572192" y="1412420"/>
            <a:ext cx="3312625" cy="1064178"/>
            <a:chOff x="0" y="-97756"/>
            <a:chExt cx="1820992" cy="584992"/>
          </a:xfrm>
        </p:grpSpPr>
        <p:sp>
          <p:nvSpPr>
            <p:cNvPr id="12" name="Freeform 12">
              <a:extLst>
                <a:ext uri="{FF2B5EF4-FFF2-40B4-BE49-F238E27FC236}">
                  <a16:creationId xmlns:a16="http://schemas.microsoft.com/office/drawing/2014/main" id="{46E0905B-BBDF-78C7-86BC-849567861818}"/>
                </a:ext>
              </a:extLst>
            </p:cNvPr>
            <p:cNvSpPr/>
            <p:nvPr/>
          </p:nvSpPr>
          <p:spPr>
            <a:xfrm>
              <a:off x="0" y="-97756"/>
              <a:ext cx="1820992" cy="584992"/>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227CE9"/>
            </a:solidFill>
          </p:spPr>
          <p:txBody>
            <a:bodyPr/>
            <a:lstStyle/>
            <a:p>
              <a:endParaRPr lang="en-US" sz="1200"/>
            </a:p>
          </p:txBody>
        </p:sp>
        <p:sp>
          <p:nvSpPr>
            <p:cNvPr id="13" name="TextBox 13">
              <a:extLst>
                <a:ext uri="{FF2B5EF4-FFF2-40B4-BE49-F238E27FC236}">
                  <a16:creationId xmlns:a16="http://schemas.microsoft.com/office/drawing/2014/main" id="{74EA7EA9-1838-8648-5AD3-B2C35084F1CB}"/>
                </a:ext>
              </a:extLst>
            </p:cNvPr>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14" name="Group 14">
            <a:extLst>
              <a:ext uri="{FF2B5EF4-FFF2-40B4-BE49-F238E27FC236}">
                <a16:creationId xmlns:a16="http://schemas.microsoft.com/office/drawing/2014/main" id="{0D70FBB9-5CF7-788E-A030-4B0295B833BF}"/>
              </a:ext>
            </a:extLst>
          </p:cNvPr>
          <p:cNvGrpSpPr/>
          <p:nvPr/>
        </p:nvGrpSpPr>
        <p:grpSpPr>
          <a:xfrm>
            <a:off x="8572192" y="2851633"/>
            <a:ext cx="3312625" cy="739295"/>
            <a:chOff x="0" y="0"/>
            <a:chExt cx="1820992" cy="406400"/>
          </a:xfrm>
        </p:grpSpPr>
        <p:sp>
          <p:nvSpPr>
            <p:cNvPr id="15" name="Freeform 15">
              <a:extLst>
                <a:ext uri="{FF2B5EF4-FFF2-40B4-BE49-F238E27FC236}">
                  <a16:creationId xmlns:a16="http://schemas.microsoft.com/office/drawing/2014/main" id="{6910CF47-3132-D267-EFF2-56024FF500BF}"/>
                </a:ext>
              </a:extLst>
            </p:cNvPr>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F152F9"/>
            </a:solidFill>
          </p:spPr>
          <p:txBody>
            <a:bodyPr/>
            <a:lstStyle/>
            <a:p>
              <a:endParaRPr lang="en-US" sz="1200"/>
            </a:p>
          </p:txBody>
        </p:sp>
        <p:sp>
          <p:nvSpPr>
            <p:cNvPr id="16" name="TextBox 16">
              <a:extLst>
                <a:ext uri="{FF2B5EF4-FFF2-40B4-BE49-F238E27FC236}">
                  <a16:creationId xmlns:a16="http://schemas.microsoft.com/office/drawing/2014/main" id="{62FD57C2-2B2F-4405-2390-03E623226F2F}"/>
                </a:ext>
              </a:extLst>
            </p:cNvPr>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17" name="Group 17">
            <a:extLst>
              <a:ext uri="{FF2B5EF4-FFF2-40B4-BE49-F238E27FC236}">
                <a16:creationId xmlns:a16="http://schemas.microsoft.com/office/drawing/2014/main" id="{1C6D57EE-0F4B-6BA8-60B7-65995328AB18}"/>
              </a:ext>
            </a:extLst>
          </p:cNvPr>
          <p:cNvGrpSpPr/>
          <p:nvPr/>
        </p:nvGrpSpPr>
        <p:grpSpPr>
          <a:xfrm>
            <a:off x="6413875" y="3902555"/>
            <a:ext cx="3312625" cy="739295"/>
            <a:chOff x="0" y="0"/>
            <a:chExt cx="1820992" cy="406400"/>
          </a:xfrm>
        </p:grpSpPr>
        <p:sp>
          <p:nvSpPr>
            <p:cNvPr id="18" name="Freeform 18">
              <a:extLst>
                <a:ext uri="{FF2B5EF4-FFF2-40B4-BE49-F238E27FC236}">
                  <a16:creationId xmlns:a16="http://schemas.microsoft.com/office/drawing/2014/main" id="{3893B78F-D920-BB4E-A167-4BEE71B30687}"/>
                </a:ext>
              </a:extLst>
            </p:cNvPr>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227CE9"/>
            </a:solidFill>
          </p:spPr>
          <p:txBody>
            <a:bodyPr/>
            <a:lstStyle/>
            <a:p>
              <a:endParaRPr lang="en-US" sz="1200"/>
            </a:p>
          </p:txBody>
        </p:sp>
        <p:sp>
          <p:nvSpPr>
            <p:cNvPr id="19" name="TextBox 19">
              <a:extLst>
                <a:ext uri="{FF2B5EF4-FFF2-40B4-BE49-F238E27FC236}">
                  <a16:creationId xmlns:a16="http://schemas.microsoft.com/office/drawing/2014/main" id="{14202C67-C6CC-9A87-2636-AD2C125F413A}"/>
                </a:ext>
              </a:extLst>
            </p:cNvPr>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20" name="Group 20">
            <a:extLst>
              <a:ext uri="{FF2B5EF4-FFF2-40B4-BE49-F238E27FC236}">
                <a16:creationId xmlns:a16="http://schemas.microsoft.com/office/drawing/2014/main" id="{EC68EBBC-50BE-774F-F3F7-952BA3A31FB9}"/>
              </a:ext>
            </a:extLst>
          </p:cNvPr>
          <p:cNvGrpSpPr/>
          <p:nvPr/>
        </p:nvGrpSpPr>
        <p:grpSpPr>
          <a:xfrm>
            <a:off x="8572192" y="5063257"/>
            <a:ext cx="3312625" cy="739295"/>
            <a:chOff x="0" y="0"/>
            <a:chExt cx="1820992" cy="406400"/>
          </a:xfrm>
        </p:grpSpPr>
        <p:sp>
          <p:nvSpPr>
            <p:cNvPr id="21" name="Freeform 21">
              <a:extLst>
                <a:ext uri="{FF2B5EF4-FFF2-40B4-BE49-F238E27FC236}">
                  <a16:creationId xmlns:a16="http://schemas.microsoft.com/office/drawing/2014/main" id="{81A59C09-570A-F690-A129-3941DEF28B45}"/>
                </a:ext>
              </a:extLst>
            </p:cNvPr>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227CE9"/>
            </a:solidFill>
          </p:spPr>
          <p:txBody>
            <a:bodyPr/>
            <a:lstStyle/>
            <a:p>
              <a:endParaRPr lang="en-US" sz="1200"/>
            </a:p>
          </p:txBody>
        </p:sp>
        <p:sp>
          <p:nvSpPr>
            <p:cNvPr id="22" name="TextBox 22">
              <a:extLst>
                <a:ext uri="{FF2B5EF4-FFF2-40B4-BE49-F238E27FC236}">
                  <a16:creationId xmlns:a16="http://schemas.microsoft.com/office/drawing/2014/main" id="{C8798A4E-0EA2-432E-71DA-334A4DB7BEAF}"/>
                </a:ext>
              </a:extLst>
            </p:cNvPr>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23" name="Group 23">
            <a:extLst>
              <a:ext uri="{FF2B5EF4-FFF2-40B4-BE49-F238E27FC236}">
                <a16:creationId xmlns:a16="http://schemas.microsoft.com/office/drawing/2014/main" id="{FE2407AC-CC22-C46E-E924-BFE6A70652FE}"/>
              </a:ext>
            </a:extLst>
          </p:cNvPr>
          <p:cNvGrpSpPr/>
          <p:nvPr/>
        </p:nvGrpSpPr>
        <p:grpSpPr>
          <a:xfrm>
            <a:off x="2518391" y="3902555"/>
            <a:ext cx="3312625" cy="739295"/>
            <a:chOff x="0" y="0"/>
            <a:chExt cx="1820992" cy="406400"/>
          </a:xfrm>
        </p:grpSpPr>
        <p:sp>
          <p:nvSpPr>
            <p:cNvPr id="24" name="Freeform 24">
              <a:extLst>
                <a:ext uri="{FF2B5EF4-FFF2-40B4-BE49-F238E27FC236}">
                  <a16:creationId xmlns:a16="http://schemas.microsoft.com/office/drawing/2014/main" id="{B06DEA11-09CC-7F0F-60AE-581C5B03C48B}"/>
                </a:ext>
              </a:extLst>
            </p:cNvPr>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F152F9"/>
            </a:solidFill>
          </p:spPr>
          <p:txBody>
            <a:bodyPr/>
            <a:lstStyle/>
            <a:p>
              <a:endParaRPr lang="en-US" sz="1200"/>
            </a:p>
          </p:txBody>
        </p:sp>
        <p:sp>
          <p:nvSpPr>
            <p:cNvPr id="25" name="TextBox 25">
              <a:extLst>
                <a:ext uri="{FF2B5EF4-FFF2-40B4-BE49-F238E27FC236}">
                  <a16:creationId xmlns:a16="http://schemas.microsoft.com/office/drawing/2014/main" id="{F7B69733-192A-5C80-5779-007205BAD9E6}"/>
                </a:ext>
              </a:extLst>
            </p:cNvPr>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26" name="Group 26">
            <a:extLst>
              <a:ext uri="{FF2B5EF4-FFF2-40B4-BE49-F238E27FC236}">
                <a16:creationId xmlns:a16="http://schemas.microsoft.com/office/drawing/2014/main" id="{84FFB3B3-E60C-5266-9D2C-884CD033B413}"/>
              </a:ext>
            </a:extLst>
          </p:cNvPr>
          <p:cNvGrpSpPr/>
          <p:nvPr/>
        </p:nvGrpSpPr>
        <p:grpSpPr>
          <a:xfrm>
            <a:off x="498054" y="213261"/>
            <a:ext cx="3312625" cy="1199160"/>
            <a:chOff x="0" y="0"/>
            <a:chExt cx="1820992" cy="406400"/>
          </a:xfrm>
        </p:grpSpPr>
        <p:sp>
          <p:nvSpPr>
            <p:cNvPr id="27" name="Freeform 27">
              <a:extLst>
                <a:ext uri="{FF2B5EF4-FFF2-40B4-BE49-F238E27FC236}">
                  <a16:creationId xmlns:a16="http://schemas.microsoft.com/office/drawing/2014/main" id="{7638F49F-88F8-206D-CAD9-20205CB0663A}"/>
                </a:ext>
              </a:extLst>
            </p:cNvPr>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F152F9"/>
            </a:solidFill>
          </p:spPr>
          <p:txBody>
            <a:bodyPr/>
            <a:lstStyle/>
            <a:p>
              <a:endParaRPr lang="en-US" sz="1200"/>
            </a:p>
          </p:txBody>
        </p:sp>
        <p:sp>
          <p:nvSpPr>
            <p:cNvPr id="28" name="TextBox 28">
              <a:extLst>
                <a:ext uri="{FF2B5EF4-FFF2-40B4-BE49-F238E27FC236}">
                  <a16:creationId xmlns:a16="http://schemas.microsoft.com/office/drawing/2014/main" id="{AA712689-4313-9E61-9147-56807F96E40B}"/>
                </a:ext>
              </a:extLst>
            </p:cNvPr>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29" name="Group 29">
            <a:extLst>
              <a:ext uri="{FF2B5EF4-FFF2-40B4-BE49-F238E27FC236}">
                <a16:creationId xmlns:a16="http://schemas.microsoft.com/office/drawing/2014/main" id="{7BBA5A83-85B0-BB21-6722-D840CF5D04FE}"/>
              </a:ext>
            </a:extLst>
          </p:cNvPr>
          <p:cNvGrpSpPr/>
          <p:nvPr/>
        </p:nvGrpSpPr>
        <p:grpSpPr>
          <a:xfrm>
            <a:off x="4831710" y="5063257"/>
            <a:ext cx="3312625" cy="739295"/>
            <a:chOff x="0" y="0"/>
            <a:chExt cx="1820992" cy="406400"/>
          </a:xfrm>
        </p:grpSpPr>
        <p:sp>
          <p:nvSpPr>
            <p:cNvPr id="30" name="Freeform 30">
              <a:extLst>
                <a:ext uri="{FF2B5EF4-FFF2-40B4-BE49-F238E27FC236}">
                  <a16:creationId xmlns:a16="http://schemas.microsoft.com/office/drawing/2014/main" id="{E61F3914-E156-04A2-E6F4-78BF21346DC5}"/>
                </a:ext>
              </a:extLst>
            </p:cNvPr>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F152F9"/>
            </a:solidFill>
          </p:spPr>
          <p:txBody>
            <a:bodyPr/>
            <a:lstStyle/>
            <a:p>
              <a:endParaRPr lang="en-US" sz="1200"/>
            </a:p>
          </p:txBody>
        </p:sp>
        <p:sp>
          <p:nvSpPr>
            <p:cNvPr id="31" name="TextBox 31">
              <a:extLst>
                <a:ext uri="{FF2B5EF4-FFF2-40B4-BE49-F238E27FC236}">
                  <a16:creationId xmlns:a16="http://schemas.microsoft.com/office/drawing/2014/main" id="{0A6B37DD-9C6F-6FE8-3EE6-3DDF9D10ECEF}"/>
                </a:ext>
              </a:extLst>
            </p:cNvPr>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grpSp>
        <p:nvGrpSpPr>
          <p:cNvPr id="32" name="Group 32">
            <a:extLst>
              <a:ext uri="{FF2B5EF4-FFF2-40B4-BE49-F238E27FC236}">
                <a16:creationId xmlns:a16="http://schemas.microsoft.com/office/drawing/2014/main" id="{D002439F-5E15-E184-3406-CF732153E170}"/>
              </a:ext>
            </a:extLst>
          </p:cNvPr>
          <p:cNvGrpSpPr/>
          <p:nvPr/>
        </p:nvGrpSpPr>
        <p:grpSpPr>
          <a:xfrm>
            <a:off x="862078" y="5063257"/>
            <a:ext cx="3312625" cy="739295"/>
            <a:chOff x="0" y="0"/>
            <a:chExt cx="1820992" cy="406400"/>
          </a:xfrm>
        </p:grpSpPr>
        <p:sp>
          <p:nvSpPr>
            <p:cNvPr id="33" name="Freeform 33">
              <a:extLst>
                <a:ext uri="{FF2B5EF4-FFF2-40B4-BE49-F238E27FC236}">
                  <a16:creationId xmlns:a16="http://schemas.microsoft.com/office/drawing/2014/main" id="{858D8103-846E-D6C3-7A94-18712B8F2048}"/>
                </a:ext>
              </a:extLst>
            </p:cNvPr>
            <p:cNvSpPr/>
            <p:nvPr/>
          </p:nvSpPr>
          <p:spPr>
            <a:xfrm>
              <a:off x="0" y="0"/>
              <a:ext cx="1820992" cy="406400"/>
            </a:xfrm>
            <a:custGeom>
              <a:avLst/>
              <a:gdLst/>
              <a:ahLst/>
              <a:cxnLst/>
              <a:rect l="l" t="t" r="r" b="b"/>
              <a:pathLst>
                <a:path w="1820992" h="406400">
                  <a:moveTo>
                    <a:pt x="1617792" y="0"/>
                  </a:moveTo>
                  <a:cubicBezTo>
                    <a:pt x="1730016" y="0"/>
                    <a:pt x="1820992" y="90976"/>
                    <a:pt x="1820992" y="203200"/>
                  </a:cubicBezTo>
                  <a:cubicBezTo>
                    <a:pt x="1820992" y="315424"/>
                    <a:pt x="1730016" y="406400"/>
                    <a:pt x="1617792" y="406400"/>
                  </a:cubicBezTo>
                  <a:lnTo>
                    <a:pt x="203200" y="406400"/>
                  </a:lnTo>
                  <a:cubicBezTo>
                    <a:pt x="90976" y="406400"/>
                    <a:pt x="0" y="315424"/>
                    <a:pt x="0" y="203200"/>
                  </a:cubicBezTo>
                  <a:cubicBezTo>
                    <a:pt x="0" y="90976"/>
                    <a:pt x="90976" y="0"/>
                    <a:pt x="203200" y="0"/>
                  </a:cubicBezTo>
                  <a:close/>
                </a:path>
              </a:pathLst>
            </a:custGeom>
            <a:solidFill>
              <a:srgbClr val="227CE9"/>
            </a:solidFill>
          </p:spPr>
          <p:txBody>
            <a:bodyPr/>
            <a:lstStyle/>
            <a:p>
              <a:endParaRPr lang="en-US" sz="1200"/>
            </a:p>
          </p:txBody>
        </p:sp>
        <p:sp>
          <p:nvSpPr>
            <p:cNvPr id="34" name="TextBox 34">
              <a:extLst>
                <a:ext uri="{FF2B5EF4-FFF2-40B4-BE49-F238E27FC236}">
                  <a16:creationId xmlns:a16="http://schemas.microsoft.com/office/drawing/2014/main" id="{B82D678F-B5B7-F4D5-E479-7FE2723981C2}"/>
                </a:ext>
              </a:extLst>
            </p:cNvPr>
            <p:cNvSpPr txBox="1"/>
            <p:nvPr/>
          </p:nvSpPr>
          <p:spPr>
            <a:xfrm>
              <a:off x="0" y="-57150"/>
              <a:ext cx="1820992" cy="463550"/>
            </a:xfrm>
            <a:prstGeom prst="rect">
              <a:avLst/>
            </a:prstGeom>
          </p:spPr>
          <p:txBody>
            <a:bodyPr lIns="33867" tIns="33867" rIns="33867" bIns="33867" rtlCol="0" anchor="ctr"/>
            <a:lstStyle/>
            <a:p>
              <a:pPr algn="ctr">
                <a:lnSpc>
                  <a:spcPts val="2333"/>
                </a:lnSpc>
              </a:pPr>
              <a:endParaRPr sz="1200"/>
            </a:p>
          </p:txBody>
        </p:sp>
      </p:grpSp>
      <p:sp>
        <p:nvSpPr>
          <p:cNvPr id="35" name="TextBox 35">
            <a:extLst>
              <a:ext uri="{FF2B5EF4-FFF2-40B4-BE49-F238E27FC236}">
                <a16:creationId xmlns:a16="http://schemas.microsoft.com/office/drawing/2014/main" id="{FB18360F-14BD-5613-B018-56B82DD688D0}"/>
              </a:ext>
            </a:extLst>
          </p:cNvPr>
          <p:cNvSpPr txBox="1"/>
          <p:nvPr/>
        </p:nvSpPr>
        <p:spPr>
          <a:xfrm>
            <a:off x="498081" y="5963845"/>
            <a:ext cx="11486655" cy="683392"/>
          </a:xfrm>
          <a:prstGeom prst="rect">
            <a:avLst/>
          </a:prstGeom>
        </p:spPr>
        <p:txBody>
          <a:bodyPr wrap="square" lIns="0" tIns="0" rIns="0" bIns="0" rtlCol="0" anchor="t">
            <a:spAutoFit/>
          </a:bodyPr>
          <a:lstStyle/>
          <a:p>
            <a:pPr algn="ctr">
              <a:lnSpc>
                <a:spcPts val="6229"/>
              </a:lnSpc>
            </a:pPr>
            <a:r>
              <a:rPr lang="en-US" sz="3000">
                <a:solidFill>
                  <a:schemeClr val="accent1"/>
                </a:solidFill>
                <a:ea typeface="Canva Sans Bold"/>
                <a:cs typeface="Canva Sans Bold"/>
                <a:sym typeface="Canva Sans Bold"/>
                <a:hlinkClick r:id="rId3">
                  <a:extLst>
                    <a:ext uri="{A12FA001-AC4F-418D-AE19-62706E023703}">
                      <ahyp:hlinkClr xmlns:ahyp="http://schemas.microsoft.com/office/drawing/2018/hyperlinkcolor" val="tx"/>
                    </a:ext>
                  </a:extLst>
                </a:hlinkClick>
              </a:rPr>
              <a:t>aka.ms/ai-agents-beginners</a:t>
            </a:r>
            <a:endParaRPr lang="en-US" sz="3000">
              <a:solidFill>
                <a:schemeClr val="accent1"/>
              </a:solidFill>
              <a:ea typeface="Canva Sans Bold"/>
              <a:cs typeface="Canva Sans Bold"/>
              <a:sym typeface="Canva Sans Bold"/>
            </a:endParaRPr>
          </a:p>
        </p:txBody>
      </p:sp>
      <p:sp>
        <p:nvSpPr>
          <p:cNvPr id="36" name="TextBox 36">
            <a:extLst>
              <a:ext uri="{FF2B5EF4-FFF2-40B4-BE49-F238E27FC236}">
                <a16:creationId xmlns:a16="http://schemas.microsoft.com/office/drawing/2014/main" id="{BDD62B37-1817-16C5-A38D-567C9C7E3B82}"/>
              </a:ext>
            </a:extLst>
          </p:cNvPr>
          <p:cNvSpPr txBox="1"/>
          <p:nvPr/>
        </p:nvSpPr>
        <p:spPr>
          <a:xfrm>
            <a:off x="824288" y="288449"/>
            <a:ext cx="2637369" cy="1008096"/>
          </a:xfrm>
          <a:prstGeom prst="rect">
            <a:avLst/>
          </a:prstGeom>
        </p:spPr>
        <p:txBody>
          <a:bodyPr wrap="square" lIns="0" tIns="0" rIns="0" bIns="0" rtlCol="0" anchor="t">
            <a:spAutoFit/>
          </a:bodyPr>
          <a:lstStyle/>
          <a:p>
            <a:pPr algn="ctr">
              <a:lnSpc>
                <a:spcPts val="4019"/>
              </a:lnSpc>
              <a:spcBef>
                <a:spcPct val="0"/>
              </a:spcBef>
            </a:pPr>
            <a:r>
              <a:rPr lang="en-US" sz="2870">
                <a:solidFill>
                  <a:srgbClr val="FFFFFF"/>
                </a:solidFill>
                <a:latin typeface="Poppins"/>
                <a:ea typeface="Poppins"/>
                <a:cs typeface="Poppins"/>
                <a:sym typeface="Poppins"/>
              </a:rPr>
              <a:t>Intro to</a:t>
            </a:r>
          </a:p>
          <a:p>
            <a:pPr algn="ctr">
              <a:lnSpc>
                <a:spcPts val="4019"/>
              </a:lnSpc>
              <a:spcBef>
                <a:spcPct val="0"/>
              </a:spcBef>
            </a:pPr>
            <a:r>
              <a:rPr lang="en-US" sz="2870">
                <a:solidFill>
                  <a:srgbClr val="FFFFFF"/>
                </a:solidFill>
                <a:latin typeface="Poppins"/>
                <a:ea typeface="Poppins"/>
                <a:cs typeface="Poppins"/>
                <a:sym typeface="Poppins"/>
              </a:rPr>
              <a:t>Agents</a:t>
            </a:r>
          </a:p>
        </p:txBody>
      </p:sp>
      <p:sp>
        <p:nvSpPr>
          <p:cNvPr id="37" name="TextBox 37">
            <a:extLst>
              <a:ext uri="{FF2B5EF4-FFF2-40B4-BE49-F238E27FC236}">
                <a16:creationId xmlns:a16="http://schemas.microsoft.com/office/drawing/2014/main" id="{ED6A7962-2D0B-2A26-CDBB-B7E9F9BF540A}"/>
              </a:ext>
            </a:extLst>
          </p:cNvPr>
          <p:cNvSpPr txBox="1"/>
          <p:nvPr/>
        </p:nvSpPr>
        <p:spPr>
          <a:xfrm>
            <a:off x="4742068" y="360490"/>
            <a:ext cx="2898735" cy="765594"/>
          </a:xfrm>
          <a:prstGeom prst="rect">
            <a:avLst/>
          </a:prstGeom>
        </p:spPr>
        <p:txBody>
          <a:bodyPr lIns="0" tIns="0" rIns="0" bIns="0" rtlCol="0" anchor="t">
            <a:spAutoFit/>
          </a:bodyPr>
          <a:lstStyle/>
          <a:p>
            <a:pPr algn="ctr">
              <a:lnSpc>
                <a:spcPts val="3043"/>
              </a:lnSpc>
              <a:spcBef>
                <a:spcPct val="0"/>
              </a:spcBef>
            </a:pPr>
            <a:r>
              <a:rPr lang="en-US" sz="2400">
                <a:solidFill>
                  <a:srgbClr val="FFFFFF"/>
                </a:solidFill>
                <a:latin typeface="Poppins"/>
                <a:ea typeface="Poppins"/>
                <a:cs typeface="Poppins"/>
                <a:sym typeface="Poppins"/>
              </a:rPr>
              <a:t>AI agent</a:t>
            </a:r>
          </a:p>
          <a:p>
            <a:pPr algn="ctr">
              <a:lnSpc>
                <a:spcPts val="3043"/>
              </a:lnSpc>
              <a:spcBef>
                <a:spcPct val="0"/>
              </a:spcBef>
            </a:pPr>
            <a:r>
              <a:rPr lang="en-US" sz="2400">
                <a:solidFill>
                  <a:srgbClr val="FFFFFF"/>
                </a:solidFill>
                <a:latin typeface="Poppins"/>
                <a:ea typeface="Poppins"/>
                <a:cs typeface="Poppins"/>
                <a:sym typeface="Poppins"/>
              </a:rPr>
              <a:t>Frameworks</a:t>
            </a:r>
          </a:p>
        </p:txBody>
      </p:sp>
      <p:sp>
        <p:nvSpPr>
          <p:cNvPr id="38" name="TextBox 38">
            <a:extLst>
              <a:ext uri="{FF2B5EF4-FFF2-40B4-BE49-F238E27FC236}">
                <a16:creationId xmlns:a16="http://schemas.microsoft.com/office/drawing/2014/main" id="{523A7C9A-C10D-37E6-A3CC-667CFFA7AA12}"/>
              </a:ext>
            </a:extLst>
          </p:cNvPr>
          <p:cNvSpPr txBox="1"/>
          <p:nvPr/>
        </p:nvSpPr>
        <p:spPr>
          <a:xfrm>
            <a:off x="8669398" y="366774"/>
            <a:ext cx="3118212" cy="380873"/>
          </a:xfrm>
          <a:prstGeom prst="rect">
            <a:avLst/>
          </a:prstGeom>
        </p:spPr>
        <p:txBody>
          <a:bodyPr lIns="0" tIns="0" rIns="0" bIns="0" rtlCol="0" anchor="t">
            <a:spAutoFit/>
          </a:bodyPr>
          <a:lstStyle/>
          <a:p>
            <a:pPr algn="ctr">
              <a:lnSpc>
                <a:spcPts val="3043"/>
              </a:lnSpc>
              <a:spcBef>
                <a:spcPct val="0"/>
              </a:spcBef>
            </a:pPr>
            <a:r>
              <a:rPr lang="en-US" sz="2400">
                <a:solidFill>
                  <a:srgbClr val="FFFFFF"/>
                </a:solidFill>
                <a:latin typeface="Poppins"/>
                <a:ea typeface="Poppins"/>
                <a:cs typeface="Poppins"/>
                <a:sym typeface="Poppins"/>
              </a:rPr>
              <a:t>Design patterns</a:t>
            </a:r>
          </a:p>
        </p:txBody>
      </p:sp>
      <p:sp>
        <p:nvSpPr>
          <p:cNvPr id="39" name="TextBox 39">
            <a:extLst>
              <a:ext uri="{FF2B5EF4-FFF2-40B4-BE49-F238E27FC236}">
                <a16:creationId xmlns:a16="http://schemas.microsoft.com/office/drawing/2014/main" id="{21225D26-E680-4C02-4B28-69213E375980}"/>
              </a:ext>
            </a:extLst>
          </p:cNvPr>
          <p:cNvSpPr txBox="1"/>
          <p:nvPr/>
        </p:nvSpPr>
        <p:spPr>
          <a:xfrm>
            <a:off x="8311416" y="1699249"/>
            <a:ext cx="3834175" cy="490519"/>
          </a:xfrm>
          <a:prstGeom prst="rect">
            <a:avLst/>
          </a:prstGeom>
        </p:spPr>
        <p:txBody>
          <a:bodyPr lIns="0" tIns="0" rIns="0" bIns="0" rtlCol="0" anchor="t">
            <a:spAutoFit/>
          </a:bodyPr>
          <a:lstStyle/>
          <a:p>
            <a:pPr algn="ctr">
              <a:lnSpc>
                <a:spcPts val="3742"/>
              </a:lnSpc>
              <a:spcBef>
                <a:spcPct val="0"/>
              </a:spcBef>
            </a:pPr>
            <a:r>
              <a:rPr lang="en-US" sz="3500">
                <a:solidFill>
                  <a:srgbClr val="FFFFFF"/>
                </a:solidFill>
                <a:latin typeface="Poppins"/>
                <a:ea typeface="Poppins"/>
                <a:cs typeface="Poppins"/>
                <a:sym typeface="Poppins"/>
              </a:rPr>
              <a:t>Tool use</a:t>
            </a:r>
          </a:p>
        </p:txBody>
      </p:sp>
      <p:sp>
        <p:nvSpPr>
          <p:cNvPr id="40" name="TextBox 40">
            <a:extLst>
              <a:ext uri="{FF2B5EF4-FFF2-40B4-BE49-F238E27FC236}">
                <a16:creationId xmlns:a16="http://schemas.microsoft.com/office/drawing/2014/main" id="{CA5DF74E-9C9C-2063-5B3B-E31EBA5058DB}"/>
              </a:ext>
            </a:extLst>
          </p:cNvPr>
          <p:cNvSpPr txBox="1"/>
          <p:nvPr/>
        </p:nvSpPr>
        <p:spPr>
          <a:xfrm>
            <a:off x="8311417" y="2941866"/>
            <a:ext cx="3834175" cy="458715"/>
          </a:xfrm>
          <a:prstGeom prst="rect">
            <a:avLst/>
          </a:prstGeom>
        </p:spPr>
        <p:txBody>
          <a:bodyPr lIns="0" tIns="0" rIns="0" bIns="0" rtlCol="0" anchor="t">
            <a:spAutoFit/>
          </a:bodyPr>
          <a:lstStyle/>
          <a:p>
            <a:pPr algn="ctr">
              <a:lnSpc>
                <a:spcPts val="3742"/>
              </a:lnSpc>
              <a:spcBef>
                <a:spcPct val="0"/>
              </a:spcBef>
            </a:pPr>
            <a:r>
              <a:rPr lang="en-US" sz="2673">
                <a:solidFill>
                  <a:srgbClr val="FFFFFF"/>
                </a:solidFill>
                <a:latin typeface="Poppins"/>
                <a:ea typeface="Poppins"/>
                <a:cs typeface="Poppins"/>
                <a:sym typeface="Poppins"/>
              </a:rPr>
              <a:t>Agentic RAG</a:t>
            </a:r>
          </a:p>
        </p:txBody>
      </p:sp>
      <p:sp>
        <p:nvSpPr>
          <p:cNvPr id="41" name="TextBox 41">
            <a:extLst>
              <a:ext uri="{FF2B5EF4-FFF2-40B4-BE49-F238E27FC236}">
                <a16:creationId xmlns:a16="http://schemas.microsoft.com/office/drawing/2014/main" id="{D21B79C4-AE3F-AE79-AE7B-0089ABB3C442}"/>
              </a:ext>
            </a:extLst>
          </p:cNvPr>
          <p:cNvSpPr txBox="1"/>
          <p:nvPr/>
        </p:nvSpPr>
        <p:spPr>
          <a:xfrm>
            <a:off x="2789448" y="4102205"/>
            <a:ext cx="2770509" cy="352019"/>
          </a:xfrm>
          <a:prstGeom prst="rect">
            <a:avLst/>
          </a:prstGeom>
        </p:spPr>
        <p:txBody>
          <a:bodyPr lIns="0" tIns="0" rIns="0" bIns="0" rtlCol="0" anchor="t">
            <a:spAutoFit/>
          </a:bodyPr>
          <a:lstStyle/>
          <a:p>
            <a:pPr algn="ctr">
              <a:lnSpc>
                <a:spcPts val="2703"/>
              </a:lnSpc>
            </a:pPr>
            <a:r>
              <a:rPr lang="en-US" sz="2400">
                <a:solidFill>
                  <a:srgbClr val="FFFFFF"/>
                </a:solidFill>
                <a:latin typeface="Poppins"/>
                <a:ea typeface="Poppins"/>
                <a:cs typeface="Poppins"/>
                <a:sym typeface="Poppins"/>
              </a:rPr>
              <a:t>Trustworthiness</a:t>
            </a:r>
          </a:p>
        </p:txBody>
      </p:sp>
      <p:sp>
        <p:nvSpPr>
          <p:cNvPr id="42" name="TextBox 42">
            <a:extLst>
              <a:ext uri="{FF2B5EF4-FFF2-40B4-BE49-F238E27FC236}">
                <a16:creationId xmlns:a16="http://schemas.microsoft.com/office/drawing/2014/main" id="{35C2A78D-A5A3-1500-F2E9-7ED9A590ED1B}"/>
              </a:ext>
            </a:extLst>
          </p:cNvPr>
          <p:cNvSpPr txBox="1"/>
          <p:nvPr/>
        </p:nvSpPr>
        <p:spPr>
          <a:xfrm>
            <a:off x="6684932" y="4099277"/>
            <a:ext cx="2770509" cy="355867"/>
          </a:xfrm>
          <a:prstGeom prst="rect">
            <a:avLst/>
          </a:prstGeom>
        </p:spPr>
        <p:txBody>
          <a:bodyPr lIns="0" tIns="0" rIns="0" bIns="0" rtlCol="0" anchor="t">
            <a:spAutoFit/>
          </a:bodyPr>
          <a:lstStyle/>
          <a:p>
            <a:pPr algn="ctr">
              <a:lnSpc>
                <a:spcPts val="2703"/>
              </a:lnSpc>
            </a:pPr>
            <a:r>
              <a:rPr lang="en-US" sz="2500">
                <a:solidFill>
                  <a:srgbClr val="FFFFFF"/>
                </a:solidFill>
                <a:latin typeface="Poppins"/>
                <a:ea typeface="Poppins"/>
                <a:cs typeface="Poppins"/>
                <a:sym typeface="Poppins"/>
              </a:rPr>
              <a:t>Planning</a:t>
            </a:r>
          </a:p>
        </p:txBody>
      </p:sp>
      <p:sp>
        <p:nvSpPr>
          <p:cNvPr id="43" name="TextBox 43">
            <a:extLst>
              <a:ext uri="{FF2B5EF4-FFF2-40B4-BE49-F238E27FC236}">
                <a16:creationId xmlns:a16="http://schemas.microsoft.com/office/drawing/2014/main" id="{BDF1C8A5-4BE3-97C2-EEB4-8D78711BFE09}"/>
              </a:ext>
            </a:extLst>
          </p:cNvPr>
          <p:cNvSpPr txBox="1"/>
          <p:nvPr/>
        </p:nvSpPr>
        <p:spPr>
          <a:xfrm>
            <a:off x="1009437" y="5180784"/>
            <a:ext cx="2950582" cy="419217"/>
          </a:xfrm>
          <a:prstGeom prst="rect">
            <a:avLst/>
          </a:prstGeom>
        </p:spPr>
        <p:txBody>
          <a:bodyPr lIns="0" tIns="0" rIns="0" bIns="0" rtlCol="0" anchor="t">
            <a:spAutoFit/>
          </a:bodyPr>
          <a:lstStyle/>
          <a:p>
            <a:pPr algn="ctr">
              <a:lnSpc>
                <a:spcPts val="3357"/>
              </a:lnSpc>
              <a:spcBef>
                <a:spcPct val="0"/>
              </a:spcBef>
            </a:pPr>
            <a:r>
              <a:rPr lang="en-US" sz="2397">
                <a:solidFill>
                  <a:srgbClr val="FFFFFF"/>
                </a:solidFill>
                <a:latin typeface="Poppins"/>
                <a:ea typeface="Poppins"/>
                <a:cs typeface="Poppins"/>
                <a:sym typeface="Poppins"/>
              </a:rPr>
              <a:t>Multi-agents</a:t>
            </a:r>
          </a:p>
        </p:txBody>
      </p:sp>
      <p:sp>
        <p:nvSpPr>
          <p:cNvPr id="44" name="TextBox 44">
            <a:extLst>
              <a:ext uri="{FF2B5EF4-FFF2-40B4-BE49-F238E27FC236}">
                <a16:creationId xmlns:a16="http://schemas.microsoft.com/office/drawing/2014/main" id="{A78A541A-20A6-29B0-E9BA-C2129DF97E85}"/>
              </a:ext>
            </a:extLst>
          </p:cNvPr>
          <p:cNvSpPr txBox="1"/>
          <p:nvPr/>
        </p:nvSpPr>
        <p:spPr>
          <a:xfrm>
            <a:off x="5012732" y="5180784"/>
            <a:ext cx="2950582" cy="419217"/>
          </a:xfrm>
          <a:prstGeom prst="rect">
            <a:avLst/>
          </a:prstGeom>
        </p:spPr>
        <p:txBody>
          <a:bodyPr lIns="0" tIns="0" rIns="0" bIns="0" rtlCol="0" anchor="t">
            <a:spAutoFit/>
          </a:bodyPr>
          <a:lstStyle/>
          <a:p>
            <a:pPr algn="ctr">
              <a:lnSpc>
                <a:spcPts val="3357"/>
              </a:lnSpc>
              <a:spcBef>
                <a:spcPct val="0"/>
              </a:spcBef>
            </a:pPr>
            <a:r>
              <a:rPr lang="en-US" sz="2397">
                <a:solidFill>
                  <a:srgbClr val="FFFFFF"/>
                </a:solidFill>
                <a:latin typeface="Poppins"/>
                <a:ea typeface="Poppins"/>
                <a:cs typeface="Poppins"/>
                <a:sym typeface="Poppins"/>
              </a:rPr>
              <a:t>Metacognition</a:t>
            </a:r>
          </a:p>
        </p:txBody>
      </p:sp>
      <p:sp>
        <p:nvSpPr>
          <p:cNvPr id="45" name="TextBox 45">
            <a:extLst>
              <a:ext uri="{FF2B5EF4-FFF2-40B4-BE49-F238E27FC236}">
                <a16:creationId xmlns:a16="http://schemas.microsoft.com/office/drawing/2014/main" id="{A2F6C3A0-8598-414C-7CBC-C1DABB72DB4D}"/>
              </a:ext>
            </a:extLst>
          </p:cNvPr>
          <p:cNvSpPr txBox="1"/>
          <p:nvPr/>
        </p:nvSpPr>
        <p:spPr>
          <a:xfrm>
            <a:off x="9022263" y="5092158"/>
            <a:ext cx="2412479" cy="681340"/>
          </a:xfrm>
          <a:prstGeom prst="rect">
            <a:avLst/>
          </a:prstGeom>
        </p:spPr>
        <p:txBody>
          <a:bodyPr lIns="0" tIns="0" rIns="0" bIns="0" rtlCol="0" anchor="t">
            <a:spAutoFit/>
          </a:bodyPr>
          <a:lstStyle/>
          <a:p>
            <a:pPr algn="ctr">
              <a:lnSpc>
                <a:spcPts val="2745"/>
              </a:lnSpc>
            </a:pPr>
            <a:r>
              <a:rPr lang="en-US" sz="1960">
                <a:solidFill>
                  <a:srgbClr val="FFFFFF"/>
                </a:solidFill>
                <a:latin typeface="Poppins"/>
                <a:ea typeface="Poppins"/>
                <a:cs typeface="Poppins"/>
                <a:sym typeface="Poppins"/>
              </a:rPr>
              <a:t>Agents in Production</a:t>
            </a:r>
          </a:p>
        </p:txBody>
      </p:sp>
    </p:spTree>
    <p:extLst>
      <p:ext uri="{BB962C8B-B14F-4D97-AF65-F5344CB8AC3E}">
        <p14:creationId xmlns:p14="http://schemas.microsoft.com/office/powerpoint/2010/main" val="144124860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D9FA9-507C-79E2-0439-0833DDA3A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30CDA-C64D-8EA8-DE32-65EC10F9C189}"/>
              </a:ext>
            </a:extLst>
          </p:cNvPr>
          <p:cNvSpPr>
            <a:spLocks noGrp="1"/>
          </p:cNvSpPr>
          <p:nvPr>
            <p:ph type="title"/>
          </p:nvPr>
        </p:nvSpPr>
        <p:spPr>
          <a:xfrm>
            <a:off x="585215" y="2146826"/>
            <a:ext cx="11805567" cy="1384995"/>
          </a:xfrm>
        </p:spPr>
        <p:txBody>
          <a:bodyPr/>
          <a:lstStyle/>
          <a:p>
            <a:r>
              <a:rPr lang="en-US" sz="5000"/>
              <a:t>Building an agent</a:t>
            </a:r>
            <a:br>
              <a:rPr lang="en-US" sz="5000"/>
            </a:br>
            <a:r>
              <a:rPr lang="en-US" sz="5000"/>
              <a:t>with Microsoft technologies</a:t>
            </a:r>
          </a:p>
        </p:txBody>
      </p:sp>
      <p:sp>
        <p:nvSpPr>
          <p:cNvPr id="6" name="Text Placeholder 5">
            <a:extLst>
              <a:ext uri="{FF2B5EF4-FFF2-40B4-BE49-F238E27FC236}">
                <a16:creationId xmlns:a16="http://schemas.microsoft.com/office/drawing/2014/main" id="{17621FA4-9907-2AD9-A1F1-F18DA994DABE}"/>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4013287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6C481-0F4F-45A8-4A66-7FFD948FB2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364E37-12C5-C2AB-C8B6-A9084FCCC742}"/>
              </a:ext>
            </a:extLst>
          </p:cNvPr>
          <p:cNvSpPr>
            <a:spLocks noGrp="1"/>
          </p:cNvSpPr>
          <p:nvPr>
            <p:ph type="title"/>
          </p:nvPr>
        </p:nvSpPr>
        <p:spPr/>
        <p:txBody>
          <a:bodyPr/>
          <a:lstStyle/>
          <a:p>
            <a:r>
              <a:rPr lang="en-US"/>
              <a:t>Agent components</a:t>
            </a:r>
          </a:p>
        </p:txBody>
      </p:sp>
      <p:graphicFrame>
        <p:nvGraphicFramePr>
          <p:cNvPr id="6" name="Table 5">
            <a:extLst>
              <a:ext uri="{FF2B5EF4-FFF2-40B4-BE49-F238E27FC236}">
                <a16:creationId xmlns:a16="http://schemas.microsoft.com/office/drawing/2014/main" id="{A3733B21-39D7-5BE6-1035-BE0EEEFD32A3}"/>
              </a:ext>
            </a:extLst>
          </p:cNvPr>
          <p:cNvGraphicFramePr>
            <a:graphicFrameLocks noGrp="1"/>
          </p:cNvGraphicFramePr>
          <p:nvPr>
            <p:extLst>
              <p:ext uri="{D42A27DB-BD31-4B8C-83A1-F6EECF244321}">
                <p14:modId xmlns:p14="http://schemas.microsoft.com/office/powerpoint/2010/main" val="3941889595"/>
              </p:ext>
            </p:extLst>
          </p:nvPr>
        </p:nvGraphicFramePr>
        <p:xfrm>
          <a:off x="588262" y="1358435"/>
          <a:ext cx="11471216" cy="5298335"/>
        </p:xfrm>
        <a:graphic>
          <a:graphicData uri="http://schemas.openxmlformats.org/drawingml/2006/table">
            <a:tbl>
              <a:tblPr firstRow="1" bandRow="1">
                <a:tableStyleId>{F5AB1C69-6EDB-4FF4-983F-18BD219EF322}</a:tableStyleId>
              </a:tblPr>
              <a:tblGrid>
                <a:gridCol w="5534242">
                  <a:extLst>
                    <a:ext uri="{9D8B030D-6E8A-4147-A177-3AD203B41FA5}">
                      <a16:colId xmlns:a16="http://schemas.microsoft.com/office/drawing/2014/main" val="461787052"/>
                    </a:ext>
                  </a:extLst>
                </a:gridCol>
                <a:gridCol w="5936974">
                  <a:extLst>
                    <a:ext uri="{9D8B030D-6E8A-4147-A177-3AD203B41FA5}">
                      <a16:colId xmlns:a16="http://schemas.microsoft.com/office/drawing/2014/main" val="2318204061"/>
                    </a:ext>
                  </a:extLst>
                </a:gridCol>
              </a:tblGrid>
              <a:tr h="351283">
                <a:tc>
                  <a:txBody>
                    <a:bodyPr/>
                    <a:lstStyle/>
                    <a:p>
                      <a:r>
                        <a:rPr lang="en-US" sz="2200"/>
                        <a:t>Component</a:t>
                      </a:r>
                    </a:p>
                  </a:txBody>
                  <a:tcPr/>
                </a:tc>
                <a:tc>
                  <a:txBody>
                    <a:bodyPr/>
                    <a:lstStyle/>
                    <a:p>
                      <a:r>
                        <a:rPr lang="en-US" sz="2200"/>
                        <a:t>Options</a:t>
                      </a:r>
                    </a:p>
                  </a:txBody>
                  <a:tcPr/>
                </a:tc>
                <a:extLst>
                  <a:ext uri="{0D108BD9-81ED-4DB2-BD59-A6C34878D82A}">
                    <a16:rowId xmlns:a16="http://schemas.microsoft.com/office/drawing/2014/main" val="75146174"/>
                  </a:ext>
                </a:extLst>
              </a:tr>
              <a:tr h="10920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a:t>LLM</a:t>
                      </a:r>
                      <a:r>
                        <a:rPr lang="en-US" sz="2200"/>
                        <a:t>: The model making all the decisions and generating responses</a:t>
                      </a:r>
                    </a:p>
                  </a:txBody>
                  <a:tcPr/>
                </a:tc>
                <a:tc>
                  <a:txBody>
                    <a:bodyPr/>
                    <a:lstStyle/>
                    <a:p>
                      <a:r>
                        <a:rPr lang="en-US" sz="2200"/>
                        <a:t>Azure OpenAI, Azure AI Model Catalog,</a:t>
                      </a:r>
                    </a:p>
                    <a:p>
                      <a:r>
                        <a:rPr lang="en-US" sz="2200"/>
                        <a:t>GitHub Models, Local Phi models</a:t>
                      </a:r>
                    </a:p>
                  </a:txBody>
                  <a:tcPr/>
                </a:tc>
                <a:extLst>
                  <a:ext uri="{0D108BD9-81ED-4DB2-BD59-A6C34878D82A}">
                    <a16:rowId xmlns:a16="http://schemas.microsoft.com/office/drawing/2014/main" val="1236162622"/>
                  </a:ext>
                </a:extLst>
              </a:tr>
              <a:tr h="1092095">
                <a:tc>
                  <a:txBody>
                    <a:bodyPr/>
                    <a:lstStyle/>
                    <a:p>
                      <a:r>
                        <a:rPr lang="en-US" sz="2200" b="1"/>
                        <a:t>Orchestrator</a:t>
                      </a:r>
                      <a:r>
                        <a:rPr lang="en-US" sz="2200"/>
                        <a:t>: A framework to manage the sequence of calls to LLMs</a:t>
                      </a:r>
                    </a:p>
                  </a:txBody>
                  <a:tcPr/>
                </a:tc>
                <a:tc>
                  <a:txBody>
                    <a:bodyPr/>
                    <a:lstStyle/>
                    <a:p>
                      <a:r>
                        <a:rPr lang="en-US" sz="2200"/>
                        <a:t>Semantic Kernel (Python/C#),</a:t>
                      </a:r>
                    </a:p>
                    <a:p>
                      <a:r>
                        <a:rPr lang="en-US" sz="2200"/>
                        <a:t>AutoGen (Python), Azure AI SDK</a:t>
                      </a:r>
                    </a:p>
                    <a:p>
                      <a:pPr>
                        <a:spcBef>
                          <a:spcPts val="1200"/>
                        </a:spcBef>
                      </a:pPr>
                      <a:r>
                        <a:rPr lang="en-US" sz="2200"/>
                        <a:t>OSS packages with Azure compatibility:</a:t>
                      </a:r>
                    </a:p>
                    <a:p>
                      <a:r>
                        <a:rPr lang="en-US" sz="2200"/>
                        <a:t>Langchain, Llamaindex, CrewAI, ...</a:t>
                      </a:r>
                    </a:p>
                  </a:txBody>
                  <a:tcPr/>
                </a:tc>
                <a:extLst>
                  <a:ext uri="{0D108BD9-81ED-4DB2-BD59-A6C34878D82A}">
                    <a16:rowId xmlns:a16="http://schemas.microsoft.com/office/drawing/2014/main" val="968267010"/>
                  </a:ext>
                </a:extLst>
              </a:tr>
              <a:tr h="10920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a:t>Data stores: </a:t>
                      </a:r>
                      <a:r>
                        <a:rPr lang="en-US" sz="2200"/>
                        <a:t>Places to either retrieve knowledge for LLMs, or store results of agentic workflows</a:t>
                      </a:r>
                    </a:p>
                  </a:txBody>
                  <a:tcPr/>
                </a:tc>
                <a:tc>
                  <a:txBody>
                    <a:bodyPr/>
                    <a:lstStyle/>
                    <a:p>
                      <a:r>
                        <a:rPr lang="en-US" sz="2200"/>
                        <a:t>Azure AI Search, Azure Cosmos DB, </a:t>
                      </a:r>
                    </a:p>
                    <a:p>
                      <a:r>
                        <a:rPr lang="en-US" sz="2200"/>
                        <a:t>Azure Database for PostgreSQL, Azure SQL</a:t>
                      </a:r>
                    </a:p>
                  </a:txBody>
                  <a:tcPr/>
                </a:tc>
                <a:extLst>
                  <a:ext uri="{0D108BD9-81ED-4DB2-BD59-A6C34878D82A}">
                    <a16:rowId xmlns:a16="http://schemas.microsoft.com/office/drawing/2014/main" val="1627411657"/>
                  </a:ext>
                </a:extLst>
              </a:tr>
              <a:tr h="10920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a:t>Tools</a:t>
                      </a:r>
                      <a:r>
                        <a:rPr lang="en-US" sz="2200"/>
                        <a:t>: Services that empower the LLMs with more functionality</a:t>
                      </a:r>
                    </a:p>
                  </a:txBody>
                  <a:tcPr/>
                </a:tc>
                <a:tc>
                  <a:txBody>
                    <a:bodyPr/>
                    <a:lstStyle/>
                    <a:p>
                      <a:r>
                        <a:rPr lang="en-US" sz="2200"/>
                        <a:t>Azure Document Intelligence &amp; Content Understanding, Azure Speech APIs,</a:t>
                      </a:r>
                    </a:p>
                    <a:p>
                      <a:r>
                        <a:rPr lang="en-US" sz="2200"/>
                        <a:t>Bing Search, Azure Communication Services,...</a:t>
                      </a:r>
                    </a:p>
                  </a:txBody>
                  <a:tcPr/>
                </a:tc>
                <a:extLst>
                  <a:ext uri="{0D108BD9-81ED-4DB2-BD59-A6C34878D82A}">
                    <a16:rowId xmlns:a16="http://schemas.microsoft.com/office/drawing/2014/main" val="1367134666"/>
                  </a:ext>
                </a:extLst>
              </a:tr>
            </a:tbl>
          </a:graphicData>
        </a:graphic>
      </p:graphicFrame>
    </p:spTree>
    <p:extLst>
      <p:ext uri="{BB962C8B-B14F-4D97-AF65-F5344CB8AC3E}">
        <p14:creationId xmlns:p14="http://schemas.microsoft.com/office/powerpoint/2010/main" val="91712791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9F142-62C4-9669-00DD-58CDC7C78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FC792-C329-D922-256C-AB4632DBD75E}"/>
              </a:ext>
            </a:extLst>
          </p:cNvPr>
          <p:cNvSpPr>
            <a:spLocks noGrp="1"/>
          </p:cNvSpPr>
          <p:nvPr>
            <p:ph type="title"/>
          </p:nvPr>
        </p:nvSpPr>
        <p:spPr/>
        <p:txBody>
          <a:bodyPr/>
          <a:lstStyle/>
          <a:p>
            <a:r>
              <a:rPr lang="en-US"/>
              <a:t>LLM options</a:t>
            </a:r>
          </a:p>
        </p:txBody>
      </p:sp>
      <p:sp>
        <p:nvSpPr>
          <p:cNvPr id="4" name="TextBox 3">
            <a:extLst>
              <a:ext uri="{FF2B5EF4-FFF2-40B4-BE49-F238E27FC236}">
                <a16:creationId xmlns:a16="http://schemas.microsoft.com/office/drawing/2014/main" id="{F430F1D5-9B18-2858-3FBC-8EB096C1B596}"/>
              </a:ext>
            </a:extLst>
          </p:cNvPr>
          <p:cNvSpPr txBox="1"/>
          <p:nvPr/>
        </p:nvSpPr>
        <p:spPr>
          <a:xfrm>
            <a:off x="789986" y="1496212"/>
            <a:ext cx="4272344" cy="1107996"/>
          </a:xfrm>
          <a:prstGeom prst="rect">
            <a:avLst/>
          </a:prstGeom>
          <a:noFill/>
        </p:spPr>
        <p:txBody>
          <a:bodyPr wrap="square" lIns="0" tIns="0" rIns="0" bIns="0" rtlCol="0">
            <a:spAutoFit/>
          </a:bodyPr>
          <a:lstStyle/>
          <a:p>
            <a:pPr algn="ctr"/>
            <a:r>
              <a:rPr lang="en-US" sz="2400" b="1" err="1"/>
              <a:t>Azure OpenAI</a:t>
            </a:r>
          </a:p>
          <a:p>
            <a:pPr algn="ctr"/>
            <a:r>
              <a:rPr lang="en-US" sz="2400" err="1"/>
              <a:t>Includes gpt-4o, realtime, </a:t>
            </a:r>
          </a:p>
          <a:p>
            <a:pPr algn="ctr"/>
            <a:r>
              <a:rPr lang="en-US" sz="2400" err="1"/>
              <a:t>o3-mini, embedding-3,...</a:t>
            </a:r>
          </a:p>
        </p:txBody>
      </p:sp>
      <p:sp>
        <p:nvSpPr>
          <p:cNvPr id="3" name="TextBox 2">
            <a:extLst>
              <a:ext uri="{FF2B5EF4-FFF2-40B4-BE49-F238E27FC236}">
                <a16:creationId xmlns:a16="http://schemas.microsoft.com/office/drawing/2014/main" id="{605C1803-AE16-6B37-164B-CB8EF03779CE}"/>
              </a:ext>
            </a:extLst>
          </p:cNvPr>
          <p:cNvSpPr txBox="1"/>
          <p:nvPr/>
        </p:nvSpPr>
        <p:spPr>
          <a:xfrm>
            <a:off x="789986" y="3152001"/>
            <a:ext cx="4272344" cy="1846659"/>
          </a:xfrm>
          <a:prstGeom prst="rect">
            <a:avLst/>
          </a:prstGeom>
          <a:noFill/>
        </p:spPr>
        <p:txBody>
          <a:bodyPr wrap="square" lIns="0" tIns="0" rIns="0" bIns="0" rtlCol="0">
            <a:spAutoFit/>
          </a:bodyPr>
          <a:lstStyle/>
          <a:p>
            <a:pPr algn="ctr"/>
            <a:r>
              <a:rPr lang="en-US" sz="2400" b="1" err="1"/>
              <a:t>Azure AI Model Catalog</a:t>
            </a:r>
          </a:p>
          <a:p>
            <a:pPr algn="ctr"/>
            <a:r>
              <a:rPr lang="en-US" sz="2400" err="1"/>
              <a:t>Includes models from DeepSeek, Mistral, Cohere, Jamba, Phi, HuggingFace, ...</a:t>
            </a:r>
          </a:p>
          <a:p>
            <a:pPr algn="ctr"/>
            <a:endParaRPr lang="en-US" sz="2400" b="1" err="1"/>
          </a:p>
        </p:txBody>
      </p:sp>
      <p:sp>
        <p:nvSpPr>
          <p:cNvPr id="7" name="TextBox 6">
            <a:extLst>
              <a:ext uri="{FF2B5EF4-FFF2-40B4-BE49-F238E27FC236}">
                <a16:creationId xmlns:a16="http://schemas.microsoft.com/office/drawing/2014/main" id="{49ACAC32-8D6B-1C9D-8A7F-4A201F490FD6}"/>
              </a:ext>
            </a:extLst>
          </p:cNvPr>
          <p:cNvSpPr txBox="1"/>
          <p:nvPr/>
        </p:nvSpPr>
        <p:spPr>
          <a:xfrm>
            <a:off x="789986" y="5125639"/>
            <a:ext cx="4272344" cy="1477328"/>
          </a:xfrm>
          <a:prstGeom prst="rect">
            <a:avLst/>
          </a:prstGeom>
          <a:noFill/>
        </p:spPr>
        <p:txBody>
          <a:bodyPr wrap="square" lIns="0" tIns="0" rIns="0" bIns="0" rtlCol="0">
            <a:spAutoFit/>
          </a:bodyPr>
          <a:lstStyle/>
          <a:p>
            <a:pPr algn="ctr"/>
            <a:r>
              <a:rPr lang="en-US" sz="2400" b="1" err="1"/>
              <a:t>GitHub Models</a:t>
            </a:r>
            <a:br>
              <a:rPr lang="en-US" sz="2400" b="1" err="1"/>
            </a:br>
            <a:r>
              <a:rPr lang="en-US" sz="2400" err="1"/>
              <a:t>Includes models from DeepSeek, Mistral, Cohere, Jamba, Phi... FOR FREE!</a:t>
            </a:r>
            <a:endParaRPr lang="en-US" sz="2400" b="1" err="1"/>
          </a:p>
        </p:txBody>
      </p:sp>
      <p:sp>
        <p:nvSpPr>
          <p:cNvPr id="9" name="TextBox 8">
            <a:extLst>
              <a:ext uri="{FF2B5EF4-FFF2-40B4-BE49-F238E27FC236}">
                <a16:creationId xmlns:a16="http://schemas.microsoft.com/office/drawing/2014/main" id="{31390B97-45A8-AEEB-48D6-1AB93DBAD577}"/>
              </a:ext>
            </a:extLst>
          </p:cNvPr>
          <p:cNvSpPr txBox="1"/>
          <p:nvPr/>
        </p:nvSpPr>
        <p:spPr>
          <a:xfrm>
            <a:off x="5062330" y="5394354"/>
            <a:ext cx="7129669" cy="738664"/>
          </a:xfrm>
          <a:prstGeom prst="rect">
            <a:avLst/>
          </a:prstGeom>
          <a:solidFill>
            <a:srgbClr val="FFE399"/>
          </a:solidFill>
        </p:spPr>
        <p:txBody>
          <a:bodyPr wrap="square" lIns="0" tIns="0" rIns="0" bIns="0" rtlCol="0">
            <a:spAutoFit/>
          </a:bodyPr>
          <a:lstStyle/>
          <a:p>
            <a:pPr marL="91440">
              <a:spcBef>
                <a:spcPts val="1200"/>
              </a:spcBef>
            </a:pPr>
            <a:r>
              <a:rPr lang="en-US" sz="2400" err="1"/>
              <a:t>"Prototyping AI agents with GitHub Models"</a:t>
            </a:r>
          </a:p>
          <a:p>
            <a:pPr marL="91440"/>
            <a:r>
              <a:rPr lang="en-US" sz="2400" i="1"/>
              <a:t>April 15, Pamela Fox</a:t>
            </a:r>
            <a:endParaRPr lang="en-US" sz="2400" i="1" err="1"/>
          </a:p>
        </p:txBody>
      </p:sp>
      <p:pic>
        <p:nvPicPr>
          <p:cNvPr id="15" name="Graphic 14" descr="Presentation with media outline">
            <a:extLst>
              <a:ext uri="{FF2B5EF4-FFF2-40B4-BE49-F238E27FC236}">
                <a16:creationId xmlns:a16="http://schemas.microsoft.com/office/drawing/2014/main" id="{BDDF2A84-9299-7E51-4A37-F8B3E4ECF1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49583" y="5404654"/>
            <a:ext cx="914400" cy="914400"/>
          </a:xfrm>
          <a:prstGeom prst="rect">
            <a:avLst/>
          </a:prstGeom>
        </p:spPr>
      </p:pic>
      <p:sp>
        <p:nvSpPr>
          <p:cNvPr id="17" name="TextBox 16">
            <a:extLst>
              <a:ext uri="{FF2B5EF4-FFF2-40B4-BE49-F238E27FC236}">
                <a16:creationId xmlns:a16="http://schemas.microsoft.com/office/drawing/2014/main" id="{2652CDC8-F400-A4B4-7BE8-DFEEFA98E791}"/>
              </a:ext>
            </a:extLst>
          </p:cNvPr>
          <p:cNvSpPr txBox="1"/>
          <p:nvPr/>
        </p:nvSpPr>
        <p:spPr>
          <a:xfrm>
            <a:off x="5062331" y="3403790"/>
            <a:ext cx="7129669" cy="1107996"/>
          </a:xfrm>
          <a:prstGeom prst="rect">
            <a:avLst/>
          </a:prstGeom>
          <a:solidFill>
            <a:srgbClr val="FFE399"/>
          </a:solidFill>
        </p:spPr>
        <p:txBody>
          <a:bodyPr wrap="square" lIns="0" tIns="0" rIns="0" bIns="0" rtlCol="0">
            <a:spAutoFit/>
          </a:bodyPr>
          <a:lstStyle/>
          <a:p>
            <a:pPr marL="91440">
              <a:spcBef>
                <a:spcPts val="1200"/>
              </a:spcBef>
            </a:pPr>
            <a:r>
              <a:rPr lang="en-US" sz="2400" err="1"/>
              <a:t>"Building an agent with an army of models"</a:t>
            </a:r>
          </a:p>
          <a:p>
            <a:pPr marL="91440"/>
            <a:r>
              <a:rPr lang="en-US" sz="2400" i="1"/>
              <a:t>April 16</a:t>
            </a:r>
            <a:r>
              <a:rPr lang="en-US" sz="2400" b="0" i="1">
                <a:effectLst/>
              </a:rPr>
              <a:t>, Facundo Santiago</a:t>
            </a:r>
          </a:p>
          <a:p>
            <a:pPr marL="91440"/>
            <a:endParaRPr lang="en-US" sz="2400" err="1"/>
          </a:p>
        </p:txBody>
      </p:sp>
      <p:pic>
        <p:nvPicPr>
          <p:cNvPr id="20" name="Graphic 19" descr="Presentation with media outline">
            <a:extLst>
              <a:ext uri="{FF2B5EF4-FFF2-40B4-BE49-F238E27FC236}">
                <a16:creationId xmlns:a16="http://schemas.microsoft.com/office/drawing/2014/main" id="{B1915914-F91F-FF4B-2446-C5AB66462AF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49584" y="3414090"/>
            <a:ext cx="914400" cy="914400"/>
          </a:xfrm>
          <a:prstGeom prst="rect">
            <a:avLst/>
          </a:prstGeom>
        </p:spPr>
      </p:pic>
      <p:sp>
        <p:nvSpPr>
          <p:cNvPr id="21" name="TextBox 20">
            <a:extLst>
              <a:ext uri="{FF2B5EF4-FFF2-40B4-BE49-F238E27FC236}">
                <a16:creationId xmlns:a16="http://schemas.microsoft.com/office/drawing/2014/main" id="{86558F2B-9293-6A10-9ECD-B629EE3CA317}"/>
              </a:ext>
            </a:extLst>
          </p:cNvPr>
          <p:cNvSpPr txBox="1"/>
          <p:nvPr/>
        </p:nvSpPr>
        <p:spPr>
          <a:xfrm>
            <a:off x="5062331" y="609698"/>
            <a:ext cx="7129669" cy="2369880"/>
          </a:xfrm>
          <a:prstGeom prst="rect">
            <a:avLst/>
          </a:prstGeom>
          <a:solidFill>
            <a:srgbClr val="FFE399"/>
          </a:solidFill>
        </p:spPr>
        <p:txBody>
          <a:bodyPr wrap="square" lIns="0" tIns="0" rIns="0" bIns="0" rtlCol="0">
            <a:spAutoFit/>
          </a:bodyPr>
          <a:lstStyle/>
          <a:p>
            <a:pPr algn="l">
              <a:buNone/>
            </a:pPr>
            <a:r>
              <a:rPr lang="en-US" sz="2400" err="1"/>
              <a:t>"</a:t>
            </a:r>
            <a:r>
              <a:rPr lang="en-US" sz="2400" i="0">
                <a:solidFill>
                  <a:srgbClr val="171717"/>
                </a:solidFill>
                <a:effectLst/>
                <a:latin typeface="Segoe UI" panose="020B0502040204020203" pitchFamily="34" charset="0"/>
              </a:rPr>
              <a:t>Agentic Voice Mode Unplugged</a:t>
            </a:r>
            <a:r>
              <a:rPr lang="en-US" sz="2400" err="1"/>
              <a:t>"</a:t>
            </a:r>
          </a:p>
          <a:p>
            <a:pPr marL="91440"/>
            <a:r>
              <a:rPr lang="en-US" sz="2400" i="1"/>
              <a:t>April 17</a:t>
            </a:r>
            <a:r>
              <a:rPr lang="en-US" sz="2400" i="1">
                <a:effectLst/>
              </a:rPr>
              <a:t>, Seth Juarez</a:t>
            </a:r>
          </a:p>
          <a:p>
            <a:pPr marL="91440">
              <a:spcBef>
                <a:spcPts val="1200"/>
              </a:spcBef>
            </a:pPr>
            <a:r>
              <a:rPr lang="en-US" sz="2400" err="1"/>
              <a:t>"VoiceRAG: talk to your data"</a:t>
            </a:r>
          </a:p>
          <a:p>
            <a:pPr marL="91440"/>
            <a:r>
              <a:rPr lang="en-US" sz="2400" i="1" err="1"/>
              <a:t>April 22, </a:t>
            </a:r>
            <a:r>
              <a:rPr lang="en-US" sz="2400" i="1">
                <a:effectLst/>
              </a:rPr>
              <a:t>Enrique Moreno Cano</a:t>
            </a:r>
          </a:p>
          <a:p>
            <a:pPr marL="91440"/>
            <a:endParaRPr lang="en-US" sz="2400" i="1"/>
          </a:p>
          <a:p>
            <a:pPr marL="91440"/>
            <a:r>
              <a:rPr lang="en-US" sz="2400" i="1">
                <a:effectLst/>
              </a:rPr>
              <a:t>and many more sessions!</a:t>
            </a:r>
          </a:p>
        </p:txBody>
      </p:sp>
      <p:pic>
        <p:nvPicPr>
          <p:cNvPr id="23" name="Graphic 22" descr="Presentation with media outline">
            <a:extLst>
              <a:ext uri="{FF2B5EF4-FFF2-40B4-BE49-F238E27FC236}">
                <a16:creationId xmlns:a16="http://schemas.microsoft.com/office/drawing/2014/main" id="{BE6D16D0-F7F0-E284-4BBB-7DDEB63A64A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47462" y="1352728"/>
            <a:ext cx="914400" cy="914400"/>
          </a:xfrm>
          <a:prstGeom prst="rect">
            <a:avLst/>
          </a:prstGeom>
        </p:spPr>
      </p:pic>
    </p:spTree>
    <p:extLst>
      <p:ext uri="{BB962C8B-B14F-4D97-AF65-F5344CB8AC3E}">
        <p14:creationId xmlns:p14="http://schemas.microsoft.com/office/powerpoint/2010/main" val="800114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E7493-0C33-3A39-5CB0-92EE4754B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A1518-41DB-720F-B862-91DF352613B8}"/>
              </a:ext>
            </a:extLst>
          </p:cNvPr>
          <p:cNvSpPr>
            <a:spLocks noGrp="1"/>
          </p:cNvSpPr>
          <p:nvPr>
            <p:ph type="title"/>
          </p:nvPr>
        </p:nvSpPr>
        <p:spPr/>
        <p:txBody>
          <a:bodyPr/>
          <a:lstStyle/>
          <a:p>
            <a:r>
              <a:rPr lang="en-US"/>
              <a:t>Azure AI Agents Service</a:t>
            </a:r>
          </a:p>
        </p:txBody>
      </p:sp>
      <p:sp>
        <p:nvSpPr>
          <p:cNvPr id="17" name="TextBox 16">
            <a:extLst>
              <a:ext uri="{FF2B5EF4-FFF2-40B4-BE49-F238E27FC236}">
                <a16:creationId xmlns:a16="http://schemas.microsoft.com/office/drawing/2014/main" id="{4DBEFE48-F592-E1C5-FEF7-462F018ED8D2}"/>
              </a:ext>
            </a:extLst>
          </p:cNvPr>
          <p:cNvSpPr txBox="1"/>
          <p:nvPr/>
        </p:nvSpPr>
        <p:spPr>
          <a:xfrm>
            <a:off x="3790123" y="1397674"/>
            <a:ext cx="8401878" cy="4431983"/>
          </a:xfrm>
          <a:prstGeom prst="rect">
            <a:avLst/>
          </a:prstGeom>
          <a:solidFill>
            <a:srgbClr val="FFE399"/>
          </a:solidFill>
        </p:spPr>
        <p:txBody>
          <a:bodyPr wrap="square" lIns="0" tIns="0" rIns="0" bIns="0" rtlCol="0">
            <a:spAutoFit/>
          </a:bodyPr>
          <a:lstStyle/>
          <a:p>
            <a:pPr marL="91440">
              <a:spcBef>
                <a:spcPts val="1200"/>
              </a:spcBef>
            </a:pPr>
            <a:r>
              <a:rPr lang="en-US" sz="2400" err="1"/>
              <a:t>"Build your code-first app with Azure AI Agent Service"</a:t>
            </a:r>
          </a:p>
          <a:p>
            <a:pPr marL="91440"/>
            <a:r>
              <a:rPr lang="en-US" sz="2400" i="1"/>
              <a:t>April 9</a:t>
            </a:r>
            <a:r>
              <a:rPr lang="en-US" sz="2400" b="0" i="1">
                <a:effectLst/>
              </a:rPr>
              <a:t>, 9 AM PT, Carlotta Castelluccio, Marlene Mhangami</a:t>
            </a:r>
          </a:p>
          <a:p>
            <a:pPr marL="91440"/>
            <a:r>
              <a:rPr lang="en-US" sz="2400" i="1"/>
              <a:t>April 9, 3 PM PT, Dave Glover</a:t>
            </a:r>
            <a:endParaRPr lang="en-US" sz="2400" b="0" i="1">
              <a:effectLst/>
            </a:endParaRPr>
          </a:p>
          <a:p>
            <a:pPr marL="91440"/>
            <a:endParaRPr lang="en-US" sz="2400" i="1"/>
          </a:p>
          <a:p>
            <a:pPr marL="91440"/>
            <a:r>
              <a:rPr lang="en-US" sz="2400"/>
              <a:t>"Build your code-first app with Azure AI Agent Service (.NET)"</a:t>
            </a:r>
          </a:p>
          <a:p>
            <a:pPr marL="91440"/>
            <a:r>
              <a:rPr lang="en-US" sz="2400" i="1"/>
              <a:t>April 10, 3 PM PT, Aaron Powell</a:t>
            </a:r>
          </a:p>
          <a:p>
            <a:pPr marL="91440"/>
            <a:endParaRPr lang="en-US" sz="2400" i="1"/>
          </a:p>
          <a:p>
            <a:pPr marL="91440"/>
            <a:r>
              <a:rPr lang="en-US" sz="2400"/>
              <a:t>"Your first AI Agent in JS with Azure AI Agent Service"</a:t>
            </a:r>
          </a:p>
          <a:p>
            <a:pPr marL="91440"/>
            <a:r>
              <a:rPr lang="en-US" sz="2400" i="1"/>
              <a:t>April 15, 7 AM PT, Wassim Chegham</a:t>
            </a:r>
          </a:p>
          <a:p>
            <a:pPr marL="91440"/>
            <a:endParaRPr lang="en-US" sz="2400" b="0" i="1">
              <a:effectLst/>
            </a:endParaRPr>
          </a:p>
          <a:p>
            <a:pPr marL="91440"/>
            <a:r>
              <a:rPr lang="en-US" sz="2400"/>
              <a:t>"Extending AI Agents with Azure Functions"</a:t>
            </a:r>
          </a:p>
          <a:p>
            <a:pPr marL="91440"/>
            <a:r>
              <a:rPr lang="en-US" sz="2400" b="0" i="1">
                <a:effectLst/>
              </a:rPr>
              <a:t>April 24, Eamon O'Reilly, Nick Greenfield</a:t>
            </a:r>
          </a:p>
        </p:txBody>
      </p:sp>
      <p:sp>
        <p:nvSpPr>
          <p:cNvPr id="5" name="TextBox 4">
            <a:extLst>
              <a:ext uri="{FF2B5EF4-FFF2-40B4-BE49-F238E27FC236}">
                <a16:creationId xmlns:a16="http://schemas.microsoft.com/office/drawing/2014/main" id="{2ABF83AA-8589-8C0E-027C-F56311BEF0CD}"/>
              </a:ext>
            </a:extLst>
          </p:cNvPr>
          <p:cNvSpPr txBox="1"/>
          <p:nvPr/>
        </p:nvSpPr>
        <p:spPr>
          <a:xfrm>
            <a:off x="588263" y="1397674"/>
            <a:ext cx="2867614" cy="2215991"/>
          </a:xfrm>
          <a:prstGeom prst="rect">
            <a:avLst/>
          </a:prstGeom>
          <a:noFill/>
        </p:spPr>
        <p:txBody>
          <a:bodyPr wrap="square" lIns="0" tIns="0" rIns="0" bIns="0" rtlCol="0">
            <a:spAutoFit/>
          </a:bodyPr>
          <a:lstStyle/>
          <a:p>
            <a:pPr algn="ctr"/>
            <a:r>
              <a:rPr lang="en-US" sz="2400" err="1"/>
              <a:t>The agents service</a:t>
            </a:r>
          </a:p>
          <a:p>
            <a:pPr algn="ctr"/>
            <a:r>
              <a:rPr lang="en-US" sz="2400" err="1"/>
              <a:t>is part of AI Foundry</a:t>
            </a:r>
          </a:p>
          <a:p>
            <a:pPr algn="ctr"/>
            <a:r>
              <a:rPr lang="en-US" sz="2400" err="1"/>
              <a:t>and makes it easier</a:t>
            </a:r>
          </a:p>
          <a:p>
            <a:pPr algn="ctr"/>
            <a:r>
              <a:rPr lang="en-US" sz="2400" err="1"/>
              <a:t>to use built-in tools</a:t>
            </a:r>
          </a:p>
          <a:p>
            <a:pPr algn="ctr"/>
            <a:r>
              <a:rPr lang="en-US" sz="2400" err="1"/>
              <a:t>and observability to agentic code.</a:t>
            </a:r>
          </a:p>
        </p:txBody>
      </p:sp>
    </p:spTree>
    <p:extLst>
      <p:ext uri="{BB962C8B-B14F-4D97-AF65-F5344CB8AC3E}">
        <p14:creationId xmlns:p14="http://schemas.microsoft.com/office/powerpoint/2010/main" val="3274013754"/>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DB4C2-B2A0-52D3-54A1-478561EB7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6265C7-B420-6BAD-2D0D-DF75A74896FC}"/>
              </a:ext>
            </a:extLst>
          </p:cNvPr>
          <p:cNvSpPr>
            <a:spLocks noGrp="1"/>
          </p:cNvSpPr>
          <p:nvPr>
            <p:ph type="title"/>
          </p:nvPr>
        </p:nvSpPr>
        <p:spPr>
          <a:xfrm>
            <a:off x="588262" y="457200"/>
            <a:ext cx="6726937" cy="1107996"/>
          </a:xfrm>
        </p:spPr>
        <p:txBody>
          <a:bodyPr/>
          <a:lstStyle/>
          <a:p>
            <a:r>
              <a:rPr lang="en-US"/>
              <a:t>Orchestrators from Microsoft</a:t>
            </a:r>
          </a:p>
        </p:txBody>
      </p:sp>
      <p:sp>
        <p:nvSpPr>
          <p:cNvPr id="4" name="TextBox 3">
            <a:extLst>
              <a:ext uri="{FF2B5EF4-FFF2-40B4-BE49-F238E27FC236}">
                <a16:creationId xmlns:a16="http://schemas.microsoft.com/office/drawing/2014/main" id="{7C590B44-6B0C-5D86-73FD-CC9200BA5D4B}"/>
              </a:ext>
            </a:extLst>
          </p:cNvPr>
          <p:cNvSpPr txBox="1"/>
          <p:nvPr/>
        </p:nvSpPr>
        <p:spPr>
          <a:xfrm>
            <a:off x="588263" y="1526504"/>
            <a:ext cx="2817546" cy="738664"/>
          </a:xfrm>
          <a:prstGeom prst="rect">
            <a:avLst/>
          </a:prstGeom>
          <a:noFill/>
        </p:spPr>
        <p:txBody>
          <a:bodyPr wrap="square" lIns="0" tIns="0" rIns="0" bIns="0" rtlCol="0">
            <a:spAutoFit/>
          </a:bodyPr>
          <a:lstStyle/>
          <a:p>
            <a:pPr algn="ctr"/>
            <a:r>
              <a:rPr lang="en-US" sz="2400" b="1" err="1"/>
              <a:t>Semantic Kernel</a:t>
            </a:r>
          </a:p>
          <a:p>
            <a:pPr algn="ctr"/>
            <a:r>
              <a:rPr lang="en-US" sz="2400" err="1"/>
              <a:t>Python and C#</a:t>
            </a:r>
          </a:p>
        </p:txBody>
      </p:sp>
      <p:sp>
        <p:nvSpPr>
          <p:cNvPr id="9" name="TextBox 8">
            <a:extLst>
              <a:ext uri="{FF2B5EF4-FFF2-40B4-BE49-F238E27FC236}">
                <a16:creationId xmlns:a16="http://schemas.microsoft.com/office/drawing/2014/main" id="{F5CB52C7-768E-9839-0B55-C4E5E367A555}"/>
              </a:ext>
            </a:extLst>
          </p:cNvPr>
          <p:cNvSpPr txBox="1"/>
          <p:nvPr/>
        </p:nvSpPr>
        <p:spPr>
          <a:xfrm>
            <a:off x="3405810" y="5394354"/>
            <a:ext cx="8786190" cy="1107996"/>
          </a:xfrm>
          <a:prstGeom prst="rect">
            <a:avLst/>
          </a:prstGeom>
          <a:solidFill>
            <a:srgbClr val="FFE399"/>
          </a:solidFill>
        </p:spPr>
        <p:txBody>
          <a:bodyPr wrap="square" lIns="0" tIns="0" rIns="0" bIns="0" rtlCol="0">
            <a:spAutoFit/>
          </a:bodyPr>
          <a:lstStyle/>
          <a:p>
            <a:pPr marL="91440">
              <a:spcBef>
                <a:spcPts val="1200"/>
              </a:spcBef>
            </a:pPr>
            <a:r>
              <a:rPr lang="en-US" sz="2400" err="1"/>
              <a:t>"Building Agentic Applications with AutoGen v0.4"</a:t>
            </a:r>
          </a:p>
          <a:p>
            <a:pPr marL="91440"/>
            <a:r>
              <a:rPr lang="en-US" sz="2400" i="1"/>
              <a:t>April 15</a:t>
            </a:r>
            <a:r>
              <a:rPr lang="en-US" sz="2400" b="0" i="1">
                <a:effectLst/>
              </a:rPr>
              <a:t>, Jack Gerrits, Eric Zhu</a:t>
            </a:r>
          </a:p>
          <a:p>
            <a:pPr marL="91440"/>
            <a:endParaRPr lang="en-US" sz="2400" err="1"/>
          </a:p>
        </p:txBody>
      </p:sp>
      <p:pic>
        <p:nvPicPr>
          <p:cNvPr id="20" name="Graphic 19" descr="Presentation with media outline">
            <a:extLst>
              <a:ext uri="{FF2B5EF4-FFF2-40B4-BE49-F238E27FC236}">
                <a16:creationId xmlns:a16="http://schemas.microsoft.com/office/drawing/2014/main" id="{AD7BBD5D-1E91-71C6-99D0-C0EB47EA94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49584" y="3414090"/>
            <a:ext cx="914400" cy="914400"/>
          </a:xfrm>
          <a:prstGeom prst="rect">
            <a:avLst/>
          </a:prstGeom>
        </p:spPr>
      </p:pic>
      <p:sp>
        <p:nvSpPr>
          <p:cNvPr id="21" name="TextBox 20">
            <a:extLst>
              <a:ext uri="{FF2B5EF4-FFF2-40B4-BE49-F238E27FC236}">
                <a16:creationId xmlns:a16="http://schemas.microsoft.com/office/drawing/2014/main" id="{371403DA-3CA6-E5A7-72CE-BB45C6C05276}"/>
              </a:ext>
            </a:extLst>
          </p:cNvPr>
          <p:cNvSpPr txBox="1"/>
          <p:nvPr/>
        </p:nvSpPr>
        <p:spPr>
          <a:xfrm>
            <a:off x="3414225" y="1383547"/>
            <a:ext cx="8656053" cy="3477875"/>
          </a:xfrm>
          <a:prstGeom prst="rect">
            <a:avLst/>
          </a:prstGeom>
          <a:solidFill>
            <a:srgbClr val="FFE399"/>
          </a:solidFill>
        </p:spPr>
        <p:txBody>
          <a:bodyPr wrap="square" lIns="0" tIns="0" rIns="0" bIns="0" rtlCol="0">
            <a:spAutoFit/>
          </a:bodyPr>
          <a:lstStyle/>
          <a:p>
            <a:pPr algn="l">
              <a:buNone/>
            </a:pPr>
            <a:r>
              <a:rPr lang="en-US" sz="2400" err="1"/>
              <a:t>"Transforming business processes with multi-agent AI using Semantic Kernel"</a:t>
            </a:r>
          </a:p>
          <a:p>
            <a:pPr marL="91440"/>
            <a:r>
              <a:rPr lang="en-US" sz="2400" i="1"/>
              <a:t>April 10</a:t>
            </a:r>
            <a:r>
              <a:rPr lang="en-US" sz="2400" i="1">
                <a:effectLst/>
              </a:rPr>
              <a:t>, Shawn Henry</a:t>
            </a:r>
          </a:p>
          <a:p>
            <a:pPr marL="91440">
              <a:spcBef>
                <a:spcPts val="1200"/>
              </a:spcBef>
            </a:pPr>
            <a:r>
              <a:rPr lang="en-US" sz="2400" err="1"/>
              <a:t>"Multi-agent AI with Semantic Kernel + Azure Cosmos DB"</a:t>
            </a:r>
          </a:p>
          <a:p>
            <a:pPr marL="91440"/>
            <a:r>
              <a:rPr lang="en-US" sz="2400" i="1" err="1"/>
              <a:t>April 16, </a:t>
            </a:r>
            <a:r>
              <a:rPr lang="en-US" sz="2400" i="1">
                <a:effectLst/>
              </a:rPr>
              <a:t>Sajeetharan Sinnathurai, Abhishek Gupta</a:t>
            </a:r>
          </a:p>
          <a:p>
            <a:pPr marL="91440"/>
            <a:endParaRPr lang="en-US" sz="2400" i="1"/>
          </a:p>
          <a:p>
            <a:pPr marL="91440"/>
            <a:r>
              <a:rPr lang="en-US" sz="2400">
                <a:effectLst/>
              </a:rPr>
              <a:t>"Multi-Agent solutions with SignalR, gRPC, and HTTP using Semantic Kernel"</a:t>
            </a:r>
          </a:p>
          <a:p>
            <a:pPr marL="91440"/>
            <a:r>
              <a:rPr lang="en-US" sz="2400" i="1"/>
              <a:t>April 22, Brandon Hurlburt</a:t>
            </a:r>
            <a:endParaRPr lang="en-US" sz="2400" i="1">
              <a:effectLst/>
            </a:endParaRPr>
          </a:p>
        </p:txBody>
      </p:sp>
      <p:sp>
        <p:nvSpPr>
          <p:cNvPr id="6" name="TextBox 5">
            <a:extLst>
              <a:ext uri="{FF2B5EF4-FFF2-40B4-BE49-F238E27FC236}">
                <a16:creationId xmlns:a16="http://schemas.microsoft.com/office/drawing/2014/main" id="{4BDBB7FA-5E75-6B10-2D7D-7B48B2E077B8}"/>
              </a:ext>
            </a:extLst>
          </p:cNvPr>
          <p:cNvSpPr txBox="1"/>
          <p:nvPr/>
        </p:nvSpPr>
        <p:spPr>
          <a:xfrm>
            <a:off x="609931" y="5404654"/>
            <a:ext cx="2817546" cy="738664"/>
          </a:xfrm>
          <a:prstGeom prst="rect">
            <a:avLst/>
          </a:prstGeom>
          <a:noFill/>
        </p:spPr>
        <p:txBody>
          <a:bodyPr wrap="square" lIns="0" tIns="0" rIns="0" bIns="0" rtlCol="0">
            <a:spAutoFit/>
          </a:bodyPr>
          <a:lstStyle/>
          <a:p>
            <a:pPr algn="ctr"/>
            <a:r>
              <a:rPr lang="en-US" sz="2400" b="1" err="1"/>
              <a:t>AutoGen</a:t>
            </a:r>
          </a:p>
          <a:p>
            <a:pPr algn="ctr"/>
            <a:r>
              <a:rPr lang="en-US" sz="2400" err="1"/>
              <a:t>Python</a:t>
            </a:r>
          </a:p>
        </p:txBody>
      </p:sp>
    </p:spTree>
    <p:extLst>
      <p:ext uri="{BB962C8B-B14F-4D97-AF65-F5344CB8AC3E}">
        <p14:creationId xmlns:p14="http://schemas.microsoft.com/office/powerpoint/2010/main" val="273099491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0F12C-5D49-D03E-CF92-0250DA50F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DE745-5A1E-C3C7-00D3-2566CDCE47AD}"/>
              </a:ext>
            </a:extLst>
          </p:cNvPr>
          <p:cNvSpPr>
            <a:spLocks noGrp="1"/>
          </p:cNvSpPr>
          <p:nvPr>
            <p:ph type="title"/>
          </p:nvPr>
        </p:nvSpPr>
        <p:spPr>
          <a:xfrm>
            <a:off x="588262" y="457200"/>
            <a:ext cx="9841199" cy="553998"/>
          </a:xfrm>
        </p:spPr>
        <p:txBody>
          <a:bodyPr/>
          <a:lstStyle/>
          <a:p>
            <a:r>
              <a:rPr lang="en-US"/>
              <a:t>OSS orchestrators</a:t>
            </a:r>
          </a:p>
        </p:txBody>
      </p:sp>
      <p:sp>
        <p:nvSpPr>
          <p:cNvPr id="4" name="TextBox 3">
            <a:extLst>
              <a:ext uri="{FF2B5EF4-FFF2-40B4-BE49-F238E27FC236}">
                <a16:creationId xmlns:a16="http://schemas.microsoft.com/office/drawing/2014/main" id="{122F796C-CC4B-21FC-F134-3CD84F2A3839}"/>
              </a:ext>
            </a:extLst>
          </p:cNvPr>
          <p:cNvSpPr txBox="1"/>
          <p:nvPr/>
        </p:nvSpPr>
        <p:spPr>
          <a:xfrm>
            <a:off x="588263" y="1526504"/>
            <a:ext cx="2380224" cy="1107996"/>
          </a:xfrm>
          <a:prstGeom prst="rect">
            <a:avLst/>
          </a:prstGeom>
          <a:noFill/>
        </p:spPr>
        <p:txBody>
          <a:bodyPr wrap="square" lIns="0" tIns="0" rIns="0" bIns="0" rtlCol="0">
            <a:spAutoFit/>
          </a:bodyPr>
          <a:lstStyle/>
          <a:p>
            <a:pPr algn="ctr"/>
            <a:r>
              <a:rPr lang="en-US" sz="2400" b="1" err="1"/>
              <a:t>Llamaindex</a:t>
            </a:r>
          </a:p>
          <a:p>
            <a:pPr algn="ctr"/>
            <a:r>
              <a:rPr lang="en-US" sz="2400" err="1"/>
              <a:t>Python + JS</a:t>
            </a:r>
          </a:p>
          <a:p>
            <a:pPr algn="ctr"/>
            <a:r>
              <a:rPr lang="en-US" sz="2400" err="1"/>
              <a:t>(Talk only in JS)</a:t>
            </a:r>
          </a:p>
        </p:txBody>
      </p:sp>
      <p:sp>
        <p:nvSpPr>
          <p:cNvPr id="9" name="TextBox 8">
            <a:extLst>
              <a:ext uri="{FF2B5EF4-FFF2-40B4-BE49-F238E27FC236}">
                <a16:creationId xmlns:a16="http://schemas.microsoft.com/office/drawing/2014/main" id="{77EACEFC-5529-96B0-EA65-2C40F03C994F}"/>
              </a:ext>
            </a:extLst>
          </p:cNvPr>
          <p:cNvSpPr txBox="1"/>
          <p:nvPr/>
        </p:nvSpPr>
        <p:spPr>
          <a:xfrm>
            <a:off x="2968487" y="3135716"/>
            <a:ext cx="9223511" cy="2215991"/>
          </a:xfrm>
          <a:prstGeom prst="rect">
            <a:avLst/>
          </a:prstGeom>
          <a:solidFill>
            <a:srgbClr val="FFE399"/>
          </a:solidFill>
        </p:spPr>
        <p:txBody>
          <a:bodyPr wrap="square" lIns="0" tIns="0" rIns="0" bIns="0" rtlCol="0">
            <a:spAutoFit/>
          </a:bodyPr>
          <a:lstStyle/>
          <a:p>
            <a:pPr marL="91440">
              <a:spcBef>
                <a:spcPts val="1200"/>
              </a:spcBef>
            </a:pPr>
            <a:r>
              <a:rPr lang="en-US" sz="2400" err="1"/>
              <a:t>"Building Java AI Agents using LangChain4j and Dynamic Sessions"</a:t>
            </a:r>
          </a:p>
          <a:p>
            <a:pPr marL="91440"/>
            <a:r>
              <a:rPr lang="en-US" sz="2400" i="1"/>
              <a:t>April 17</a:t>
            </a:r>
            <a:r>
              <a:rPr lang="en-US" sz="2400" b="0" i="1">
                <a:effectLst/>
              </a:rPr>
              <a:t>, Brian Benz</a:t>
            </a:r>
          </a:p>
          <a:p>
            <a:pPr marL="91440"/>
            <a:endParaRPr lang="en-US" sz="2400" i="1"/>
          </a:p>
          <a:p>
            <a:pPr marL="91440"/>
            <a:r>
              <a:rPr lang="en-US" sz="2400" b="0">
                <a:effectLst/>
              </a:rPr>
              <a:t>"Multi-agent API with LangGraph and Azure Cosmos DB"</a:t>
            </a:r>
          </a:p>
          <a:p>
            <a:pPr marL="91440"/>
            <a:r>
              <a:rPr lang="en-US" sz="2400" i="1" err="1"/>
              <a:t>April 16, Aayush Kataria, James Codella, Theo van Kraay</a:t>
            </a:r>
          </a:p>
          <a:p>
            <a:pPr marL="91440"/>
            <a:endParaRPr lang="en-US" sz="2400" err="1"/>
          </a:p>
        </p:txBody>
      </p:sp>
      <p:sp>
        <p:nvSpPr>
          <p:cNvPr id="21" name="TextBox 20">
            <a:extLst>
              <a:ext uri="{FF2B5EF4-FFF2-40B4-BE49-F238E27FC236}">
                <a16:creationId xmlns:a16="http://schemas.microsoft.com/office/drawing/2014/main" id="{73D3C7AC-93CA-CBEC-3D06-85DAF7FE0724}"/>
              </a:ext>
            </a:extLst>
          </p:cNvPr>
          <p:cNvSpPr txBox="1"/>
          <p:nvPr/>
        </p:nvSpPr>
        <p:spPr>
          <a:xfrm>
            <a:off x="2968487" y="1531825"/>
            <a:ext cx="9101791" cy="1107996"/>
          </a:xfrm>
          <a:prstGeom prst="rect">
            <a:avLst/>
          </a:prstGeom>
          <a:solidFill>
            <a:srgbClr val="FFE399"/>
          </a:solidFill>
        </p:spPr>
        <p:txBody>
          <a:bodyPr wrap="square" lIns="0" tIns="0" rIns="0" bIns="0" rtlCol="0">
            <a:spAutoFit/>
          </a:bodyPr>
          <a:lstStyle/>
          <a:p>
            <a:pPr algn="l">
              <a:buNone/>
            </a:pPr>
            <a:r>
              <a:rPr lang="en-US" sz="2400" err="1"/>
              <a:t>"Knowledge-augmented agents with LlamaIndex.TS"</a:t>
            </a:r>
          </a:p>
          <a:p>
            <a:pPr marL="91440"/>
            <a:r>
              <a:rPr lang="en-US" sz="2400" i="1"/>
              <a:t>April 21, Laurie Voss</a:t>
            </a:r>
          </a:p>
          <a:p>
            <a:pPr marL="91440"/>
            <a:endParaRPr lang="en-US" sz="2400" i="1">
              <a:effectLst/>
            </a:endParaRPr>
          </a:p>
        </p:txBody>
      </p:sp>
      <p:sp>
        <p:nvSpPr>
          <p:cNvPr id="6" name="TextBox 5">
            <a:extLst>
              <a:ext uri="{FF2B5EF4-FFF2-40B4-BE49-F238E27FC236}">
                <a16:creationId xmlns:a16="http://schemas.microsoft.com/office/drawing/2014/main" id="{739D7914-C994-E51F-C993-FDA475C1C63B}"/>
              </a:ext>
            </a:extLst>
          </p:cNvPr>
          <p:cNvSpPr txBox="1"/>
          <p:nvPr/>
        </p:nvSpPr>
        <p:spPr>
          <a:xfrm>
            <a:off x="588262" y="3088061"/>
            <a:ext cx="2380225" cy="1846659"/>
          </a:xfrm>
          <a:prstGeom prst="rect">
            <a:avLst/>
          </a:prstGeom>
          <a:noFill/>
        </p:spPr>
        <p:txBody>
          <a:bodyPr wrap="square" lIns="0" tIns="0" rIns="0" bIns="0" rtlCol="0">
            <a:spAutoFit/>
          </a:bodyPr>
          <a:lstStyle/>
          <a:p>
            <a:pPr algn="ctr"/>
            <a:r>
              <a:rPr lang="en-US" sz="2400" b="1" err="1"/>
              <a:t>Langchain</a:t>
            </a:r>
          </a:p>
          <a:p>
            <a:pPr algn="ctr"/>
            <a:r>
              <a:rPr lang="en-US" sz="2400" err="1"/>
              <a:t>Python,</a:t>
            </a:r>
          </a:p>
          <a:p>
            <a:pPr algn="ctr"/>
            <a:r>
              <a:rPr lang="en-US" sz="2400" err="1"/>
              <a:t>JS,</a:t>
            </a:r>
          </a:p>
          <a:p>
            <a:pPr algn="ctr"/>
            <a:r>
              <a:rPr lang="en-US" sz="2400" err="1"/>
              <a:t>and Java</a:t>
            </a:r>
          </a:p>
          <a:p>
            <a:pPr algn="ctr"/>
            <a:r>
              <a:rPr lang="en-US" sz="2400" err="1"/>
              <a:t>versions</a:t>
            </a:r>
          </a:p>
        </p:txBody>
      </p:sp>
    </p:spTree>
    <p:extLst>
      <p:ext uri="{BB962C8B-B14F-4D97-AF65-F5344CB8AC3E}">
        <p14:creationId xmlns:p14="http://schemas.microsoft.com/office/powerpoint/2010/main" val="2858740665"/>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50072-39C6-C4F2-19FB-159CF99C5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3BE21E-A614-9F04-3BBF-471390932CD0}"/>
              </a:ext>
            </a:extLst>
          </p:cNvPr>
          <p:cNvSpPr>
            <a:spLocks noGrp="1"/>
          </p:cNvSpPr>
          <p:nvPr>
            <p:ph type="title"/>
          </p:nvPr>
        </p:nvSpPr>
        <p:spPr>
          <a:xfrm>
            <a:off x="588262" y="457200"/>
            <a:ext cx="9841199" cy="553998"/>
          </a:xfrm>
        </p:spPr>
        <p:txBody>
          <a:bodyPr/>
          <a:lstStyle/>
          <a:p>
            <a:r>
              <a:rPr lang="en-US"/>
              <a:t>Data stores</a:t>
            </a:r>
          </a:p>
        </p:txBody>
      </p:sp>
      <p:sp>
        <p:nvSpPr>
          <p:cNvPr id="4" name="TextBox 3">
            <a:extLst>
              <a:ext uri="{FF2B5EF4-FFF2-40B4-BE49-F238E27FC236}">
                <a16:creationId xmlns:a16="http://schemas.microsoft.com/office/drawing/2014/main" id="{C02CC31F-29A5-03D9-61EC-7B6419E28C15}"/>
              </a:ext>
            </a:extLst>
          </p:cNvPr>
          <p:cNvSpPr txBox="1"/>
          <p:nvPr/>
        </p:nvSpPr>
        <p:spPr>
          <a:xfrm>
            <a:off x="588263" y="1445641"/>
            <a:ext cx="2380224" cy="738664"/>
          </a:xfrm>
          <a:prstGeom prst="rect">
            <a:avLst/>
          </a:prstGeom>
          <a:noFill/>
        </p:spPr>
        <p:txBody>
          <a:bodyPr wrap="square" lIns="0" tIns="0" rIns="0" bIns="0" rtlCol="0">
            <a:spAutoFit/>
          </a:bodyPr>
          <a:lstStyle/>
          <a:p>
            <a:pPr algn="ctr"/>
            <a:r>
              <a:rPr lang="en-US" sz="2400" b="1" err="1"/>
              <a:t>Azure</a:t>
            </a:r>
          </a:p>
          <a:p>
            <a:pPr algn="ctr"/>
            <a:r>
              <a:rPr lang="en-US" sz="2400" b="1" err="1"/>
              <a:t>Cosmos DB</a:t>
            </a:r>
          </a:p>
        </p:txBody>
      </p:sp>
      <p:sp>
        <p:nvSpPr>
          <p:cNvPr id="21" name="TextBox 20">
            <a:extLst>
              <a:ext uri="{FF2B5EF4-FFF2-40B4-BE49-F238E27FC236}">
                <a16:creationId xmlns:a16="http://schemas.microsoft.com/office/drawing/2014/main" id="{B0163F78-0352-5EF6-7542-1FBB53E72A41}"/>
              </a:ext>
            </a:extLst>
          </p:cNvPr>
          <p:cNvSpPr txBox="1"/>
          <p:nvPr/>
        </p:nvSpPr>
        <p:spPr>
          <a:xfrm>
            <a:off x="2968487" y="1187652"/>
            <a:ext cx="9101791" cy="1846659"/>
          </a:xfrm>
          <a:prstGeom prst="rect">
            <a:avLst/>
          </a:prstGeom>
          <a:solidFill>
            <a:srgbClr val="FFE399"/>
          </a:solidFill>
        </p:spPr>
        <p:txBody>
          <a:bodyPr wrap="square" lIns="0" tIns="0" rIns="0" bIns="0" rtlCol="0">
            <a:spAutoFit/>
          </a:bodyPr>
          <a:lstStyle/>
          <a:p>
            <a:pPr marL="91440">
              <a:spcBef>
                <a:spcPts val="1200"/>
              </a:spcBef>
            </a:pPr>
            <a:r>
              <a:rPr lang="en-US" sz="2400" err="1"/>
              <a:t>"Multi-agent AI with Semantic Kernel + Azure Cosmos DB"</a:t>
            </a:r>
          </a:p>
          <a:p>
            <a:pPr marL="91440"/>
            <a:r>
              <a:rPr lang="en-US" sz="2400" i="1" err="1"/>
              <a:t>April 16, </a:t>
            </a:r>
            <a:r>
              <a:rPr lang="en-US" sz="2400" i="1">
                <a:effectLst/>
              </a:rPr>
              <a:t>Sajeetharan Sinnathurai, Abhishek Gupta</a:t>
            </a:r>
            <a:br>
              <a:rPr lang="en-US" sz="2400" i="1">
                <a:effectLst/>
              </a:rPr>
            </a:br>
            <a:br>
              <a:rPr lang="en-US" sz="2400" i="1">
                <a:effectLst/>
              </a:rPr>
            </a:br>
            <a:r>
              <a:rPr lang="en-US" sz="2400" b="0">
                <a:effectLst/>
              </a:rPr>
              <a:t>"Multi-agent API with LangGraph and Azure Cosmos DB"</a:t>
            </a:r>
          </a:p>
          <a:p>
            <a:pPr marL="91440"/>
            <a:r>
              <a:rPr lang="en-US" sz="2400" i="1" err="1"/>
              <a:t>April 16, Aayush Kataria, James Codella, Theo van Kraay</a:t>
            </a:r>
            <a:endParaRPr lang="en-US" sz="2400" i="1">
              <a:effectLst/>
            </a:endParaRPr>
          </a:p>
        </p:txBody>
      </p:sp>
      <p:sp>
        <p:nvSpPr>
          <p:cNvPr id="3" name="TextBox 2">
            <a:extLst>
              <a:ext uri="{FF2B5EF4-FFF2-40B4-BE49-F238E27FC236}">
                <a16:creationId xmlns:a16="http://schemas.microsoft.com/office/drawing/2014/main" id="{140D9A3D-97E5-56B5-718E-6F96E25DBC88}"/>
              </a:ext>
            </a:extLst>
          </p:cNvPr>
          <p:cNvSpPr txBox="1"/>
          <p:nvPr/>
        </p:nvSpPr>
        <p:spPr>
          <a:xfrm>
            <a:off x="2968489" y="3468754"/>
            <a:ext cx="9223511" cy="2677656"/>
          </a:xfrm>
          <a:prstGeom prst="rect">
            <a:avLst/>
          </a:prstGeom>
          <a:solidFill>
            <a:srgbClr val="FFE399"/>
          </a:solidFill>
        </p:spPr>
        <p:txBody>
          <a:bodyPr wrap="square" lIns="0" tIns="0" rIns="0" bIns="0" rtlCol="0">
            <a:spAutoFit/>
          </a:bodyPr>
          <a:lstStyle/>
          <a:p>
            <a:pPr marL="91440">
              <a:spcBef>
                <a:spcPts val="1200"/>
              </a:spcBef>
            </a:pPr>
            <a:r>
              <a:rPr lang="en-US" sz="2400" err="1"/>
              <a:t>"Mastering Agentic RAG"</a:t>
            </a:r>
          </a:p>
          <a:p>
            <a:pPr marL="91440"/>
            <a:r>
              <a:rPr lang="en-US" sz="2400" i="1"/>
              <a:t>April 16, Farzad Sunavala</a:t>
            </a:r>
          </a:p>
          <a:p>
            <a:pPr marL="91440">
              <a:spcBef>
                <a:spcPts val="1800"/>
              </a:spcBef>
            </a:pPr>
            <a:r>
              <a:rPr lang="en-US" sz="2400" err="1"/>
              <a:t>"VoiceRAG: talk to your data"</a:t>
            </a:r>
          </a:p>
          <a:p>
            <a:pPr marL="91440"/>
            <a:r>
              <a:rPr lang="en-US" sz="2400" i="1" err="1"/>
              <a:t>April 22, </a:t>
            </a:r>
            <a:r>
              <a:rPr lang="en-US" sz="2400" i="1">
                <a:effectLst/>
              </a:rPr>
              <a:t>Enrique Moreno Cano</a:t>
            </a:r>
            <a:endParaRPr lang="en-US" sz="2400" b="0" i="1">
              <a:effectLst/>
            </a:endParaRPr>
          </a:p>
          <a:p>
            <a:pPr marL="91440">
              <a:spcBef>
                <a:spcPts val="1800"/>
              </a:spcBef>
            </a:pPr>
            <a:r>
              <a:rPr lang="en-US" sz="2400" err="1"/>
              <a:t>"Agentic RAG with reflection"</a:t>
            </a:r>
          </a:p>
          <a:p>
            <a:pPr marL="91440"/>
            <a:r>
              <a:rPr lang="en-US" sz="2400" i="1"/>
              <a:t>April 23, Matt Gotteiner</a:t>
            </a:r>
            <a:endParaRPr lang="en-US" sz="2400" b="0" i="1">
              <a:effectLst/>
            </a:endParaRPr>
          </a:p>
        </p:txBody>
      </p:sp>
      <p:sp>
        <p:nvSpPr>
          <p:cNvPr id="7" name="TextBox 6">
            <a:extLst>
              <a:ext uri="{FF2B5EF4-FFF2-40B4-BE49-F238E27FC236}">
                <a16:creationId xmlns:a16="http://schemas.microsoft.com/office/drawing/2014/main" id="{9FFF0726-3FA4-FA29-0AC2-CC938D2049EF}"/>
              </a:ext>
            </a:extLst>
          </p:cNvPr>
          <p:cNvSpPr txBox="1"/>
          <p:nvPr/>
        </p:nvSpPr>
        <p:spPr>
          <a:xfrm>
            <a:off x="588261" y="3468754"/>
            <a:ext cx="2380225" cy="738664"/>
          </a:xfrm>
          <a:prstGeom prst="rect">
            <a:avLst/>
          </a:prstGeom>
          <a:noFill/>
        </p:spPr>
        <p:txBody>
          <a:bodyPr wrap="square" lIns="0" tIns="0" rIns="0" bIns="0" rtlCol="0">
            <a:spAutoFit/>
          </a:bodyPr>
          <a:lstStyle/>
          <a:p>
            <a:pPr algn="ctr"/>
            <a:r>
              <a:rPr lang="en-US" sz="2400" b="1" err="1"/>
              <a:t>Azure </a:t>
            </a:r>
          </a:p>
          <a:p>
            <a:pPr algn="ctr"/>
            <a:r>
              <a:rPr lang="en-US" sz="2400" b="1" err="1"/>
              <a:t>AI Search</a:t>
            </a:r>
            <a:endParaRPr lang="en-US" sz="2400" err="1"/>
          </a:p>
        </p:txBody>
      </p:sp>
    </p:spTree>
    <p:extLst>
      <p:ext uri="{BB962C8B-B14F-4D97-AF65-F5344CB8AC3E}">
        <p14:creationId xmlns:p14="http://schemas.microsoft.com/office/powerpoint/2010/main" val="2811041294"/>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AF9E1-3FAF-3BA8-34EF-F3811D9BF4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AA62A6-C052-0364-3BF4-B571F6F2ECEC}"/>
              </a:ext>
            </a:extLst>
          </p:cNvPr>
          <p:cNvSpPr>
            <a:spLocks noGrp="1"/>
          </p:cNvSpPr>
          <p:nvPr>
            <p:ph type="title"/>
          </p:nvPr>
        </p:nvSpPr>
        <p:spPr>
          <a:xfrm>
            <a:off x="588262" y="457200"/>
            <a:ext cx="9841199" cy="553998"/>
          </a:xfrm>
        </p:spPr>
        <p:txBody>
          <a:bodyPr/>
          <a:lstStyle/>
          <a:p>
            <a:r>
              <a:rPr lang="en-US"/>
              <a:t>Data stores (SQL)</a:t>
            </a:r>
          </a:p>
        </p:txBody>
      </p:sp>
      <p:sp>
        <p:nvSpPr>
          <p:cNvPr id="9" name="TextBox 8">
            <a:extLst>
              <a:ext uri="{FF2B5EF4-FFF2-40B4-BE49-F238E27FC236}">
                <a16:creationId xmlns:a16="http://schemas.microsoft.com/office/drawing/2014/main" id="{04DD88D6-159C-B813-E9EF-B1B688E6B767}"/>
              </a:ext>
            </a:extLst>
          </p:cNvPr>
          <p:cNvSpPr txBox="1"/>
          <p:nvPr/>
        </p:nvSpPr>
        <p:spPr>
          <a:xfrm>
            <a:off x="2968487" y="1543013"/>
            <a:ext cx="9223511" cy="1107996"/>
          </a:xfrm>
          <a:prstGeom prst="rect">
            <a:avLst/>
          </a:prstGeom>
          <a:solidFill>
            <a:srgbClr val="FFE399"/>
          </a:solidFill>
        </p:spPr>
        <p:txBody>
          <a:bodyPr wrap="square" lIns="0" tIns="0" rIns="0" bIns="0" rtlCol="0">
            <a:spAutoFit/>
          </a:bodyPr>
          <a:lstStyle/>
          <a:p>
            <a:pPr marL="91440">
              <a:spcBef>
                <a:spcPts val="1200"/>
              </a:spcBef>
            </a:pPr>
            <a:r>
              <a:rPr lang="en-US" sz="2400" err="1"/>
              <a:t>"Demystifying Agents: Building an AI Agent from Scratch on Your Own Data using Azure SQL"</a:t>
            </a:r>
          </a:p>
          <a:p>
            <a:pPr marL="91440"/>
            <a:r>
              <a:rPr lang="en-US" sz="2400" i="1"/>
              <a:t>April 22, Davide Mauri</a:t>
            </a:r>
            <a:endParaRPr lang="en-US" sz="2400" b="0" i="1">
              <a:effectLst/>
            </a:endParaRPr>
          </a:p>
        </p:txBody>
      </p:sp>
      <p:sp>
        <p:nvSpPr>
          <p:cNvPr id="6" name="TextBox 5">
            <a:extLst>
              <a:ext uri="{FF2B5EF4-FFF2-40B4-BE49-F238E27FC236}">
                <a16:creationId xmlns:a16="http://schemas.microsoft.com/office/drawing/2014/main" id="{481F171E-A68B-A7D9-4332-1A7318733529}"/>
              </a:ext>
            </a:extLst>
          </p:cNvPr>
          <p:cNvSpPr txBox="1"/>
          <p:nvPr/>
        </p:nvSpPr>
        <p:spPr>
          <a:xfrm>
            <a:off x="588262" y="1616338"/>
            <a:ext cx="2380225" cy="369332"/>
          </a:xfrm>
          <a:prstGeom prst="rect">
            <a:avLst/>
          </a:prstGeom>
          <a:noFill/>
        </p:spPr>
        <p:txBody>
          <a:bodyPr wrap="square" lIns="0" tIns="0" rIns="0" bIns="0" rtlCol="0">
            <a:spAutoFit/>
          </a:bodyPr>
          <a:lstStyle/>
          <a:p>
            <a:pPr algn="ctr"/>
            <a:r>
              <a:rPr lang="en-US" sz="2400" b="1" err="1"/>
              <a:t>Azure SQL</a:t>
            </a:r>
            <a:endParaRPr lang="en-US" sz="2400" err="1"/>
          </a:p>
        </p:txBody>
      </p:sp>
      <p:sp>
        <p:nvSpPr>
          <p:cNvPr id="3" name="TextBox 2">
            <a:extLst>
              <a:ext uri="{FF2B5EF4-FFF2-40B4-BE49-F238E27FC236}">
                <a16:creationId xmlns:a16="http://schemas.microsoft.com/office/drawing/2014/main" id="{2ECD5F1D-597D-3FE8-1CB6-0CB1ED957FF9}"/>
              </a:ext>
            </a:extLst>
          </p:cNvPr>
          <p:cNvSpPr txBox="1"/>
          <p:nvPr/>
        </p:nvSpPr>
        <p:spPr>
          <a:xfrm>
            <a:off x="2968489" y="3098996"/>
            <a:ext cx="9223511" cy="1631216"/>
          </a:xfrm>
          <a:prstGeom prst="rect">
            <a:avLst/>
          </a:prstGeom>
          <a:solidFill>
            <a:srgbClr val="FFE399"/>
          </a:solidFill>
        </p:spPr>
        <p:txBody>
          <a:bodyPr wrap="square" lIns="0" tIns="0" rIns="0" bIns="0" rtlCol="0">
            <a:spAutoFit/>
          </a:bodyPr>
          <a:lstStyle/>
          <a:p>
            <a:pPr marL="91440">
              <a:spcBef>
                <a:spcPts val="1200"/>
              </a:spcBef>
            </a:pPr>
            <a:r>
              <a:rPr lang="en-US" sz="2400" err="1"/>
              <a:t>"Building Multi-Agent Apps on top of Azure PostgreSQL"</a:t>
            </a:r>
          </a:p>
          <a:p>
            <a:pPr marL="91440"/>
            <a:r>
              <a:rPr lang="en-US" sz="2400" i="1"/>
              <a:t>April 23, Arnaud Comet, Mehrsa Golestaneh</a:t>
            </a:r>
            <a:endParaRPr lang="en-US" sz="2400" b="0" i="1">
              <a:effectLst/>
            </a:endParaRPr>
          </a:p>
          <a:p>
            <a:pPr marL="91440">
              <a:spcBef>
                <a:spcPts val="1200"/>
              </a:spcBef>
            </a:pPr>
            <a:r>
              <a:rPr lang="en-US" sz="2400" err="1"/>
              <a:t>"Multi-source data patterns for modern RAG apps"</a:t>
            </a:r>
          </a:p>
          <a:p>
            <a:pPr marL="91440"/>
            <a:r>
              <a:rPr lang="en-US" sz="2400" i="1"/>
              <a:t>April 23, Gary Hope</a:t>
            </a:r>
            <a:endParaRPr lang="en-US" sz="2400" b="0" i="1">
              <a:effectLst/>
            </a:endParaRPr>
          </a:p>
        </p:txBody>
      </p:sp>
      <p:sp>
        <p:nvSpPr>
          <p:cNvPr id="7" name="TextBox 6">
            <a:extLst>
              <a:ext uri="{FF2B5EF4-FFF2-40B4-BE49-F238E27FC236}">
                <a16:creationId xmlns:a16="http://schemas.microsoft.com/office/drawing/2014/main" id="{2AC4C3B2-8F19-3F31-BCBA-F09E91F0F14C}"/>
              </a:ext>
            </a:extLst>
          </p:cNvPr>
          <p:cNvSpPr txBox="1"/>
          <p:nvPr/>
        </p:nvSpPr>
        <p:spPr>
          <a:xfrm>
            <a:off x="588261" y="3098996"/>
            <a:ext cx="2380225" cy="1107996"/>
          </a:xfrm>
          <a:prstGeom prst="rect">
            <a:avLst/>
          </a:prstGeom>
          <a:noFill/>
        </p:spPr>
        <p:txBody>
          <a:bodyPr wrap="square" lIns="0" tIns="0" rIns="0" bIns="0" rtlCol="0">
            <a:spAutoFit/>
          </a:bodyPr>
          <a:lstStyle/>
          <a:p>
            <a:pPr algn="ctr"/>
            <a:r>
              <a:rPr lang="en-US" sz="2400" b="1" err="1"/>
              <a:t>Azure </a:t>
            </a:r>
          </a:p>
          <a:p>
            <a:pPr algn="ctr"/>
            <a:r>
              <a:rPr lang="en-US" sz="2400" b="1" err="1"/>
              <a:t>Database for </a:t>
            </a:r>
          </a:p>
          <a:p>
            <a:pPr algn="ctr"/>
            <a:r>
              <a:rPr lang="en-US" sz="2400" b="1" err="1"/>
              <a:t>PostgreSQL</a:t>
            </a:r>
            <a:endParaRPr lang="en-US" sz="2400" err="1"/>
          </a:p>
        </p:txBody>
      </p:sp>
    </p:spTree>
    <p:extLst>
      <p:ext uri="{BB962C8B-B14F-4D97-AF65-F5344CB8AC3E}">
        <p14:creationId xmlns:p14="http://schemas.microsoft.com/office/powerpoint/2010/main" val="837273654"/>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C2992-5432-5380-6AC9-431A7B70992D}"/>
              </a:ext>
            </a:extLst>
          </p:cNvPr>
          <p:cNvSpPr>
            <a:spLocks noGrp="1"/>
          </p:cNvSpPr>
          <p:nvPr>
            <p:ph type="title"/>
          </p:nvPr>
        </p:nvSpPr>
        <p:spPr/>
        <p:txBody>
          <a:bodyPr/>
          <a:lstStyle/>
          <a:p>
            <a:r>
              <a:rPr lang="en-US"/>
              <a:t>Where will the agent live? </a:t>
            </a:r>
          </a:p>
        </p:txBody>
      </p:sp>
      <p:pic>
        <p:nvPicPr>
          <p:cNvPr id="1026" name="Picture 2">
            <a:extLst>
              <a:ext uri="{FF2B5EF4-FFF2-40B4-BE49-F238E27FC236}">
                <a16:creationId xmlns:a16="http://schemas.microsoft.com/office/drawing/2014/main" id="{E716CE62-3D23-A4B0-6CE4-68C267AF38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495" t="14745" r="33264" b="10338"/>
          <a:stretch/>
        </p:blipFill>
        <p:spPr bwMode="auto">
          <a:xfrm>
            <a:off x="588263" y="2015770"/>
            <a:ext cx="5704314" cy="423666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E0A51A3-C0D4-8665-E447-6DD3DFDCCA10}"/>
              </a:ext>
            </a:extLst>
          </p:cNvPr>
          <p:cNvSpPr txBox="1"/>
          <p:nvPr/>
        </p:nvSpPr>
        <p:spPr>
          <a:xfrm>
            <a:off x="988768" y="1450741"/>
            <a:ext cx="4903304" cy="369332"/>
          </a:xfrm>
          <a:prstGeom prst="rect">
            <a:avLst/>
          </a:prstGeom>
          <a:noFill/>
        </p:spPr>
        <p:txBody>
          <a:bodyPr wrap="square" lIns="0" tIns="0" rIns="0" bIns="0" rtlCol="0">
            <a:spAutoFit/>
          </a:bodyPr>
          <a:lstStyle/>
          <a:p>
            <a:pPr algn="ctr"/>
            <a:r>
              <a:rPr lang="en-US" sz="2400" err="1"/>
              <a:t>Embedded agents in Microsoft 365</a:t>
            </a:r>
          </a:p>
        </p:txBody>
      </p:sp>
      <p:sp>
        <p:nvSpPr>
          <p:cNvPr id="5" name="TextBox 4">
            <a:extLst>
              <a:ext uri="{FF2B5EF4-FFF2-40B4-BE49-F238E27FC236}">
                <a16:creationId xmlns:a16="http://schemas.microsoft.com/office/drawing/2014/main" id="{0D9F9C53-02EC-9189-8C51-05D5C829DCC2}"/>
              </a:ext>
            </a:extLst>
          </p:cNvPr>
          <p:cNvSpPr txBox="1"/>
          <p:nvPr/>
        </p:nvSpPr>
        <p:spPr>
          <a:xfrm>
            <a:off x="7143553" y="1450741"/>
            <a:ext cx="4903304" cy="369332"/>
          </a:xfrm>
          <a:prstGeom prst="rect">
            <a:avLst/>
          </a:prstGeom>
          <a:noFill/>
        </p:spPr>
        <p:txBody>
          <a:bodyPr wrap="square" lIns="0" tIns="0" rIns="0" bIns="0" rtlCol="0">
            <a:spAutoFit/>
          </a:bodyPr>
          <a:lstStyle/>
          <a:p>
            <a:pPr algn="ctr"/>
            <a:r>
              <a:rPr lang="en-US" sz="2400" err="1"/>
              <a:t>Deployed agents in Azure cloud</a:t>
            </a:r>
          </a:p>
        </p:txBody>
      </p:sp>
      <p:sp>
        <p:nvSpPr>
          <p:cNvPr id="6" name="TextBox 5">
            <a:extLst>
              <a:ext uri="{FF2B5EF4-FFF2-40B4-BE49-F238E27FC236}">
                <a16:creationId xmlns:a16="http://schemas.microsoft.com/office/drawing/2014/main" id="{2458C79A-4263-4495-D3AB-CD23714E0629}"/>
              </a:ext>
            </a:extLst>
          </p:cNvPr>
          <p:cNvSpPr txBox="1"/>
          <p:nvPr/>
        </p:nvSpPr>
        <p:spPr>
          <a:xfrm>
            <a:off x="9822162" y="3496437"/>
            <a:ext cx="1861087" cy="307777"/>
          </a:xfrm>
          <a:prstGeom prst="rect">
            <a:avLst/>
          </a:prstGeom>
          <a:noFill/>
        </p:spPr>
        <p:txBody>
          <a:bodyPr wrap="none" lIns="0" tIns="0" rIns="0" bIns="0" rtlCol="0">
            <a:spAutoFit/>
          </a:bodyPr>
          <a:lstStyle/>
          <a:p>
            <a:pPr algn="l"/>
            <a:r>
              <a:rPr lang="en-US" sz="2000" b="1" err="1"/>
              <a:t>Container Apps</a:t>
            </a:r>
          </a:p>
        </p:txBody>
      </p:sp>
      <p:pic>
        <p:nvPicPr>
          <p:cNvPr id="8" name="Graphic 7">
            <a:extLst>
              <a:ext uri="{FF2B5EF4-FFF2-40B4-BE49-F238E27FC236}">
                <a16:creationId xmlns:a16="http://schemas.microsoft.com/office/drawing/2014/main" id="{44E99EDE-3AAE-D8B6-62B5-F69ACEB15D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98157" y="2182035"/>
            <a:ext cx="1246965" cy="1246965"/>
          </a:xfrm>
          <a:prstGeom prst="rect">
            <a:avLst/>
          </a:prstGeom>
        </p:spPr>
      </p:pic>
      <p:pic>
        <p:nvPicPr>
          <p:cNvPr id="10" name="Graphic 9">
            <a:extLst>
              <a:ext uri="{FF2B5EF4-FFF2-40B4-BE49-F238E27FC236}">
                <a16:creationId xmlns:a16="http://schemas.microsoft.com/office/drawing/2014/main" id="{E1CABA4C-19E1-1587-EA51-7DA067945F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2492" y="2148315"/>
            <a:ext cx="1314403" cy="1314403"/>
          </a:xfrm>
          <a:prstGeom prst="rect">
            <a:avLst/>
          </a:prstGeom>
        </p:spPr>
      </p:pic>
      <p:sp>
        <p:nvSpPr>
          <p:cNvPr id="11" name="TextBox 10">
            <a:extLst>
              <a:ext uri="{FF2B5EF4-FFF2-40B4-BE49-F238E27FC236}">
                <a16:creationId xmlns:a16="http://schemas.microsoft.com/office/drawing/2014/main" id="{6100D7D1-3613-00B5-AB9E-E81340398C37}"/>
              </a:ext>
            </a:extLst>
          </p:cNvPr>
          <p:cNvSpPr txBox="1"/>
          <p:nvPr/>
        </p:nvSpPr>
        <p:spPr>
          <a:xfrm>
            <a:off x="7802492" y="3516902"/>
            <a:ext cx="1440138" cy="307777"/>
          </a:xfrm>
          <a:prstGeom prst="rect">
            <a:avLst/>
          </a:prstGeom>
          <a:noFill/>
        </p:spPr>
        <p:txBody>
          <a:bodyPr wrap="none" lIns="0" tIns="0" rIns="0" bIns="0" rtlCol="0">
            <a:spAutoFit/>
          </a:bodyPr>
          <a:lstStyle/>
          <a:p>
            <a:pPr algn="l"/>
            <a:r>
              <a:rPr lang="en-US" sz="2000" b="1" err="1"/>
              <a:t>App Service</a:t>
            </a:r>
          </a:p>
        </p:txBody>
      </p:sp>
      <p:pic>
        <p:nvPicPr>
          <p:cNvPr id="13" name="Graphic 12">
            <a:extLst>
              <a:ext uri="{FF2B5EF4-FFF2-40B4-BE49-F238E27FC236}">
                <a16:creationId xmlns:a16="http://schemas.microsoft.com/office/drawing/2014/main" id="{3B275989-BE1F-6ADE-C736-1B5082B9975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45790" y="4382776"/>
            <a:ext cx="1371105" cy="1371105"/>
          </a:xfrm>
          <a:prstGeom prst="rect">
            <a:avLst/>
          </a:prstGeom>
        </p:spPr>
      </p:pic>
      <p:sp>
        <p:nvSpPr>
          <p:cNvPr id="14" name="TextBox 13">
            <a:extLst>
              <a:ext uri="{FF2B5EF4-FFF2-40B4-BE49-F238E27FC236}">
                <a16:creationId xmlns:a16="http://schemas.microsoft.com/office/drawing/2014/main" id="{2B57BD79-ECB9-D4D7-0B8D-C2B3564FEEF6}"/>
              </a:ext>
            </a:extLst>
          </p:cNvPr>
          <p:cNvSpPr txBox="1"/>
          <p:nvPr/>
        </p:nvSpPr>
        <p:spPr>
          <a:xfrm>
            <a:off x="7367405" y="5883968"/>
            <a:ext cx="2310312" cy="307777"/>
          </a:xfrm>
          <a:prstGeom prst="rect">
            <a:avLst/>
          </a:prstGeom>
          <a:noFill/>
        </p:spPr>
        <p:txBody>
          <a:bodyPr wrap="none" lIns="0" tIns="0" rIns="0" bIns="0" rtlCol="0">
            <a:spAutoFit/>
          </a:bodyPr>
          <a:lstStyle/>
          <a:p>
            <a:pPr algn="l"/>
            <a:r>
              <a:rPr lang="en-US" sz="2000" b="1" err="1"/>
              <a:t>Kubernetes Service</a:t>
            </a:r>
          </a:p>
        </p:txBody>
      </p:sp>
      <p:pic>
        <p:nvPicPr>
          <p:cNvPr id="18" name="Graphic 17">
            <a:extLst>
              <a:ext uri="{FF2B5EF4-FFF2-40B4-BE49-F238E27FC236}">
                <a16:creationId xmlns:a16="http://schemas.microsoft.com/office/drawing/2014/main" id="{54136DD7-C6E4-920A-4AA1-6411FF3BCB2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945756" y="4292445"/>
            <a:ext cx="1551765" cy="1551765"/>
          </a:xfrm>
          <a:prstGeom prst="rect">
            <a:avLst/>
          </a:prstGeom>
        </p:spPr>
      </p:pic>
      <p:sp>
        <p:nvSpPr>
          <p:cNvPr id="19" name="TextBox 18">
            <a:extLst>
              <a:ext uri="{FF2B5EF4-FFF2-40B4-BE49-F238E27FC236}">
                <a16:creationId xmlns:a16="http://schemas.microsoft.com/office/drawing/2014/main" id="{AEC47F7C-0894-75BF-247A-30BCFD4C112E}"/>
              </a:ext>
            </a:extLst>
          </p:cNvPr>
          <p:cNvSpPr txBox="1"/>
          <p:nvPr/>
        </p:nvSpPr>
        <p:spPr>
          <a:xfrm>
            <a:off x="10181342" y="5844210"/>
            <a:ext cx="1163780" cy="307777"/>
          </a:xfrm>
          <a:prstGeom prst="rect">
            <a:avLst/>
          </a:prstGeom>
          <a:noFill/>
        </p:spPr>
        <p:txBody>
          <a:bodyPr wrap="square" lIns="0" tIns="0" rIns="0" bIns="0" rtlCol="0">
            <a:spAutoFit/>
          </a:bodyPr>
          <a:lstStyle/>
          <a:p>
            <a:pPr algn="l"/>
            <a:r>
              <a:rPr lang="en-US" sz="2000" b="1" err="1"/>
              <a:t>Functions</a:t>
            </a:r>
          </a:p>
        </p:txBody>
      </p:sp>
      <p:sp>
        <p:nvSpPr>
          <p:cNvPr id="21" name="TextBox 20">
            <a:extLst>
              <a:ext uri="{FF2B5EF4-FFF2-40B4-BE49-F238E27FC236}">
                <a16:creationId xmlns:a16="http://schemas.microsoft.com/office/drawing/2014/main" id="{1C09CE1B-6ABF-0ABD-2155-CA027AA50AA0}"/>
              </a:ext>
            </a:extLst>
          </p:cNvPr>
          <p:cNvSpPr txBox="1"/>
          <p:nvPr/>
        </p:nvSpPr>
        <p:spPr>
          <a:xfrm>
            <a:off x="588263" y="6336634"/>
            <a:ext cx="5852294" cy="369332"/>
          </a:xfrm>
          <a:prstGeom prst="rect">
            <a:avLst/>
          </a:prstGeom>
          <a:noFill/>
        </p:spPr>
        <p:txBody>
          <a:bodyPr wrap="square">
            <a:spAutoFit/>
          </a:bodyPr>
          <a:lstStyle/>
          <a:p>
            <a:r>
              <a:rPr lang="en-US">
                <a:hlinkClick r:id="rId11"/>
              </a:rPr>
              <a:t>https://developer.microsoft.com/reactor/series/S-1505</a:t>
            </a:r>
            <a:endParaRPr lang="en-US"/>
          </a:p>
        </p:txBody>
      </p:sp>
    </p:spTree>
    <p:extLst>
      <p:ext uri="{BB962C8B-B14F-4D97-AF65-F5344CB8AC3E}">
        <p14:creationId xmlns:p14="http://schemas.microsoft.com/office/powerpoint/2010/main" val="651955116"/>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0BD6D-A702-B828-82A5-ECA766651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41949D-6BA7-FB5D-7BF8-D972A7AEC1A8}"/>
              </a:ext>
            </a:extLst>
          </p:cNvPr>
          <p:cNvSpPr>
            <a:spLocks noGrp="1"/>
          </p:cNvSpPr>
          <p:nvPr>
            <p:ph type="title"/>
          </p:nvPr>
        </p:nvSpPr>
        <p:spPr>
          <a:xfrm>
            <a:off x="588262" y="457200"/>
            <a:ext cx="9841199" cy="553998"/>
          </a:xfrm>
        </p:spPr>
        <p:txBody>
          <a:bodyPr/>
          <a:lstStyle/>
          <a:p>
            <a:r>
              <a:rPr lang="en-US"/>
              <a:t>Microsoft 365 Copilot Agents</a:t>
            </a:r>
          </a:p>
        </p:txBody>
      </p:sp>
      <p:sp>
        <p:nvSpPr>
          <p:cNvPr id="9" name="TextBox 8">
            <a:extLst>
              <a:ext uri="{FF2B5EF4-FFF2-40B4-BE49-F238E27FC236}">
                <a16:creationId xmlns:a16="http://schemas.microsoft.com/office/drawing/2014/main" id="{4C4FE738-A65E-4090-ACD6-E890A5B3E375}"/>
              </a:ext>
            </a:extLst>
          </p:cNvPr>
          <p:cNvSpPr txBox="1"/>
          <p:nvPr/>
        </p:nvSpPr>
        <p:spPr>
          <a:xfrm>
            <a:off x="3882887" y="1543013"/>
            <a:ext cx="8309111" cy="3693319"/>
          </a:xfrm>
          <a:prstGeom prst="rect">
            <a:avLst/>
          </a:prstGeom>
          <a:solidFill>
            <a:srgbClr val="FFE399"/>
          </a:solidFill>
        </p:spPr>
        <p:txBody>
          <a:bodyPr wrap="square" lIns="0" tIns="0" rIns="0" bIns="0" rtlCol="0">
            <a:spAutoFit/>
          </a:bodyPr>
          <a:lstStyle/>
          <a:p>
            <a:pPr marL="91440">
              <a:spcBef>
                <a:spcPts val="1200"/>
              </a:spcBef>
            </a:pPr>
            <a:r>
              <a:rPr lang="en-US" sz="2400" err="1"/>
              <a:t>"Build and extend agents for Microsoft 365 Copilot"</a:t>
            </a:r>
          </a:p>
          <a:p>
            <a:pPr marL="91440"/>
            <a:r>
              <a:rPr lang="en-US" sz="2400" i="1"/>
              <a:t>April 10, Kamal Shree, Paolo Pialorsi</a:t>
            </a:r>
          </a:p>
          <a:p>
            <a:pPr marL="91440"/>
            <a:endParaRPr lang="en-US" sz="2400" b="0" i="1">
              <a:effectLst/>
            </a:endParaRPr>
          </a:p>
          <a:p>
            <a:pPr marL="91440"/>
            <a:r>
              <a:rPr lang="en-US" sz="2400" b="0">
                <a:effectLst/>
              </a:rPr>
              <a:t>"Building custom engine agents with Azure AI Foundry and Visual Studio Code"</a:t>
            </a:r>
          </a:p>
          <a:p>
            <a:pPr marL="91440"/>
            <a:r>
              <a:rPr lang="en-US" sz="2400" b="0" i="1">
                <a:effectLst/>
              </a:rPr>
              <a:t>April 14, Ayca Bas</a:t>
            </a:r>
          </a:p>
          <a:p>
            <a:pPr marL="91440"/>
            <a:endParaRPr lang="en-US" sz="2400" i="1"/>
          </a:p>
          <a:p>
            <a:pPr marL="91440"/>
            <a:r>
              <a:rPr lang="en-US" sz="2400" b="0">
                <a:effectLst/>
              </a:rPr>
              <a:t>"Building Declarative Agents with Microsoft Copilot Studio &amp; Teams Toolkit"</a:t>
            </a:r>
          </a:p>
          <a:p>
            <a:pPr marL="91440"/>
            <a:r>
              <a:rPr lang="en-US" sz="2400" i="1"/>
              <a:t>April 16, Daniel Laskewitz, Garry Trinder</a:t>
            </a:r>
            <a:endParaRPr lang="en-US" sz="2400" b="0" i="1">
              <a:effectLst/>
            </a:endParaRPr>
          </a:p>
        </p:txBody>
      </p:sp>
      <p:sp>
        <p:nvSpPr>
          <p:cNvPr id="6" name="TextBox 5">
            <a:extLst>
              <a:ext uri="{FF2B5EF4-FFF2-40B4-BE49-F238E27FC236}">
                <a16:creationId xmlns:a16="http://schemas.microsoft.com/office/drawing/2014/main" id="{184E2508-853D-796A-2331-8088F74C7F90}"/>
              </a:ext>
            </a:extLst>
          </p:cNvPr>
          <p:cNvSpPr txBox="1"/>
          <p:nvPr/>
        </p:nvSpPr>
        <p:spPr>
          <a:xfrm>
            <a:off x="588261" y="1543013"/>
            <a:ext cx="3175355" cy="1846659"/>
          </a:xfrm>
          <a:prstGeom prst="rect">
            <a:avLst/>
          </a:prstGeom>
          <a:noFill/>
        </p:spPr>
        <p:txBody>
          <a:bodyPr wrap="square" lIns="0" tIns="0" rIns="0" bIns="0" rtlCol="0">
            <a:spAutoFit/>
          </a:bodyPr>
          <a:lstStyle/>
          <a:p>
            <a:r>
              <a:rPr lang="en-US" sz="2400" err="1"/>
              <a:t>Use either </a:t>
            </a:r>
          </a:p>
          <a:p>
            <a:r>
              <a:rPr lang="en-US" sz="2400" err="1"/>
              <a:t>Copilot Studio</a:t>
            </a:r>
          </a:p>
          <a:p>
            <a:r>
              <a:rPr lang="en-US" sz="2400" err="1"/>
              <a:t>or 365 Agents SDK</a:t>
            </a:r>
          </a:p>
          <a:p>
            <a:r>
              <a:rPr lang="en-US" sz="2400" err="1"/>
              <a:t>to build agents embedded in M365.</a:t>
            </a:r>
          </a:p>
        </p:txBody>
      </p:sp>
    </p:spTree>
    <p:extLst>
      <p:ext uri="{BB962C8B-B14F-4D97-AF65-F5344CB8AC3E}">
        <p14:creationId xmlns:p14="http://schemas.microsoft.com/office/powerpoint/2010/main" val="2030884697"/>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13970-8AF7-D3FF-AA1C-F2D39C7E6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EA348-FA32-996D-C60D-B0E2E8F39151}"/>
              </a:ext>
            </a:extLst>
          </p:cNvPr>
          <p:cNvSpPr>
            <a:spLocks noGrp="1"/>
          </p:cNvSpPr>
          <p:nvPr>
            <p:ph type="title"/>
          </p:nvPr>
        </p:nvSpPr>
        <p:spPr>
          <a:xfrm>
            <a:off x="588262" y="457200"/>
            <a:ext cx="9841199" cy="553998"/>
          </a:xfrm>
        </p:spPr>
        <p:txBody>
          <a:bodyPr/>
          <a:lstStyle/>
          <a:p>
            <a:r>
              <a:rPr lang="en-US"/>
              <a:t>Deployed agents in Azure Cloud</a:t>
            </a:r>
          </a:p>
        </p:txBody>
      </p:sp>
      <p:sp>
        <p:nvSpPr>
          <p:cNvPr id="9" name="TextBox 8">
            <a:extLst>
              <a:ext uri="{FF2B5EF4-FFF2-40B4-BE49-F238E27FC236}">
                <a16:creationId xmlns:a16="http://schemas.microsoft.com/office/drawing/2014/main" id="{E75BA3FC-4798-DAB8-6BB1-52D1B4FD76E3}"/>
              </a:ext>
            </a:extLst>
          </p:cNvPr>
          <p:cNvSpPr txBox="1"/>
          <p:nvPr/>
        </p:nvSpPr>
        <p:spPr>
          <a:xfrm>
            <a:off x="3882887" y="1543013"/>
            <a:ext cx="8309111" cy="738664"/>
          </a:xfrm>
          <a:prstGeom prst="rect">
            <a:avLst/>
          </a:prstGeom>
          <a:solidFill>
            <a:srgbClr val="FFE399"/>
          </a:solidFill>
        </p:spPr>
        <p:txBody>
          <a:bodyPr wrap="square" lIns="0" tIns="0" rIns="0" bIns="0" rtlCol="0">
            <a:spAutoFit/>
          </a:bodyPr>
          <a:lstStyle/>
          <a:p>
            <a:pPr marL="91440"/>
            <a:r>
              <a:rPr lang="en-US" sz="2400"/>
              <a:t>"Extending AI Agents with Azure Functions"</a:t>
            </a:r>
          </a:p>
          <a:p>
            <a:pPr marL="91440"/>
            <a:r>
              <a:rPr lang="en-US" sz="2400" b="0" i="1">
                <a:effectLst/>
              </a:rPr>
              <a:t>April 24, Eamon O'Reilly, Nick Greenfield</a:t>
            </a:r>
          </a:p>
        </p:txBody>
      </p:sp>
      <p:sp>
        <p:nvSpPr>
          <p:cNvPr id="6" name="TextBox 5">
            <a:extLst>
              <a:ext uri="{FF2B5EF4-FFF2-40B4-BE49-F238E27FC236}">
                <a16:creationId xmlns:a16="http://schemas.microsoft.com/office/drawing/2014/main" id="{3746C0E8-E4F5-7700-42C8-092D335FD147}"/>
              </a:ext>
            </a:extLst>
          </p:cNvPr>
          <p:cNvSpPr txBox="1"/>
          <p:nvPr/>
        </p:nvSpPr>
        <p:spPr>
          <a:xfrm>
            <a:off x="588261" y="1543013"/>
            <a:ext cx="3175355" cy="369332"/>
          </a:xfrm>
          <a:prstGeom prst="rect">
            <a:avLst/>
          </a:prstGeom>
          <a:noFill/>
        </p:spPr>
        <p:txBody>
          <a:bodyPr wrap="square" lIns="0" tIns="0" rIns="0" bIns="0" rtlCol="0">
            <a:spAutoFit/>
          </a:bodyPr>
          <a:lstStyle/>
          <a:p>
            <a:r>
              <a:rPr lang="en-US" sz="2400" b="1" err="1"/>
              <a:t>Azure Functions</a:t>
            </a:r>
          </a:p>
        </p:txBody>
      </p:sp>
      <p:sp>
        <p:nvSpPr>
          <p:cNvPr id="3" name="TextBox 2">
            <a:extLst>
              <a:ext uri="{FF2B5EF4-FFF2-40B4-BE49-F238E27FC236}">
                <a16:creationId xmlns:a16="http://schemas.microsoft.com/office/drawing/2014/main" id="{3125CDC0-5907-87AF-D24D-CC0C5822345B}"/>
              </a:ext>
            </a:extLst>
          </p:cNvPr>
          <p:cNvSpPr txBox="1"/>
          <p:nvPr/>
        </p:nvSpPr>
        <p:spPr>
          <a:xfrm>
            <a:off x="588260" y="3760716"/>
            <a:ext cx="3175355" cy="369332"/>
          </a:xfrm>
          <a:prstGeom prst="rect">
            <a:avLst/>
          </a:prstGeom>
          <a:noFill/>
        </p:spPr>
        <p:txBody>
          <a:bodyPr wrap="square" lIns="0" tIns="0" rIns="0" bIns="0" rtlCol="0">
            <a:spAutoFit/>
          </a:bodyPr>
          <a:lstStyle/>
          <a:p>
            <a:r>
              <a:rPr lang="en-US" sz="2400" b="1" err="1"/>
              <a:t>Azure Container Apps</a:t>
            </a:r>
          </a:p>
        </p:txBody>
      </p:sp>
      <p:sp>
        <p:nvSpPr>
          <p:cNvPr id="4" name="TextBox 3">
            <a:extLst>
              <a:ext uri="{FF2B5EF4-FFF2-40B4-BE49-F238E27FC236}">
                <a16:creationId xmlns:a16="http://schemas.microsoft.com/office/drawing/2014/main" id="{69988F40-D37A-6DC5-551A-C199ADF46025}"/>
              </a:ext>
            </a:extLst>
          </p:cNvPr>
          <p:cNvSpPr txBox="1"/>
          <p:nvPr/>
        </p:nvSpPr>
        <p:spPr>
          <a:xfrm>
            <a:off x="3882886" y="3760716"/>
            <a:ext cx="8309111" cy="2369880"/>
          </a:xfrm>
          <a:prstGeom prst="rect">
            <a:avLst/>
          </a:prstGeom>
          <a:solidFill>
            <a:srgbClr val="FFE399"/>
          </a:solidFill>
        </p:spPr>
        <p:txBody>
          <a:bodyPr wrap="square" lIns="0" tIns="0" rIns="0" bIns="0" rtlCol="0">
            <a:spAutoFit/>
          </a:bodyPr>
          <a:lstStyle/>
          <a:p>
            <a:pPr marL="91440">
              <a:spcBef>
                <a:spcPts val="1200"/>
              </a:spcBef>
            </a:pPr>
            <a:r>
              <a:rPr lang="en-US" sz="2400" err="1"/>
              <a:t>"Building Java AI Agents using LangChain4j and Dynamic Sessions"</a:t>
            </a:r>
          </a:p>
          <a:p>
            <a:pPr marL="91440"/>
            <a:r>
              <a:rPr lang="en-US" sz="2400" i="1"/>
              <a:t>April 17</a:t>
            </a:r>
            <a:r>
              <a:rPr lang="en-US" sz="2400" b="0" i="1">
                <a:effectLst/>
              </a:rPr>
              <a:t>, Brian Benz</a:t>
            </a:r>
          </a:p>
          <a:p>
            <a:pPr marL="91440">
              <a:spcBef>
                <a:spcPts val="1200"/>
              </a:spcBef>
            </a:pPr>
            <a:endParaRPr lang="en-US" sz="2400" b="0" i="1">
              <a:effectLst/>
            </a:endParaRPr>
          </a:p>
          <a:p>
            <a:pPr marL="91440"/>
            <a:r>
              <a:rPr lang="en-US" sz="2400" b="0">
                <a:effectLst/>
              </a:rPr>
              <a:t>"Building smarter Python AI agents with code interpreters"</a:t>
            </a:r>
          </a:p>
          <a:p>
            <a:pPr marL="91440"/>
            <a:r>
              <a:rPr lang="en-US" sz="2400" b="0" i="1">
                <a:effectLst/>
              </a:rPr>
              <a:t>April 17, Anthony Chu</a:t>
            </a:r>
          </a:p>
        </p:txBody>
      </p:sp>
      <p:pic>
        <p:nvPicPr>
          <p:cNvPr id="5" name="Graphic 4">
            <a:extLst>
              <a:ext uri="{FF2B5EF4-FFF2-40B4-BE49-F238E27FC236}">
                <a16:creationId xmlns:a16="http://schemas.microsoft.com/office/drawing/2014/main" id="{601D93C0-2F7D-E5E0-5136-23EB07DB2A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260" y="2046007"/>
            <a:ext cx="1051277" cy="1051277"/>
          </a:xfrm>
          <a:prstGeom prst="rect">
            <a:avLst/>
          </a:prstGeom>
        </p:spPr>
      </p:pic>
      <p:pic>
        <p:nvPicPr>
          <p:cNvPr id="7" name="Graphic 6">
            <a:extLst>
              <a:ext uri="{FF2B5EF4-FFF2-40B4-BE49-F238E27FC236}">
                <a16:creationId xmlns:a16="http://schemas.microsoft.com/office/drawing/2014/main" id="{B1A7B238-94BC-9B17-CA6D-16D1963D611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0415" y="4322172"/>
            <a:ext cx="1246965" cy="1246965"/>
          </a:xfrm>
          <a:prstGeom prst="rect">
            <a:avLst/>
          </a:prstGeom>
        </p:spPr>
      </p:pic>
    </p:spTree>
    <p:extLst>
      <p:ext uri="{BB962C8B-B14F-4D97-AF65-F5344CB8AC3E}">
        <p14:creationId xmlns:p14="http://schemas.microsoft.com/office/powerpoint/2010/main" val="1101968179"/>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70500-2315-68F8-1242-FE818758AE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C4336-27D8-D758-0783-406113689685}"/>
              </a:ext>
            </a:extLst>
          </p:cNvPr>
          <p:cNvSpPr>
            <a:spLocks noGrp="1"/>
          </p:cNvSpPr>
          <p:nvPr>
            <p:ph type="title"/>
          </p:nvPr>
        </p:nvSpPr>
        <p:spPr/>
        <p:txBody>
          <a:bodyPr/>
          <a:lstStyle/>
          <a:p>
            <a:r>
              <a:rPr lang="en-US"/>
              <a:t>Next steps</a:t>
            </a:r>
          </a:p>
        </p:txBody>
      </p:sp>
    </p:spTree>
    <p:extLst>
      <p:ext uri="{BB962C8B-B14F-4D97-AF65-F5344CB8AC3E}">
        <p14:creationId xmlns:p14="http://schemas.microsoft.com/office/powerpoint/2010/main" val="952419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6E9D4-DC44-ED30-F527-766E2DE0F117}"/>
              </a:ext>
            </a:extLst>
          </p:cNvPr>
          <p:cNvSpPr>
            <a:spLocks noGrp="1"/>
          </p:cNvSpPr>
          <p:nvPr>
            <p:ph type="title"/>
          </p:nvPr>
        </p:nvSpPr>
        <p:spPr/>
        <p:txBody>
          <a:bodyPr/>
          <a:lstStyle/>
          <a:p>
            <a:r>
              <a:rPr lang="en-US"/>
              <a:t>AI Agents Hackathon: Next steps</a:t>
            </a:r>
          </a:p>
        </p:txBody>
      </p:sp>
      <p:sp>
        <p:nvSpPr>
          <p:cNvPr id="3" name="Text Placeholder 2">
            <a:extLst>
              <a:ext uri="{FF2B5EF4-FFF2-40B4-BE49-F238E27FC236}">
                <a16:creationId xmlns:a16="http://schemas.microsoft.com/office/drawing/2014/main" id="{07C8226D-1FF0-832C-3E43-A118FC2F39DD}"/>
              </a:ext>
            </a:extLst>
          </p:cNvPr>
          <p:cNvSpPr>
            <a:spLocks noGrp="1"/>
          </p:cNvSpPr>
          <p:nvPr>
            <p:ph type="body" sz="quarter" idx="10"/>
          </p:nvPr>
        </p:nvSpPr>
        <p:spPr>
          <a:xfrm>
            <a:off x="586390" y="1434370"/>
            <a:ext cx="11018520" cy="4050340"/>
          </a:xfrm>
        </p:spPr>
        <p:txBody>
          <a:bodyPr/>
          <a:lstStyle/>
          <a:p>
            <a:pPr marL="0" indent="0">
              <a:buNone/>
            </a:pPr>
            <a:r>
              <a:rPr lang="en-US">
                <a:cs typeface="Segoe UI"/>
              </a:rPr>
              <a:t>Register for the hackathon @ </a:t>
            </a:r>
            <a:r>
              <a:rPr lang="en-US">
                <a:cs typeface="Segoe UI"/>
                <a:hlinkClick r:id="rId3"/>
              </a:rPr>
              <a:t>aka.ms/agentshack/register</a:t>
            </a:r>
            <a:endParaRPr lang="en-US"/>
          </a:p>
          <a:p>
            <a:pPr marL="0" indent="0">
              <a:buNone/>
            </a:pPr>
            <a:endParaRPr lang="en-US">
              <a:cs typeface="Segoe UI"/>
            </a:endParaRPr>
          </a:p>
          <a:p>
            <a:pPr marL="0" indent="0">
              <a:buNone/>
            </a:pPr>
            <a:r>
              <a:rPr lang="en-US">
                <a:cs typeface="Segoe UI"/>
              </a:rPr>
              <a:t>Got questions? post in GitHub forum or attend Discord Office Hours.  </a:t>
            </a:r>
          </a:p>
          <a:p>
            <a:pPr marL="0" indent="0">
              <a:buNone/>
            </a:pPr>
            <a:r>
              <a:rPr lang="en-US">
                <a:cs typeface="Segoe UI"/>
              </a:rPr>
              <a:t>Join the community @ </a:t>
            </a:r>
            <a:r>
              <a:rPr lang="en-US">
                <a:cs typeface="Segoe UI"/>
                <a:hlinkClick r:id="rId4"/>
              </a:rPr>
              <a:t>aka.ms/agentshack/discord</a:t>
            </a:r>
            <a:endParaRPr lang="en-US">
              <a:cs typeface="Segoe UI"/>
            </a:endParaRPr>
          </a:p>
          <a:p>
            <a:pPr marL="0" indent="0">
              <a:buNone/>
            </a:pPr>
            <a:endParaRPr lang="en-US">
              <a:cs typeface="Segoe UI"/>
            </a:endParaRPr>
          </a:p>
          <a:p>
            <a:pPr marL="0" indent="0">
              <a:buNone/>
            </a:pPr>
            <a:r>
              <a:rPr lang="en-US">
                <a:cs typeface="Segoe UI"/>
              </a:rPr>
              <a:t>Attend more live expert sessions!  </a:t>
            </a:r>
            <a:r>
              <a:rPr lang="en-US">
                <a:cs typeface="Segoe UI"/>
                <a:hlinkClick r:id="rId5"/>
              </a:rPr>
              <a:t>aka.ms/agentshack/streams</a:t>
            </a:r>
            <a:endParaRPr lang="en-US">
              <a:solidFill>
                <a:srgbClr val="000000"/>
              </a:solidFill>
              <a:cs typeface="Segoe UI"/>
            </a:endParaRPr>
          </a:p>
          <a:p>
            <a:pPr marL="0" indent="0">
              <a:buNone/>
            </a:pPr>
            <a:endParaRPr lang="en-US">
              <a:cs typeface="Segoe UI"/>
            </a:endParaRPr>
          </a:p>
          <a:p>
            <a:pPr marL="0" indent="0">
              <a:buNone/>
            </a:pPr>
            <a:r>
              <a:rPr lang="en-US">
                <a:cs typeface="Segoe UI"/>
              </a:rPr>
              <a:t>Submit your project before April 30</a:t>
            </a:r>
            <a:r>
              <a:rPr lang="en-US" baseline="30000">
                <a:cs typeface="Segoe UI"/>
              </a:rPr>
              <a:t>th</a:t>
            </a:r>
            <a:r>
              <a:rPr lang="en-US">
                <a:cs typeface="Segoe UI"/>
              </a:rPr>
              <a:t> 11:59 PM PT to win prizes! 💵</a:t>
            </a:r>
          </a:p>
        </p:txBody>
      </p:sp>
    </p:spTree>
    <p:extLst>
      <p:ext uri="{BB962C8B-B14F-4D97-AF65-F5344CB8AC3E}">
        <p14:creationId xmlns:p14="http://schemas.microsoft.com/office/powerpoint/2010/main" val="4125683390"/>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6963084"/>
      </p:ext>
    </p:extLst>
  </p:cSld>
  <p:clrMapOvr>
    <a:masterClrMapping/>
  </p:clrMapOvr>
  <p:transition>
    <p:fade/>
  </p:transition>
</p:sld>
</file>

<file path=ppt/theme/theme1.xml><?xml version="1.0" encoding="utf-8"?>
<a:theme xmlns:a="http://schemas.openxmlformats.org/drawingml/2006/main" name="AI Agents Hack Template Light Mode">
  <a:themeElements>
    <a:clrScheme name="AI Skills Fest">
      <a:dk1>
        <a:srgbClr val="000000"/>
      </a:dk1>
      <a:lt1>
        <a:srgbClr val="FFFFFF"/>
      </a:lt1>
      <a:dk2>
        <a:srgbClr val="091F2C"/>
      </a:dk2>
      <a:lt2>
        <a:srgbClr val="E8E6DF"/>
      </a:lt2>
      <a:accent1>
        <a:srgbClr val="0078D4"/>
      </a:accent1>
      <a:accent2>
        <a:srgbClr val="C73ECC"/>
      </a:accent2>
      <a:accent3>
        <a:srgbClr val="FF5C39"/>
      </a:accent3>
      <a:accent4>
        <a:srgbClr val="FFE399"/>
      </a:accent4>
      <a:accent5>
        <a:srgbClr val="49C5B1"/>
      </a:accent5>
      <a:accent6>
        <a:srgbClr val="8DE971"/>
      </a:accent6>
      <a:hlink>
        <a:srgbClr val="0067B8"/>
      </a:hlink>
      <a:folHlink>
        <a:srgbClr val="0067B8"/>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S-AI-Skills-Fest_16-9-Event-template_Microsoft_Final" id="{75E1E0E2-04CE-4333-8023-F1FBF65D0AF4}" vid="{9D43C70A-8B06-4E85-94DE-DC0023F047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289A688703948BA568FE7D6272F05" ma:contentTypeVersion="14" ma:contentTypeDescription="Create a new document." ma:contentTypeScope="" ma:versionID="8ff5385ff33dc96ff4fa0f9e2057ffcd">
  <xsd:schema xmlns:xsd="http://www.w3.org/2001/XMLSchema" xmlns:xs="http://www.w3.org/2001/XMLSchema" xmlns:p="http://schemas.microsoft.com/office/2006/metadata/properties" xmlns:ns1="http://schemas.microsoft.com/sharepoint/v3" xmlns:ns2="e07b9560-82cc-4f3d-aea9-44c6277445fd" xmlns:ns3="9480bc8b-5f12-413b-ace7-9c780deae2d0" targetNamespace="http://schemas.microsoft.com/office/2006/metadata/properties" ma:root="true" ma:fieldsID="f25df9bbde38ff3d4363ffd29e4309ad" ns1:_="" ns2:_="" ns3:_="">
    <xsd:import namespace="http://schemas.microsoft.com/sharepoint/v3"/>
    <xsd:import namespace="e07b9560-82cc-4f3d-aea9-44c6277445fd"/>
    <xsd:import namespace="9480bc8b-5f12-413b-ace7-9c780deae2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1:_ip_UnifiedCompliancePolicyProperties" minOccurs="0"/>
                <xsd:element ref="ns1:_ip_UnifiedCompliancePolicyUIAction"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hidden="true" ma:internalName="_ip_UnifiedCompliancePolicyProperties">
      <xsd:simpleType>
        <xsd:restriction base="dms:Note"/>
      </xsd:simpleType>
    </xsd:element>
    <xsd:element name="_ip_UnifiedCompliancePolicyUIAction" ma:index="1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07b9560-82cc-4f3d-aea9-44c6277445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80bc8b-5f12-413b-ace7-9c780deae2d0"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80159883-c163-4ac0-ac0d-c4ae7a123867}" ma:internalName="TaxCatchAll" ma:showField="CatchAllData" ma:web="9480bc8b-5f12-413b-ace7-9c780deae2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e07b9560-82cc-4f3d-aea9-44c6277445fd">
      <Terms xmlns="http://schemas.microsoft.com/office/infopath/2007/PartnerControls"/>
    </lcf76f155ced4ddcb4097134ff3c332f>
    <TaxCatchAll xmlns="9480bc8b-5f12-413b-ace7-9c780deae2d0" xsi:nil="true"/>
  </documentManagement>
</p:properties>
</file>

<file path=customXml/itemProps1.xml><?xml version="1.0" encoding="utf-8"?>
<ds:datastoreItem xmlns:ds="http://schemas.openxmlformats.org/officeDocument/2006/customXml" ds:itemID="{3749CD0F-939F-43A3-ACD6-E1FE68103385}">
  <ds:schemaRefs>
    <ds:schemaRef ds:uri="9480bc8b-5f12-413b-ace7-9c780deae2d0"/>
    <ds:schemaRef ds:uri="e07b9560-82cc-4f3d-aea9-44c6277445f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48419D9-581A-44A8-91B6-4F43E1D6982A}">
  <ds:schemaRefs>
    <ds:schemaRef ds:uri="http://schemas.microsoft.com/sharepoint/v3/contenttype/forms"/>
  </ds:schemaRefs>
</ds:datastoreItem>
</file>

<file path=customXml/itemProps3.xml><?xml version="1.0" encoding="utf-8"?>
<ds:datastoreItem xmlns:ds="http://schemas.openxmlformats.org/officeDocument/2006/customXml" ds:itemID="{96433F3D-D6EB-404B-A6A4-2834F1FD1D65}">
  <ds:schemaRefs>
    <ds:schemaRef ds:uri="http://schemas.microsoft.com/office/2006/documentManagement/types"/>
    <ds:schemaRef ds:uri="http://schemas.microsoft.com/office/infopath/2007/PartnerControls"/>
    <ds:schemaRef ds:uri="9480bc8b-5f12-413b-ace7-9c780deae2d0"/>
    <ds:schemaRef ds:uri="http://www.w3.org/XML/1998/namespace"/>
    <ds:schemaRef ds:uri="http://purl.org/dc/terms/"/>
    <ds:schemaRef ds:uri="http://purl.org/dc/elements/1.1/"/>
    <ds:schemaRef ds:uri="http://schemas.openxmlformats.org/package/2006/metadata/core-properties"/>
    <ds:schemaRef ds:uri="http://schemas.microsoft.com/office/2006/metadata/properties"/>
    <ds:schemaRef ds:uri="http://purl.org/dc/dcmitype/"/>
    <ds:schemaRef ds:uri="e07b9560-82cc-4f3d-aea9-44c6277445fd"/>
    <ds:schemaRef ds:uri="http://schemas.microsoft.com/sharepoint/v3"/>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959</TotalTime>
  <Words>4521</Words>
  <Application>Microsoft Macintosh PowerPoint</Application>
  <PresentationFormat>Widescreen</PresentationFormat>
  <Paragraphs>736</Paragraphs>
  <Slides>49</Slides>
  <Notes>31</Notes>
  <HiddenSlides>1</HiddenSlides>
  <MMClips>0</MMClips>
  <ScaleCrop>false</ScaleCrop>
  <HeadingPairs>
    <vt:vector size="6" baseType="variant">
      <vt:variant>
        <vt:lpstr>Fonts Used</vt:lpstr>
      </vt:variant>
      <vt:variant>
        <vt:i4>21</vt:i4>
      </vt:variant>
      <vt:variant>
        <vt:lpstr>Theme</vt:lpstr>
      </vt:variant>
      <vt:variant>
        <vt:i4>1</vt:i4>
      </vt:variant>
      <vt:variant>
        <vt:lpstr>Slide Titles</vt:lpstr>
      </vt:variant>
      <vt:variant>
        <vt:i4>49</vt:i4>
      </vt:variant>
    </vt:vector>
  </HeadingPairs>
  <TitlesOfParts>
    <vt:vector size="71" baseType="lpstr">
      <vt:lpstr>-apple-system</vt:lpstr>
      <vt:lpstr>-webkit-standard</vt:lpstr>
      <vt:lpstr>Aptos</vt:lpstr>
      <vt:lpstr>Arial</vt:lpstr>
      <vt:lpstr>Calibri</vt:lpstr>
      <vt:lpstr>Canva Sans Bold</vt:lpstr>
      <vt:lpstr>Consolas</vt:lpstr>
      <vt:lpstr>League Spartan</vt:lpstr>
      <vt:lpstr>Menlo</vt:lpstr>
      <vt:lpstr>Open Sans Bold</vt:lpstr>
      <vt:lpstr>Poppins</vt:lpstr>
      <vt:lpstr>Poppins Bold</vt:lpstr>
      <vt:lpstr>Roboto</vt:lpstr>
      <vt:lpstr>Segoe Sans Display</vt:lpstr>
      <vt:lpstr>Segoe Sans Text</vt:lpstr>
      <vt:lpstr>Segoe Sans Text Semibold</vt:lpstr>
      <vt:lpstr>Segoe UI</vt:lpstr>
      <vt:lpstr>Segoe UI Semibold</vt:lpstr>
      <vt:lpstr>Segoe UI Semibold (Headings)</vt:lpstr>
      <vt:lpstr>Segoe UI Semilight</vt:lpstr>
      <vt:lpstr>Wingdings</vt:lpstr>
      <vt:lpstr>AI Agents Hack Template Light Mode</vt:lpstr>
      <vt:lpstr>AI Agents Hackathon</vt:lpstr>
      <vt:lpstr>Four weeks of learning &amp; hacking!</vt:lpstr>
      <vt:lpstr>Live streams in more languages </vt:lpstr>
      <vt:lpstr>Prizes 🏆</vt:lpstr>
      <vt:lpstr>Register now</vt:lpstr>
      <vt:lpstr>Submission process</vt:lpstr>
      <vt:lpstr>Agents 101</vt:lpstr>
      <vt:lpstr>PowerPoint Presentation</vt:lpstr>
      <vt:lpstr>What can you build?</vt:lpstr>
      <vt:lpstr>Demo: Contoso Creative Writer </vt:lpstr>
      <vt:lpstr>What is an AI agent?</vt:lpstr>
      <vt:lpstr>An agent in LLM-based applications is a semi-autonomous software entity leveraging large language models to perform specific tasks through natural language interaction. </vt:lpstr>
      <vt:lpstr>PowerPoint Presentation</vt:lpstr>
      <vt:lpstr>When to use AI agents?</vt:lpstr>
      <vt:lpstr>When to use AI agents?</vt:lpstr>
      <vt:lpstr>Agent sample Call center assistance</vt:lpstr>
      <vt:lpstr>How to start  building AI agents?</vt:lpstr>
      <vt:lpstr>Meeting where you are in your agent-building journey</vt:lpstr>
      <vt:lpstr>PowerPoint Presentation</vt:lpstr>
      <vt:lpstr>But how do you make good AI agents?</vt:lpstr>
      <vt:lpstr>Agentic design principles</vt:lpstr>
      <vt:lpstr>What are agentic design patterns?</vt:lpstr>
      <vt:lpstr>PowerPoint Presentation</vt:lpstr>
      <vt:lpstr>Tool integration in Agentic RAG</vt:lpstr>
      <vt:lpstr>Model Context Protocol</vt:lpstr>
      <vt:lpstr>Building trustworthy AI agents</vt:lpstr>
      <vt:lpstr>System message framework</vt:lpstr>
      <vt:lpstr>Human-in-the-loop</vt:lpstr>
      <vt:lpstr>Human-in-the-loop</vt:lpstr>
      <vt:lpstr>PowerPoint Presentation</vt:lpstr>
      <vt:lpstr>My advice on building AI agents</vt:lpstr>
      <vt:lpstr>It's very fun!</vt:lpstr>
      <vt:lpstr>But can be very hard!</vt:lpstr>
      <vt:lpstr>Don't give up!</vt:lpstr>
      <vt:lpstr>PowerPoint Presentation</vt:lpstr>
      <vt:lpstr>Building an agent with Microsoft technologies</vt:lpstr>
      <vt:lpstr>Agent components</vt:lpstr>
      <vt:lpstr>LLM options</vt:lpstr>
      <vt:lpstr>Azure AI Agents Service</vt:lpstr>
      <vt:lpstr>Orchestrators from Microsoft</vt:lpstr>
      <vt:lpstr>OSS orchestrators</vt:lpstr>
      <vt:lpstr>Data stores</vt:lpstr>
      <vt:lpstr>Data stores (SQL)</vt:lpstr>
      <vt:lpstr>Where will the agent live? </vt:lpstr>
      <vt:lpstr>Microsoft 365 Copilot Agents</vt:lpstr>
      <vt:lpstr>Deployed agents in Azure Cloud</vt:lpstr>
      <vt:lpstr>Next steps</vt:lpstr>
      <vt:lpstr>AI Agents Hackathon: Next 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Daisy Chaussee</dc:creator>
  <cp:lastModifiedBy>Pamela Fox</cp:lastModifiedBy>
  <cp:revision>2</cp:revision>
  <dcterms:created xsi:type="dcterms:W3CDTF">2024-08-07T00:36:26Z</dcterms:created>
  <dcterms:modified xsi:type="dcterms:W3CDTF">2025-04-08T14:30:49Z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0x010100831289A688703948BA568FE7D6272F05</vt:lpwstr>
  </property>
  <property fmtid="{D5CDD505-2E9C-101B-9397-08002B2CF9AE}" pid="3" name="MediaServiceImageTags">
    <vt:lpwstr/>
  </property>
</Properties>
</file>